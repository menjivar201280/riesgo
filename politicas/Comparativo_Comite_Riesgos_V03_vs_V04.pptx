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1327" r:id="rId19"/>
    <p:sldId id="1328" r:id="rId20"/>
    <p:sldId id="1329" r:id="rId21"/>
    <p:sldId id="1330" r:id="rId22"/>
    <p:sldId id="1331" r:id="rId23"/>
    <p:sldId id="1332" r:id="rId24"/>
    <p:sldId id="1333" r:id="rId25"/>
    <p:sldId id="1334" r:id="rId26"/>
    <p:sldId id="1335" r:id="rId27"/>
    <p:sldId id="1336" r:id="rId28"/>
    <p:sldId id="1337" r:id="rId29"/>
    <p:sldId id="1338" r:id="rId30"/>
    <p:sldId id="1339" r:id="rId31"/>
    <p:sldId id="1340" r:id="rId32"/>
    <p:sldId id="1341" r:id="rId33"/>
    <p:sldId id="1342" r:id="rId34"/>
    <p:sldId id="1343" r:id="rId35"/>
    <p:sldId id="1344" r:id="rId36"/>
    <p:sldId id="1345" r:id="rId37"/>
    <p:sldId id="1346" r:id="rId38"/>
    <p:sldId id="1347" r:id="rId39"/>
    <p:sldId id="1348" r:id="rId40"/>
    <p:sldId id="1349" r:id="rId41"/>
    <p:sldId id="1350" r:id="rId42"/>
    <p:sldId id="1351" r:id="rId43"/>
    <p:sldId id="1352" r:id="rId44"/>
    <p:sldId id="1353" r:id="rId45"/>
    <p:sldId id="1354" r:id="rId46"/>
    <p:sldId id="1355" r:id="rId47"/>
    <p:sldId id="1356" r:id="rId48"/>
    <p:sldId id="1357" r:id="rId49"/>
    <p:sldId id="1358" r:id="rId50"/>
    <p:sldId id="1359" r:id="rId51"/>
    <p:sldId id="1360" r:id="rId52"/>
    <p:sldId id="1361" r:id="rId53"/>
    <p:sldId id="1362" r:id="rId54"/>
    <p:sldId id="1363" r:id="rId55"/>
    <p:sldId id="1364" r:id="rId56"/>
    <p:sldId id="1365" r:id="rId57"/>
    <p:sldId id="1366" r:id="rId58"/>
    <p:sldId id="1367" r:id="rId59"/>
    <p:sldId id="1368" r:id="rId60"/>
    <p:sldId id="1369" r:id="rId61"/>
    <p:sldId id="1370" r:id="rId62"/>
    <p:sldId id="1371" r:id="rId63"/>
    <p:sldId id="1372" r:id="rId64"/>
    <p:sldId id="1373" r:id="rId65"/>
    <p:sldId id="1374" r:id="rId66"/>
    <p:sldId id="1375" r:id="rId67"/>
    <p:sldId id="1376" r:id="rId68"/>
    <p:sldId id="1377" r:id="rId69"/>
    <p:sldId id="1378" r:id="rId70"/>
    <p:sldId id="1379" r:id="rId71"/>
    <p:sldId id="1380" r:id="rId72"/>
    <p:sldId id="1381" r:id="rId73"/>
    <p:sldId id="1382" r:id="rId74"/>
    <p:sldId id="1383" r:id="rId75"/>
    <p:sldId id="1384" r:id="rId76"/>
    <p:sldId id="1385" r:id="rId77"/>
    <p:sldId id="1386" r:id="rId78"/>
    <p:sldId id="1387" r:id="rId79"/>
    <p:sldId id="1388" r:id="rId80"/>
    <p:sldId id="1389" r:id="rId81"/>
    <p:sldId id="1390" r:id="rId82"/>
    <p:sldId id="1391" r:id="rId83"/>
    <p:sldId id="1392" r:id="rId84"/>
    <p:sldId id="1393" r:id="rId85"/>
    <p:sldId id="1394" r:id="rId86"/>
    <p:sldId id="1395" r:id="rId87"/>
    <p:sldId id="1396" r:id="rId88"/>
    <p:sldId id="1397" r:id="rId89"/>
    <p:sldId id="1398" r:id="rId90"/>
    <p:sldId id="1399" r:id="rId91"/>
    <p:sldId id="1400" r:id="rId92"/>
    <p:sldId id="1401" r:id="rId93"/>
    <p:sldId id="1402" r:id="rId94"/>
    <p:sldId id="1403" r:id="rId95"/>
    <p:sldId id="1404" r:id="rId96"/>
    <p:sldId id="1405" r:id="rId97"/>
    <p:sldId id="1406" r:id="rId98"/>
    <p:sldId id="1407" r:id="rId99"/>
    <p:sldId id="1408" r:id="rId100"/>
    <p:sldId id="1409" r:id="rId101"/>
  </p:sldIdLst>
  <p:sldSz cx="12192000" cy="6858000"/>
  <p:notesSz cx="6858000" cy="9144000"/>
  <p:defaultText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6E"/>
    <a:srgbClr val="004184"/>
    <a:srgbClr val="0053A8"/>
    <a:srgbClr val="005C9F"/>
    <a:srgbClr val="0051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252236-3FAF-4113-A4F6-0C3A1563E69A}" v="1" dt="2026-10-24T19:13:56.1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microsoft.com/office/2015/10/relationships/revisionInfo" Target="revisionInfo.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ctor Jose Menjivar Somoza" userId="0c251d33-8269-45bf-9bec-169219cd79c7" providerId="ADAL" clId="{E24BF829-F682-4B96-8073-D53758CC38A2}"/>
    <pc:docChg chg="addSld delSld modSld sldOrd">
      <pc:chgData name="Hector Jose Menjivar Somoza" userId="0c251d33-8269-45bf-9bec-169219cd79c7" providerId="ADAL" clId="{E24BF829-F682-4B96-8073-D53758CC38A2}" dt="2026-10-24T19:13:57.984" v="4"/>
      <pc:docMkLst>
        <pc:docMk/>
      </pc:docMkLst>
      <pc:sldChg chg="del">
        <pc:chgData name="Hector Jose Menjivar Somoza" userId="0c251d33-8269-45bf-9bec-169219cd79c7" providerId="ADAL" clId="{E24BF829-F682-4B96-8073-D53758CC38A2}" dt="2026-10-24T19:13:48.328" v="1" actId="2696"/>
        <pc:sldMkLst>
          <pc:docMk/>
          <pc:sldMk cId="662215908" sldId="257"/>
        </pc:sldMkLst>
      </pc:sldChg>
      <pc:sldChg chg="modSp mod">
        <pc:chgData name="Hector Jose Menjivar Somoza" userId="0c251d33-8269-45bf-9bec-169219cd79c7" providerId="ADAL" clId="{E24BF829-F682-4B96-8073-D53758CC38A2}" dt="2026-10-22T21:22:43.936" v="0" actId="1076"/>
        <pc:sldMkLst>
          <pc:docMk/>
          <pc:sldMk cId="1188959789" sldId="261"/>
        </pc:sldMkLst>
        <pc:picChg chg="mod">
          <ac:chgData name="Hector Jose Menjivar Somoza" userId="0c251d33-8269-45bf-9bec-169219cd79c7" providerId="ADAL" clId="{E24BF829-F682-4B96-8073-D53758CC38A2}" dt="2026-10-22T21:22:43.936" v="0" actId="1076"/>
          <ac:picMkLst>
            <pc:docMk/>
            <pc:sldMk cId="1188959789" sldId="261"/>
            <ac:picMk id="2" creationId="{581614C1-8597-C084-8870-3EA3BD6672B3}"/>
          </ac:picMkLst>
        </pc:picChg>
      </pc:sldChg>
      <pc:sldChg chg="add ord">
        <pc:chgData name="Hector Jose Menjivar Somoza" userId="0c251d33-8269-45bf-9bec-169219cd79c7" providerId="ADAL" clId="{E24BF829-F682-4B96-8073-D53758CC38A2}" dt="2026-10-24T19:13:57.984" v="4"/>
        <pc:sldMkLst>
          <pc:docMk/>
          <pc:sldMk cId="3045456205" sldId="132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SV"/>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9B3AB5-647A-834A-ABF4-E74A52371851}" type="datetimeFigureOut">
              <a:rPr lang="es-SV" smtClean="0"/>
              <a:t>24/10/2026</a:t>
            </a:fld>
            <a:endParaRPr lang="es-SV"/>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SV"/>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SV"/>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1EAE39-7648-3748-A12E-11B4DE5E48BF}" type="slidenum">
              <a:rPr lang="es-SV" smtClean="0"/>
              <a:t>‹Nº›</a:t>
            </a:fld>
            <a:endParaRPr lang="es-SV"/>
          </a:p>
        </p:txBody>
      </p:sp>
    </p:spTree>
    <p:extLst>
      <p:ext uri="{BB962C8B-B14F-4D97-AF65-F5344CB8AC3E}">
        <p14:creationId xmlns:p14="http://schemas.microsoft.com/office/powerpoint/2010/main" val="881370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6A5246-1289-2501-E76B-99FD1AAC6CB4}"/>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SV"/>
          </a:p>
        </p:txBody>
      </p:sp>
      <p:sp>
        <p:nvSpPr>
          <p:cNvPr id="3" name="Subtítulo 2">
            <a:extLst>
              <a:ext uri="{FF2B5EF4-FFF2-40B4-BE49-F238E27FC236}">
                <a16:creationId xmlns:a16="http://schemas.microsoft.com/office/drawing/2014/main" id="{84844576-B082-FD49-EBFF-D88CB1856D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SV"/>
          </a:p>
        </p:txBody>
      </p:sp>
      <p:sp>
        <p:nvSpPr>
          <p:cNvPr id="4" name="Marcador de fecha 3">
            <a:extLst>
              <a:ext uri="{FF2B5EF4-FFF2-40B4-BE49-F238E27FC236}">
                <a16:creationId xmlns:a16="http://schemas.microsoft.com/office/drawing/2014/main" id="{99F51356-BC70-4A72-C845-C6BAA0817DF8}"/>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5" name="Marcador de pie de página 4">
            <a:extLst>
              <a:ext uri="{FF2B5EF4-FFF2-40B4-BE49-F238E27FC236}">
                <a16:creationId xmlns:a16="http://schemas.microsoft.com/office/drawing/2014/main" id="{50C911C6-CCCD-EFCE-3DC3-663F37E53805}"/>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C0085E2B-4DFB-D2D2-C203-7C543DA2861F}"/>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3173455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9B9020-EA08-2516-1B5A-BCDD9C03C029}"/>
              </a:ext>
            </a:extLst>
          </p:cNvPr>
          <p:cNvSpPr>
            <a:spLocks noGrp="1"/>
          </p:cNvSpPr>
          <p:nvPr>
            <p:ph type="title"/>
          </p:nvPr>
        </p:nvSpPr>
        <p:spPr/>
        <p:txBody>
          <a:bodyPr/>
          <a:lstStyle/>
          <a:p>
            <a:r>
              <a:rPr lang="es-MX"/>
              <a:t>Haz clic para modificar el estilo de título del patrón</a:t>
            </a:r>
            <a:endParaRPr lang="es-SV"/>
          </a:p>
        </p:txBody>
      </p:sp>
      <p:sp>
        <p:nvSpPr>
          <p:cNvPr id="3" name="Marcador de contenido 2">
            <a:extLst>
              <a:ext uri="{FF2B5EF4-FFF2-40B4-BE49-F238E27FC236}">
                <a16:creationId xmlns:a16="http://schemas.microsoft.com/office/drawing/2014/main" id="{BA077ED8-CB52-4C8A-AD7C-FF69313F089F}"/>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4" name="Marcador de fecha 3">
            <a:extLst>
              <a:ext uri="{FF2B5EF4-FFF2-40B4-BE49-F238E27FC236}">
                <a16:creationId xmlns:a16="http://schemas.microsoft.com/office/drawing/2014/main" id="{8DA8A1C5-EFD4-6D53-6F60-91F7FEC37F04}"/>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5" name="Marcador de pie de página 4">
            <a:extLst>
              <a:ext uri="{FF2B5EF4-FFF2-40B4-BE49-F238E27FC236}">
                <a16:creationId xmlns:a16="http://schemas.microsoft.com/office/drawing/2014/main" id="{19A934E5-6EC7-1E96-3E32-3BBF89B99B05}"/>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2E42E576-5068-3919-22AE-2EFC0CFE6B87}"/>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63031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741BA9-205E-F894-3C02-1C6495E0CB2E}"/>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SV"/>
          </a:p>
        </p:txBody>
      </p:sp>
      <p:sp>
        <p:nvSpPr>
          <p:cNvPr id="3" name="Marcador de texto 2">
            <a:extLst>
              <a:ext uri="{FF2B5EF4-FFF2-40B4-BE49-F238E27FC236}">
                <a16:creationId xmlns:a16="http://schemas.microsoft.com/office/drawing/2014/main" id="{AF45D5F7-6E2F-4508-4252-BD37990691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9383CB00-BF9E-6F13-D537-AD0E366936F4}"/>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5" name="Marcador de pie de página 4">
            <a:extLst>
              <a:ext uri="{FF2B5EF4-FFF2-40B4-BE49-F238E27FC236}">
                <a16:creationId xmlns:a16="http://schemas.microsoft.com/office/drawing/2014/main" id="{D6C7AE8E-7CF9-D7B6-D1ED-21E5FF908602}"/>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87F0008D-520F-48DC-8002-8AD9CC9E7B47}"/>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4160302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4220B8-8DAC-8D1C-6637-1BB7C5447C82}"/>
              </a:ext>
            </a:extLst>
          </p:cNvPr>
          <p:cNvSpPr>
            <a:spLocks noGrp="1"/>
          </p:cNvSpPr>
          <p:nvPr>
            <p:ph type="title"/>
          </p:nvPr>
        </p:nvSpPr>
        <p:spPr/>
        <p:txBody>
          <a:bodyPr/>
          <a:lstStyle/>
          <a:p>
            <a:r>
              <a:rPr lang="es-MX"/>
              <a:t>Haz clic para modificar el estilo de título del patrón</a:t>
            </a:r>
            <a:endParaRPr lang="es-SV"/>
          </a:p>
        </p:txBody>
      </p:sp>
      <p:sp>
        <p:nvSpPr>
          <p:cNvPr id="3" name="Marcador de contenido 2">
            <a:extLst>
              <a:ext uri="{FF2B5EF4-FFF2-40B4-BE49-F238E27FC236}">
                <a16:creationId xmlns:a16="http://schemas.microsoft.com/office/drawing/2014/main" id="{E9A9161A-5259-CE4C-5F36-0C70C7DA06B0}"/>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4" name="Marcador de contenido 3">
            <a:extLst>
              <a:ext uri="{FF2B5EF4-FFF2-40B4-BE49-F238E27FC236}">
                <a16:creationId xmlns:a16="http://schemas.microsoft.com/office/drawing/2014/main" id="{E26E0585-6862-9B66-7349-CA36E8D6FAD7}"/>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5" name="Marcador de fecha 4">
            <a:extLst>
              <a:ext uri="{FF2B5EF4-FFF2-40B4-BE49-F238E27FC236}">
                <a16:creationId xmlns:a16="http://schemas.microsoft.com/office/drawing/2014/main" id="{3613B306-A83F-3642-4CB4-6311A5324078}"/>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6" name="Marcador de pie de página 5">
            <a:extLst>
              <a:ext uri="{FF2B5EF4-FFF2-40B4-BE49-F238E27FC236}">
                <a16:creationId xmlns:a16="http://schemas.microsoft.com/office/drawing/2014/main" id="{AEA5248C-A27A-B405-76D1-3A899EAC8286}"/>
              </a:ext>
            </a:extLst>
          </p:cNvPr>
          <p:cNvSpPr>
            <a:spLocks noGrp="1"/>
          </p:cNvSpPr>
          <p:nvPr>
            <p:ph type="ftr" sz="quarter" idx="11"/>
          </p:nvPr>
        </p:nvSpPr>
        <p:spPr/>
        <p:txBody>
          <a:bodyPr/>
          <a:lstStyle/>
          <a:p>
            <a:endParaRPr lang="es-SV"/>
          </a:p>
        </p:txBody>
      </p:sp>
      <p:sp>
        <p:nvSpPr>
          <p:cNvPr id="7" name="Marcador de número de diapositiva 6">
            <a:extLst>
              <a:ext uri="{FF2B5EF4-FFF2-40B4-BE49-F238E27FC236}">
                <a16:creationId xmlns:a16="http://schemas.microsoft.com/office/drawing/2014/main" id="{6180EF02-1565-5EF5-1FB7-41B9FDF16614}"/>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2045744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19B36E-EDCE-87AD-F79D-E35AE04A1BE8}"/>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SV"/>
          </a:p>
        </p:txBody>
      </p:sp>
      <p:sp>
        <p:nvSpPr>
          <p:cNvPr id="3" name="Marcador de texto 2">
            <a:extLst>
              <a:ext uri="{FF2B5EF4-FFF2-40B4-BE49-F238E27FC236}">
                <a16:creationId xmlns:a16="http://schemas.microsoft.com/office/drawing/2014/main" id="{E1BCF1C7-0762-26FF-516A-1F5C54FD36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2DF51246-48E6-D02D-90D5-3F540BED36E5}"/>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5" name="Marcador de texto 4">
            <a:extLst>
              <a:ext uri="{FF2B5EF4-FFF2-40B4-BE49-F238E27FC236}">
                <a16:creationId xmlns:a16="http://schemas.microsoft.com/office/drawing/2014/main" id="{951D2A50-BDD8-0140-6856-B160A3EF9C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3E96DA55-D8D7-ECD8-C1C1-E7CF8F4CC759}"/>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7" name="Marcador de fecha 6">
            <a:extLst>
              <a:ext uri="{FF2B5EF4-FFF2-40B4-BE49-F238E27FC236}">
                <a16:creationId xmlns:a16="http://schemas.microsoft.com/office/drawing/2014/main" id="{6DBD5DE8-BAAD-A23F-E42A-FC78EE221194}"/>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8" name="Marcador de pie de página 7">
            <a:extLst>
              <a:ext uri="{FF2B5EF4-FFF2-40B4-BE49-F238E27FC236}">
                <a16:creationId xmlns:a16="http://schemas.microsoft.com/office/drawing/2014/main" id="{90EE4B05-A3D0-6017-130F-86F230B226C2}"/>
              </a:ext>
            </a:extLst>
          </p:cNvPr>
          <p:cNvSpPr>
            <a:spLocks noGrp="1"/>
          </p:cNvSpPr>
          <p:nvPr>
            <p:ph type="ftr" sz="quarter" idx="11"/>
          </p:nvPr>
        </p:nvSpPr>
        <p:spPr/>
        <p:txBody>
          <a:bodyPr/>
          <a:lstStyle/>
          <a:p>
            <a:endParaRPr lang="es-SV"/>
          </a:p>
        </p:txBody>
      </p:sp>
      <p:sp>
        <p:nvSpPr>
          <p:cNvPr id="9" name="Marcador de número de diapositiva 8">
            <a:extLst>
              <a:ext uri="{FF2B5EF4-FFF2-40B4-BE49-F238E27FC236}">
                <a16:creationId xmlns:a16="http://schemas.microsoft.com/office/drawing/2014/main" id="{D7F5D9EF-48D1-D8F2-FB9C-D4A247EBF445}"/>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1502370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5D267A-E196-13EF-FD3A-074D479D46B8}"/>
              </a:ext>
            </a:extLst>
          </p:cNvPr>
          <p:cNvSpPr>
            <a:spLocks noGrp="1"/>
          </p:cNvSpPr>
          <p:nvPr>
            <p:ph type="title"/>
          </p:nvPr>
        </p:nvSpPr>
        <p:spPr/>
        <p:txBody>
          <a:bodyPr/>
          <a:lstStyle/>
          <a:p>
            <a:r>
              <a:rPr lang="es-MX"/>
              <a:t>Haz clic para modificar el estilo de título del patrón</a:t>
            </a:r>
            <a:endParaRPr lang="es-SV"/>
          </a:p>
        </p:txBody>
      </p:sp>
      <p:sp>
        <p:nvSpPr>
          <p:cNvPr id="3" name="Marcador de fecha 2">
            <a:extLst>
              <a:ext uri="{FF2B5EF4-FFF2-40B4-BE49-F238E27FC236}">
                <a16:creationId xmlns:a16="http://schemas.microsoft.com/office/drawing/2014/main" id="{CD7AF0F5-062D-3B95-9353-81F0DA2BC0AD}"/>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4" name="Marcador de pie de página 3">
            <a:extLst>
              <a:ext uri="{FF2B5EF4-FFF2-40B4-BE49-F238E27FC236}">
                <a16:creationId xmlns:a16="http://schemas.microsoft.com/office/drawing/2014/main" id="{68B978C5-1E29-BE73-7E64-204B0F2BC6BF}"/>
              </a:ext>
            </a:extLst>
          </p:cNvPr>
          <p:cNvSpPr>
            <a:spLocks noGrp="1"/>
          </p:cNvSpPr>
          <p:nvPr>
            <p:ph type="ftr" sz="quarter" idx="11"/>
          </p:nvPr>
        </p:nvSpPr>
        <p:spPr/>
        <p:txBody>
          <a:bodyPr/>
          <a:lstStyle/>
          <a:p>
            <a:endParaRPr lang="es-SV"/>
          </a:p>
        </p:txBody>
      </p:sp>
      <p:sp>
        <p:nvSpPr>
          <p:cNvPr id="5" name="Marcador de número de diapositiva 4">
            <a:extLst>
              <a:ext uri="{FF2B5EF4-FFF2-40B4-BE49-F238E27FC236}">
                <a16:creationId xmlns:a16="http://schemas.microsoft.com/office/drawing/2014/main" id="{477B0AA7-3AEF-3A56-2110-DB17D35E47F7}"/>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3890413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FCC7489-4F6B-4B71-04D6-99301E90D467}"/>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3" name="Marcador de pie de página 2">
            <a:extLst>
              <a:ext uri="{FF2B5EF4-FFF2-40B4-BE49-F238E27FC236}">
                <a16:creationId xmlns:a16="http://schemas.microsoft.com/office/drawing/2014/main" id="{7E98D37B-9ECE-609D-114F-5B39D35B360E}"/>
              </a:ext>
            </a:extLst>
          </p:cNvPr>
          <p:cNvSpPr>
            <a:spLocks noGrp="1"/>
          </p:cNvSpPr>
          <p:nvPr>
            <p:ph type="ftr" sz="quarter" idx="11"/>
          </p:nvPr>
        </p:nvSpPr>
        <p:spPr/>
        <p:txBody>
          <a:bodyPr/>
          <a:lstStyle/>
          <a:p>
            <a:endParaRPr lang="es-SV"/>
          </a:p>
        </p:txBody>
      </p:sp>
      <p:sp>
        <p:nvSpPr>
          <p:cNvPr id="4" name="Marcador de número de diapositiva 3">
            <a:extLst>
              <a:ext uri="{FF2B5EF4-FFF2-40B4-BE49-F238E27FC236}">
                <a16:creationId xmlns:a16="http://schemas.microsoft.com/office/drawing/2014/main" id="{AE39F9FC-6691-46A3-5923-57E96A230C11}"/>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3539707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787392-18A3-AFAD-0386-5808804C5B84}"/>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SV"/>
          </a:p>
        </p:txBody>
      </p:sp>
      <p:sp>
        <p:nvSpPr>
          <p:cNvPr id="3" name="Marcador de contenido 2">
            <a:extLst>
              <a:ext uri="{FF2B5EF4-FFF2-40B4-BE49-F238E27FC236}">
                <a16:creationId xmlns:a16="http://schemas.microsoft.com/office/drawing/2014/main" id="{F26BC22E-F43A-1EC3-EED9-A963FEEEED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4" name="Marcador de texto 3">
            <a:extLst>
              <a:ext uri="{FF2B5EF4-FFF2-40B4-BE49-F238E27FC236}">
                <a16:creationId xmlns:a16="http://schemas.microsoft.com/office/drawing/2014/main" id="{159D0088-C458-B008-17CB-AD362EFD35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28FC4388-D961-AFC4-338C-FE20825D2D1D}"/>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6" name="Marcador de pie de página 5">
            <a:extLst>
              <a:ext uri="{FF2B5EF4-FFF2-40B4-BE49-F238E27FC236}">
                <a16:creationId xmlns:a16="http://schemas.microsoft.com/office/drawing/2014/main" id="{CC002D08-31EF-ADC4-EF6C-8C048140FC83}"/>
              </a:ext>
            </a:extLst>
          </p:cNvPr>
          <p:cNvSpPr>
            <a:spLocks noGrp="1"/>
          </p:cNvSpPr>
          <p:nvPr>
            <p:ph type="ftr" sz="quarter" idx="11"/>
          </p:nvPr>
        </p:nvSpPr>
        <p:spPr/>
        <p:txBody>
          <a:bodyPr/>
          <a:lstStyle/>
          <a:p>
            <a:endParaRPr lang="es-SV"/>
          </a:p>
        </p:txBody>
      </p:sp>
      <p:sp>
        <p:nvSpPr>
          <p:cNvPr id="7" name="Marcador de número de diapositiva 6">
            <a:extLst>
              <a:ext uri="{FF2B5EF4-FFF2-40B4-BE49-F238E27FC236}">
                <a16:creationId xmlns:a16="http://schemas.microsoft.com/office/drawing/2014/main" id="{3AB107B0-2B1B-DC26-D758-C2A80EA4404E}"/>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3655922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C7F8E7-BC43-E55F-DCE0-B17E30AF55E3}"/>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SV"/>
          </a:p>
        </p:txBody>
      </p:sp>
      <p:sp>
        <p:nvSpPr>
          <p:cNvPr id="3" name="Marcador de posición de imagen 2">
            <a:extLst>
              <a:ext uri="{FF2B5EF4-FFF2-40B4-BE49-F238E27FC236}">
                <a16:creationId xmlns:a16="http://schemas.microsoft.com/office/drawing/2014/main" id="{95F264F4-1E54-E14D-A3E8-85E786E6AF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SV"/>
          </a:p>
        </p:txBody>
      </p:sp>
      <p:sp>
        <p:nvSpPr>
          <p:cNvPr id="4" name="Marcador de texto 3">
            <a:extLst>
              <a:ext uri="{FF2B5EF4-FFF2-40B4-BE49-F238E27FC236}">
                <a16:creationId xmlns:a16="http://schemas.microsoft.com/office/drawing/2014/main" id="{173B5BAF-EA8D-93A7-A944-4B42E7098E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3C583257-C538-CBCB-7DE9-A06EA1F23F6A}"/>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6" name="Marcador de pie de página 5">
            <a:extLst>
              <a:ext uri="{FF2B5EF4-FFF2-40B4-BE49-F238E27FC236}">
                <a16:creationId xmlns:a16="http://schemas.microsoft.com/office/drawing/2014/main" id="{6FB6377A-C88F-0E4E-6512-998D416563E9}"/>
              </a:ext>
            </a:extLst>
          </p:cNvPr>
          <p:cNvSpPr>
            <a:spLocks noGrp="1"/>
          </p:cNvSpPr>
          <p:nvPr>
            <p:ph type="ftr" sz="quarter" idx="11"/>
          </p:nvPr>
        </p:nvSpPr>
        <p:spPr/>
        <p:txBody>
          <a:bodyPr/>
          <a:lstStyle/>
          <a:p>
            <a:endParaRPr lang="es-SV"/>
          </a:p>
        </p:txBody>
      </p:sp>
      <p:sp>
        <p:nvSpPr>
          <p:cNvPr id="7" name="Marcador de número de diapositiva 6">
            <a:extLst>
              <a:ext uri="{FF2B5EF4-FFF2-40B4-BE49-F238E27FC236}">
                <a16:creationId xmlns:a16="http://schemas.microsoft.com/office/drawing/2014/main" id="{BDA2F9A9-D335-A24D-6616-BE21390434B2}"/>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2780379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DB573A-A965-E5F0-C8B7-AD74E3712487}"/>
              </a:ext>
            </a:extLst>
          </p:cNvPr>
          <p:cNvSpPr>
            <a:spLocks noGrp="1"/>
          </p:cNvSpPr>
          <p:nvPr>
            <p:ph type="title"/>
          </p:nvPr>
        </p:nvSpPr>
        <p:spPr/>
        <p:txBody>
          <a:bodyPr/>
          <a:lstStyle/>
          <a:p>
            <a:r>
              <a:rPr lang="es-MX"/>
              <a:t>Haz clic para modificar el estilo de título del patrón</a:t>
            </a:r>
            <a:endParaRPr lang="es-SV"/>
          </a:p>
        </p:txBody>
      </p:sp>
      <p:sp>
        <p:nvSpPr>
          <p:cNvPr id="3" name="Marcador de texto vertical 2">
            <a:extLst>
              <a:ext uri="{FF2B5EF4-FFF2-40B4-BE49-F238E27FC236}">
                <a16:creationId xmlns:a16="http://schemas.microsoft.com/office/drawing/2014/main" id="{1BA8A928-686F-08FA-FA60-82456AC751BE}"/>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4" name="Marcador de fecha 3">
            <a:extLst>
              <a:ext uri="{FF2B5EF4-FFF2-40B4-BE49-F238E27FC236}">
                <a16:creationId xmlns:a16="http://schemas.microsoft.com/office/drawing/2014/main" id="{8E2EED11-37CE-DDE7-0996-F1656333BBA3}"/>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5" name="Marcador de pie de página 4">
            <a:extLst>
              <a:ext uri="{FF2B5EF4-FFF2-40B4-BE49-F238E27FC236}">
                <a16:creationId xmlns:a16="http://schemas.microsoft.com/office/drawing/2014/main" id="{91973FC4-35B2-7FA1-6FA6-C69B042A5431}"/>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A19FC8B8-A38F-9C7F-1BF7-3F68A49B117E}"/>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4112446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77D44C4-F6B0-17CB-171D-21D7EF55883A}"/>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SV"/>
          </a:p>
        </p:txBody>
      </p:sp>
      <p:sp>
        <p:nvSpPr>
          <p:cNvPr id="3" name="Marcador de texto vertical 2">
            <a:extLst>
              <a:ext uri="{FF2B5EF4-FFF2-40B4-BE49-F238E27FC236}">
                <a16:creationId xmlns:a16="http://schemas.microsoft.com/office/drawing/2014/main" id="{2AF3F919-79AC-F71B-339E-F46E0D56AEC8}"/>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4" name="Marcador de fecha 3">
            <a:extLst>
              <a:ext uri="{FF2B5EF4-FFF2-40B4-BE49-F238E27FC236}">
                <a16:creationId xmlns:a16="http://schemas.microsoft.com/office/drawing/2014/main" id="{D5579CB5-D3C7-4564-4992-AA3FE62DF088}"/>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5" name="Marcador de pie de página 4">
            <a:extLst>
              <a:ext uri="{FF2B5EF4-FFF2-40B4-BE49-F238E27FC236}">
                <a16:creationId xmlns:a16="http://schemas.microsoft.com/office/drawing/2014/main" id="{C0BA4BF1-DEDA-37E8-7D85-7DA091884875}"/>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6A1DFEFA-35D6-51BD-C69D-0EFD2E7FC7BC}"/>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40775473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27B7F8D-DE7C-32C4-D228-68696D5B84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SV"/>
          </a:p>
        </p:txBody>
      </p:sp>
      <p:sp>
        <p:nvSpPr>
          <p:cNvPr id="3" name="Marcador de texto 2">
            <a:extLst>
              <a:ext uri="{FF2B5EF4-FFF2-40B4-BE49-F238E27FC236}">
                <a16:creationId xmlns:a16="http://schemas.microsoft.com/office/drawing/2014/main" id="{8CAE6056-C60B-917E-5F56-F732610148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4" name="Marcador de fecha 3">
            <a:extLst>
              <a:ext uri="{FF2B5EF4-FFF2-40B4-BE49-F238E27FC236}">
                <a16:creationId xmlns:a16="http://schemas.microsoft.com/office/drawing/2014/main" id="{5F3682A0-187E-0333-D85D-D60B144E12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B18277-A37D-4F4A-BC70-5B646CB73774}" type="datetimeFigureOut">
              <a:rPr lang="es-SV" smtClean="0"/>
              <a:t>24/10/2026</a:t>
            </a:fld>
            <a:endParaRPr lang="es-SV"/>
          </a:p>
        </p:txBody>
      </p:sp>
      <p:sp>
        <p:nvSpPr>
          <p:cNvPr id="5" name="Marcador de pie de página 4">
            <a:extLst>
              <a:ext uri="{FF2B5EF4-FFF2-40B4-BE49-F238E27FC236}">
                <a16:creationId xmlns:a16="http://schemas.microsoft.com/office/drawing/2014/main" id="{F1C7C310-C8CD-DCCD-F3E6-D8FE04D6FA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SV"/>
          </a:p>
        </p:txBody>
      </p:sp>
      <p:sp>
        <p:nvSpPr>
          <p:cNvPr id="6" name="Marcador de número de diapositiva 5">
            <a:extLst>
              <a:ext uri="{FF2B5EF4-FFF2-40B4-BE49-F238E27FC236}">
                <a16:creationId xmlns:a16="http://schemas.microsoft.com/office/drawing/2014/main" id="{630D2611-9B5A-26DA-21AA-92971AC596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E9AB63-2DD0-DF4B-A7F0-7BF2582936DD}" type="slidenum">
              <a:rPr lang="es-SV" smtClean="0"/>
              <a:t>‹Nº›</a:t>
            </a:fld>
            <a:endParaRPr lang="es-SV"/>
          </a:p>
        </p:txBody>
      </p:sp>
    </p:spTree>
    <p:extLst>
      <p:ext uri="{BB962C8B-B14F-4D97-AF65-F5344CB8AC3E}">
        <p14:creationId xmlns:p14="http://schemas.microsoft.com/office/powerpoint/2010/main" val="403913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em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emf"/><Relationship Id="rId3" Type="http://schemas.openxmlformats.org/officeDocument/2006/relationships/image" Target="../media/image11.emf"/><Relationship Id="rId4" Type="http://schemas.openxmlformats.org/officeDocument/2006/relationships/image" Target="../media/image4.emf"/></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lumna azul"/>
          <p:cNvSpPr/>
          <p:nvPr/>
        </p:nvSpPr>
        <p:spPr>
          <a:xfrm>
            <a:off x="0" y="0"/>
            <a:ext cx="3538728" cy="6858000"/>
          </a:xfrm>
          <a:prstGeom prst="rect">
            <a:avLst/>
          </a:prstGeom>
          <a:solidFill>
            <a:srgbClr val="003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SV" noProof="0" dirty="0">
              <a:latin typeface="Arial" panose="020B0604020202020204" pitchFamily="34" charset="0"/>
              <a:cs typeface="Arial" panose="020B0604020202020204" pitchFamily="34" charset="0"/>
            </a:endParaRPr>
          </a:p>
        </p:txBody>
      </p:sp>
      <p:sp>
        <p:nvSpPr>
          <p:cNvPr id="3" name="Acento"/>
          <p:cNvSpPr/>
          <p:nvPr/>
        </p:nvSpPr>
        <p:spPr>
          <a:xfrm>
            <a:off x="0" y="1216152"/>
            <a:ext cx="201168" cy="1216152"/>
          </a:xfrm>
          <a:prstGeom prst="rect">
            <a:avLst/>
          </a:prstGeom>
          <a:solidFill>
            <a:srgbClr val="005C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SV" noProof="0" dirty="0">
              <a:latin typeface="Arial" panose="020B0604020202020204" pitchFamily="34" charset="0"/>
              <a:cs typeface="Arial" panose="020B0604020202020204" pitchFamily="34" charset="0"/>
            </a:endParaRPr>
          </a:p>
        </p:txBody>
      </p:sp>
      <p:sp>
        <p:nvSpPr>
          <p:cNvPr id="6" name="Departamento"/>
          <p:cNvSpPr/>
          <p:nvPr/>
        </p:nvSpPr>
        <p:spPr>
          <a:xfrm>
            <a:off x="45720" y="5422392"/>
            <a:ext cx="3447288" cy="960120"/>
          </a:xfrm>
          <a:prstGeom prst="rect">
            <a:avLst/>
          </a:prstGeom>
          <a:solidFill>
            <a:srgbClr val="005C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SV" noProof="0" dirty="0">
              <a:latin typeface="Arial" panose="020B0604020202020204" pitchFamily="34" charset="0"/>
              <a:cs typeface="Arial" panose="020B0604020202020204" pitchFamily="34" charset="0"/>
            </a:endParaRPr>
          </a:p>
        </p:txBody>
      </p:sp>
      <p:sp>
        <p:nvSpPr>
          <p:cNvPr id="7" name="TextBox 6"/>
          <p:cNvSpPr txBox="1"/>
          <p:nvPr/>
        </p:nvSpPr>
        <p:spPr>
          <a:xfrm>
            <a:off x="45720" y="5656231"/>
            <a:ext cx="3447288" cy="492443"/>
          </a:xfrm>
          <a:prstGeom prst="rect">
            <a:avLst/>
          </a:prstGeom>
          <a:noFill/>
        </p:spPr>
        <p:txBody>
          <a:bodyPr wrap="square" lIns="0" tIns="0" rIns="0" bIns="0" anchor="ctr">
            <a:spAutoFit/>
          </a:bodyPr>
          <a:lstStyle/>
          <a:p>
            <a:pPr algn="ctr"/>
            <a:r>
              <a:rPr lang="es-SV" sz="1600" b="1" noProof="0" dirty="0">
                <a:solidFill>
                  <a:srgbClr val="FFFFFF"/>
                </a:solidFill>
                <a:latin typeface="Arial" panose="020B0604020202020204" pitchFamily="34" charset="0"/>
                <a:cs typeface="Arial" panose="020B0604020202020204" pitchFamily="34" charset="0"/>
              </a:rPr>
              <a:t>Departamento de</a:t>
            </a:r>
          </a:p>
          <a:p>
            <a:pPr algn="ctr"/>
            <a:r>
              <a:rPr lang="es-SV" sz="1600" b="1" noProof="0" dirty="0">
                <a:solidFill>
                  <a:srgbClr val="FFFFFF"/>
                </a:solidFill>
                <a:latin typeface="Arial" panose="020B0604020202020204" pitchFamily="34" charset="0"/>
                <a:cs typeface="Arial" panose="020B0604020202020204" pitchFamily="34" charset="0"/>
              </a:rPr>
              <a:t>Administración de Riesgos</a:t>
            </a:r>
          </a:p>
        </p:txBody>
      </p:sp>
      <p:sp>
        <p:nvSpPr>
          <p:cNvPr id="8" name="TextBox 7"/>
          <p:cNvSpPr txBox="1"/>
          <p:nvPr/>
        </p:nvSpPr>
        <p:spPr>
          <a:xfrm>
            <a:off x="45720" y="6503167"/>
            <a:ext cx="3447288" cy="261610"/>
          </a:xfrm>
          <a:prstGeom prst="rect">
            <a:avLst/>
          </a:prstGeom>
          <a:noFill/>
        </p:spPr>
        <p:txBody>
          <a:bodyPr wrap="square" lIns="0" tIns="0" rIns="0" bIns="0" anchor="ctr">
            <a:spAutoFit/>
          </a:bodyPr>
          <a:lstStyle/>
          <a:p>
            <a:pPr algn="ctr"/>
            <a:r>
              <a:rPr lang="es-SV" sz="1700" b="1" noProof="0" dirty="0">
                <a:solidFill>
                  <a:srgbClr val="9DC3E6"/>
                </a:solidFill>
                <a:latin typeface="Arial" panose="020B0604020202020204" pitchFamily="34" charset="0"/>
                <a:cs typeface="Arial" panose="020B0604020202020204" pitchFamily="34" charset="0"/>
              </a:rPr>
              <a:t>OCTUBRE 2026</a:t>
            </a:r>
          </a:p>
        </p:txBody>
      </p:sp>
      <p:sp>
        <p:nvSpPr>
          <p:cNvPr id="9" name="TextBox 8"/>
          <p:cNvSpPr txBox="1"/>
          <p:nvPr/>
        </p:nvSpPr>
        <p:spPr>
          <a:xfrm>
            <a:off x="3840480" y="2967335"/>
            <a:ext cx="8001000" cy="461665"/>
          </a:xfrm>
          <a:prstGeom prst="rect">
            <a:avLst/>
          </a:prstGeom>
          <a:noFill/>
        </p:spPr>
        <p:txBody>
          <a:bodyPr wrap="square" lIns="0" tIns="0" rIns="0" bIns="0" anchor="ctr">
            <a:spAutoFit/>
          </a:bodyPr>
          <a:lstStyle/>
          <a:p>
            <a:pPr algn="ctr"/>
            <a:r>
              <a:rPr lang="es-SV" sz="3000" b="1" noProof="0" dirty="0">
                <a:solidFill>
                  <a:srgbClr val="00376E"/>
                </a:solidFill>
                <a:latin typeface="Arial" panose="020B0604020202020204" pitchFamily="34" charset="0"/>
                <a:cs typeface="Arial" panose="020B0604020202020204" pitchFamily="34" charset="0"/>
              </a:rPr>
              <a:t>ACTUALIZACIÓN DE NORMATIVA INTERNA</a:t>
            </a:r>
          </a:p>
        </p:txBody>
      </p:sp>
      <p:sp>
        <p:nvSpPr>
          <p:cNvPr id="11" name="TextBox 10"/>
          <p:cNvSpPr txBox="1"/>
          <p:nvPr/>
        </p:nvSpPr>
        <p:spPr>
          <a:xfrm>
            <a:off x="4023360" y="3611880"/>
            <a:ext cx="7680960" cy="822960"/>
          </a:xfrm>
          <a:prstGeom prst="rect">
            <a:avLst/>
          </a:prstGeom>
          <a:noFill/>
        </p:spPr>
        <p:txBody>
          <a:bodyPr wrap="square" lIns="0" tIns="0" rIns="0" bIns="0" anchor="t">
            <a:spAutoFit/>
          </a:bodyPr>
          <a:lstStyle/>
          <a:p>
            <a:pPr algn="ctr"/>
            <a:r>
              <a:rPr lang="es-SV" sz="1400" b="0" noProof="0" dirty="0">
                <a:solidFill>
                  <a:srgbClr val="002060"/>
                </a:solidFill>
                <a:latin typeface="Arial" panose="020B0604020202020204" pitchFamily="34" charset="0"/>
                <a:cs typeface="Arial" panose="020B0604020202020204" pitchFamily="34" charset="0"/>
              </a:rPr>
              <a:t>Cuadro comparativo de cambios: versión vigente y versión propuesta</a:t>
            </a:r>
          </a:p>
          <a:p>
            <a:pPr algn="ctr"/>
            <a:r>
              <a:rPr lang="es-SV" sz="1400" b="0" noProof="0" dirty="0">
                <a:solidFill>
                  <a:srgbClr val="002060"/>
                </a:solidFill>
                <a:latin typeface="Arial" panose="020B0604020202020204" pitchFamily="34" charset="0"/>
                <a:cs typeface="Arial" panose="020B0604020202020204" pitchFamily="34" charset="0"/>
              </a:rPr>
              <a:t>Presentado al Comité de Riesgos</a:t>
            </a:r>
          </a:p>
        </p:txBody>
      </p:sp>
      <p:pic>
        <p:nvPicPr>
          <p:cNvPr id="12" name="logo" descr="/tmp/claude-0/-home-user-riesgo/74e9c8ad-7a43-5903-a089-2edd8047c387/scratchpad/assets/logo_white.png">
            <a:extLst>
              <a:ext uri="{FF2B5EF4-FFF2-40B4-BE49-F238E27FC236}">
                <a16:creationId xmlns:a16="http://schemas.microsoft.com/office/drawing/2014/main" id="{6158355E-8FBE-C9ED-F166-BCDD022F7FC1}"/>
              </a:ext>
            </a:extLst>
          </p:cNvPr>
          <p:cNvPicPr>
            <a:picLocks noChangeAspect="1"/>
          </p:cNvPicPr>
          <p:nvPr/>
        </p:nvPicPr>
        <p:blipFill>
          <a:blip r:embed="rId2"/>
          <a:stretch>
            <a:fillRect/>
          </a:stretch>
        </p:blipFill>
        <p:spPr>
          <a:xfrm>
            <a:off x="602040" y="1857309"/>
            <a:ext cx="2334648" cy="157169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CuadroTexto 5">
            <a:extLst>
              <a:ext uri="{FF2B5EF4-FFF2-40B4-BE49-F238E27FC236}">
                <a16:creationId xmlns:a16="http://schemas.microsoft.com/office/drawing/2014/main" id="{A2E490EE-A001-BCDF-8E53-B55769CA5F29}"/>
              </a:ext>
            </a:extLst>
          </p:cNvPr>
          <p:cNvSpPr txBox="1"/>
          <p:nvPr/>
        </p:nvSpPr>
        <p:spPr>
          <a:xfrm>
            <a:off x="0" y="0"/>
            <a:ext cx="12192000" cy="749422"/>
          </a:xfrm>
          <a:prstGeom prst="rect">
            <a:avLst/>
          </a:prstGeom>
          <a:solidFill>
            <a:srgbClr val="003D6F"/>
          </a:solidFill>
          <a:ln>
            <a:noFill/>
          </a:ln>
          <a:effectLst/>
        </p:spPr>
        <p:txBody>
          <a:bodyPr spcFirstLastPara="0" vert="horz" wrap="square" lIns="114300" tIns="114300" rIns="114300" bIns="114300" numCol="1" spcCol="1270" anchor="ctr" anchorCtr="0">
            <a:noAutofit/>
          </a:bodyPr>
          <a:lstStyle/>
          <a:p>
            <a:pPr lvl="0" algn="ctr" defTabSz="1333500">
              <a:defRPr/>
            </a:pPr>
            <a:r>
              <a:rPr lang="es-SV" sz="2000" b="1" dirty="0">
                <a:solidFill>
                  <a:prstClr val="white"/>
                </a:solidFill>
                <a:latin typeface="Century Gothic"/>
                <a:ea typeface="MS Mincho"/>
              </a:rPr>
              <a:t>COMITÉ DE RIESGOS · ACTUALIZACIÓN DE NORMATIVA INTERNA</a:t>
            </a:r>
          </a:p>
        </p:txBody>
      </p:sp>
      <p:sp>
        <p:nvSpPr>
          <p:cNvPr id="5" name="CuadroTexto 4">
            <a:extLst>
              <a:ext uri="{FF2B5EF4-FFF2-40B4-BE49-F238E27FC236}">
                <a16:creationId xmlns:a16="http://schemas.microsoft.com/office/drawing/2014/main" id="{BDE373AF-1319-46A7-0114-4F1F5D98C4A1}"/>
              </a:ext>
            </a:extLst>
          </p:cNvPr>
          <p:cNvSpPr txBox="1"/>
          <p:nvPr/>
        </p:nvSpPr>
        <p:spPr>
          <a:xfrm>
            <a:off x="1281748" y="1202783"/>
            <a:ext cx="8982405" cy="4703532"/>
          </a:xfrm>
          <a:prstGeom prst="rect">
            <a:avLst/>
          </a:prstGeom>
          <a:noFill/>
        </p:spPr>
        <p:txBody>
          <a:bodyPr wrap="square">
            <a:spAutoFit/>
          </a:bodyPr>
          <a:lstStyle/>
          <a:p>
            <a:pPr>
              <a:lnSpc>
                <a:spcPct val="150000"/>
              </a:lnSpc>
            </a:pPr>
            <a:r>
              <a:rPr lang="es-SV" sz="4000" b="1" dirty="0">
                <a:solidFill>
                  <a:srgbClr val="003D6F"/>
                </a:solidFill>
                <a:latin typeface="Myriad Pro" panose="020B0503030403020204"/>
              </a:rPr>
              <a:t>AGENDA</a:t>
            </a:r>
            <a:endParaRPr lang="es-SV" sz="2400" b="1" dirty="0">
              <a:solidFill>
                <a:srgbClr val="003D6F"/>
              </a:solidFill>
              <a:latin typeface="Myriad Pro" panose="020B0503030403020204"/>
            </a:endParaRPr>
          </a:p>
          <a:p>
            <a:pPr>
              <a:lnSpc>
                <a:spcPct val="150000"/>
              </a:lnSpc>
            </a:pPr>
            <a:endParaRPr lang="es-SV" b="1" dirty="0">
              <a:solidFill>
                <a:srgbClr val="003D6F"/>
              </a:solidFill>
              <a:latin typeface="Myriad Pro" panose="020B0503030403020204"/>
            </a:endParaRPr>
          </a:p>
          <a:p>
            <a:pPr marL="285750" indent="-285750">
              <a:lnSpc>
                <a:spcPct val="150000"/>
              </a:lnSpc>
              <a:buFont typeface="Arial" panose="020B0604020202020204" pitchFamily="34" charset="0"/>
              <a:buChar char="•"/>
            </a:pPr>
            <a:r>
              <a:rPr lang="es-SV" dirty="0">
                <a:solidFill>
                  <a:srgbClr val="003D6F"/>
                </a:solidFill>
                <a:latin typeface="Myriad Pro" panose="020B0503030403020204"/>
              </a:rPr>
              <a:t>Política de Contratación de Servicios Críticos Tercerizados (RP-GG-PL-003) · V03 → V04 · 60 cambios</a:t>
            </a:r>
          </a:p>
          <a:p>
            <a:pPr marL="285750" indent="-285750">
              <a:lnSpc>
                <a:spcPct val="150000"/>
              </a:lnSpc>
              <a:buFont typeface="Arial" panose="020B0604020202020204" pitchFamily="34" charset="0"/>
              <a:buChar char="•"/>
            </a:pPr>
            <a:r>
              <a:rPr lang="es-SV" dirty="0">
                <a:solidFill>
                  <a:srgbClr val="003D6F"/>
                </a:solidFill>
                <a:latin typeface="Myriad Pro" panose="020B0503030403020204"/>
              </a:rPr>
              <a:t>Manual de Gestión del Riesgo Reputacional (MA-GG-M-004) · V03 → V04 · 22 cambios</a:t>
            </a:r>
          </a:p>
          <a:p>
            <a:pPr marL="285750" indent="-285750">
              <a:lnSpc>
                <a:spcPct val="150000"/>
              </a:lnSpc>
              <a:buFont typeface="Arial" panose="020B0604020202020204" pitchFamily="34" charset="0"/>
              <a:buChar char="•"/>
            </a:pPr>
            <a:r>
              <a:rPr lang="es-SV" dirty="0">
                <a:solidFill>
                  <a:srgbClr val="003D6F"/>
                </a:solidFill>
                <a:latin typeface="Myriad Pro" panose="020B0503030403020204"/>
              </a:rPr>
              <a:t>Información de Comités (Gobierno Corporativo, NRP-17 art. 29) · 2024 → 2026 · 187 cambios</a:t>
            </a:r>
          </a:p>
          <a:p>
            <a:pPr marL="285750" indent="-285750">
              <a:lnSpc>
                <a:spcPct val="150000"/>
              </a:lnSpc>
              <a:buFont typeface="Arial" panose="020B0604020202020204" pitchFamily="34" charset="0"/>
              <a:buChar char="•"/>
            </a:pPr>
            <a:r>
              <a:rPr lang="es-SV" dirty="0">
                <a:solidFill>
                  <a:srgbClr val="003D6F"/>
                </a:solidFill>
                <a:latin typeface="Myriad Pro" panose="020B0503030403020204"/>
              </a:rPr>
              <a:t>Solicitud al Comité de Riesgos</a:t>
            </a:r>
          </a:p>
          <a:p>
            <a:pPr marL="285750" indent="-285750">
              <a:lnSpc>
                <a:spcPct val="150000"/>
              </a:lnSpc>
              <a:buFont typeface="Arial" panose="020B0604020202020204" pitchFamily="34" charset="0"/>
              <a:buChar char="•"/>
            </a:pPr>
            <a:r>
              <a:rPr lang="es-SV" dirty="0">
                <a:solidFill>
                  <a:srgbClr val="003D6F"/>
                </a:solidFill>
                <a:latin typeface="Myriad Pro" panose="020B0503030403020204"/>
              </a:rPr>
              <a:t>Espacio de preguntas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ángulo 3">
            <a:extLst>
              <a:ext uri="{FF2B5EF4-FFF2-40B4-BE49-F238E27FC236}">
                <a16:creationId xmlns:a16="http://schemas.microsoft.com/office/drawing/2014/main" id="{5411B601-C91F-0BE0-090B-5C8396A9A9ED}"/>
              </a:ext>
            </a:extLst>
          </p:cNvPr>
          <p:cNvSpPr>
            <a:spLocks noGrp="1" noRot="1" noMove="1" noResize="1" noEditPoints="1" noAdjustHandles="1" noChangeArrowheads="1" noChangeShapeType="1"/>
          </p:cNvSpPr>
          <p:nvPr/>
        </p:nvSpPr>
        <p:spPr>
          <a:xfrm>
            <a:off x="-92149" y="-53163"/>
            <a:ext cx="12376298" cy="6964326"/>
          </a:xfrm>
          <a:prstGeom prst="rect">
            <a:avLst/>
          </a:prstGeom>
          <a:solidFill>
            <a:srgbClr val="0037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pic>
        <p:nvPicPr>
          <p:cNvPr id="5" name="Imagen 4">
            <a:extLst>
              <a:ext uri="{FF2B5EF4-FFF2-40B4-BE49-F238E27FC236}">
                <a16:creationId xmlns:a16="http://schemas.microsoft.com/office/drawing/2014/main" id="{DFF64E7E-F23D-0AD8-1D6F-56900929F75A}"/>
              </a:ext>
            </a:extLst>
          </p:cNvPr>
          <p:cNvPicPr>
            <a:picLocks noChangeAspect="1"/>
          </p:cNvPicPr>
          <p:nvPr/>
        </p:nvPicPr>
        <p:blipFill>
          <a:blip r:embed="rId2"/>
          <a:stretch>
            <a:fillRect/>
          </a:stretch>
        </p:blipFill>
        <p:spPr>
          <a:xfrm>
            <a:off x="6504166" y="2535186"/>
            <a:ext cx="2342121" cy="1579302"/>
          </a:xfrm>
          <a:prstGeom prst="rect">
            <a:avLst/>
          </a:prstGeom>
        </p:spPr>
      </p:pic>
      <p:sp>
        <p:nvSpPr>
          <p:cNvPr id="6" name="CuadroTexto 5">
            <a:extLst>
              <a:ext uri="{FF2B5EF4-FFF2-40B4-BE49-F238E27FC236}">
                <a16:creationId xmlns:a16="http://schemas.microsoft.com/office/drawing/2014/main" id="{BA87AA9B-702C-4456-A380-F08DF42DEF2C}"/>
              </a:ext>
            </a:extLst>
          </p:cNvPr>
          <p:cNvSpPr txBox="1"/>
          <p:nvPr/>
        </p:nvSpPr>
        <p:spPr>
          <a:xfrm>
            <a:off x="640080" y="2377440"/>
            <a:ext cx="5120640" cy="1463040"/>
          </a:xfrm>
          <a:prstGeom prst="rect">
            <a:avLst/>
          </a:prstGeom>
          <a:noFill/>
        </p:spPr>
        <p:txBody>
          <a:bodyPr wrap="square" rtlCol="0">
            <a:spAutoFit/>
          </a:bodyPr>
          <a:lstStyle/>
          <a:p>
            <a:pPr algn="r"/>
            <a:r>
              <a:rPr lang="es-SV" sz="2800" dirty="0">
                <a:solidFill>
                  <a:schemeClr val="bg1"/>
                </a:solidFill>
                <a:latin typeface="Century Gothic" panose="020B0502020202020204" pitchFamily="34" charset="0"/>
              </a:rPr>
              <a:t>Política de Contratación de Servicios Críticos Tercerizados</a:t>
            </a:r>
          </a:p>
        </p:txBody>
      </p:sp>
      <p:cxnSp>
        <p:nvCxnSpPr>
          <p:cNvPr id="8" name="Conector recto 7">
            <a:extLst>
              <a:ext uri="{FF2B5EF4-FFF2-40B4-BE49-F238E27FC236}">
                <a16:creationId xmlns:a16="http://schemas.microsoft.com/office/drawing/2014/main" id="{8F41098E-7291-4952-0707-562BC04ED036}"/>
              </a:ext>
            </a:extLst>
          </p:cNvPr>
          <p:cNvCxnSpPr>
            <a:cxnSpLocks/>
          </p:cNvCxnSpPr>
          <p:nvPr/>
        </p:nvCxnSpPr>
        <p:spPr>
          <a:xfrm>
            <a:off x="5986130" y="2695509"/>
            <a:ext cx="0" cy="14669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3977639"/>
            <a:ext cx="5120640" cy="731520"/>
          </a:xfrm>
          <a:prstGeom prst="rect">
            <a:avLst/>
          </a:prstGeom>
          <a:noFill/>
        </p:spPr>
        <p:txBody>
          <a:bodyPr wrap="square" lIns="0" rIns="0" tIns="0" bIns="0" anchor="t">
            <a:spAutoFit/>
          </a:bodyPr>
          <a:lstStyle/>
          <a:p>
            <a:pPr algn="r"/>
            <a:r>
              <a:rPr sz="1400" b="0" i="0">
                <a:solidFill>
                  <a:srgbClr val="DCE6F7"/>
                </a:solidFill>
                <a:latin typeface="Arial"/>
              </a:rPr>
              <a:t>RP-GG-PL-003 · V03 vigente → V04 propuesta · 60 cambios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Encabezado del documento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Título y I. Propósito (1 de 2)</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89611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CONTRATACIÓN DE SERVICIOS CRÍTICOS TERCERIZADOS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POLÍTICA DE </a:t>
                      </a:r>
                      <a:r>
                        <a:rPr sz="1200" b="0" i="0">
                          <a:solidFill>
                            <a:srgbClr val="1B2333"/>
                          </a:solidFill>
                          <a:latin typeface="Arial"/>
                        </a:rPr>
                        <a:t>CONTRATACIÓN DE SERVICIOS CRÍTICOS TERCERIZADOS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Identifica el tipo de documento, consistente con el código RP-GG-PL.</a:t>
                      </a:r>
                    </a:p>
                    <a:p>
                      <a:r>
                        <a:rPr sz="1200" b="1" i="0">
                          <a:solidFill>
                            <a:srgbClr val="00376E"/>
                          </a:solidFill>
                          <a:latin typeface="Arial"/>
                        </a:rPr>
                        <a:t>Formato interno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Definir las políticas que permitan evaluar, administrar y monitorear objetivamente si los servicios que se tercerizan pueden ser prestados de manera eficiente y no interfieren en el correcto funcionamiento de la Cooperativa, cuidando los intereses de COMEDICA en los Procesos de Contratación de Servicios Críticos Tercerizados.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Definir las políticas</a:t>
                      </a:r>
                      <a:r>
                        <a:rPr sz="1200" b="1" i="0" u="sng">
                          <a:solidFill>
                            <a:srgbClr val="00376E"/>
                          </a:solidFill>
                          <a:latin typeface="Arial"/>
                        </a:rPr>
                        <a:t>, lineamientos y controles mínimos</a:t>
                      </a:r>
                      <a:r>
                        <a:rPr sz="1200" b="0" i="0">
                          <a:solidFill>
                            <a:srgbClr val="1B2333"/>
                          </a:solidFill>
                          <a:latin typeface="Arial"/>
                        </a:rPr>
                        <a:t> que permitan </a:t>
                      </a:r>
                      <a:r>
                        <a:rPr sz="1200" b="1" i="0" u="sng">
                          <a:solidFill>
                            <a:srgbClr val="00376E"/>
                          </a:solidFill>
                          <a:latin typeface="Arial"/>
                        </a:rPr>
                        <a:t>identificar,</a:t>
                      </a:r>
                      <a:r>
                        <a:rPr sz="1200" b="0" i="0">
                          <a:solidFill>
                            <a:srgbClr val="1B2333"/>
                          </a:solidFill>
                          <a:latin typeface="Arial"/>
                        </a:rPr>
                        <a:t> evaluar, administrar, </a:t>
                      </a:r>
                      <a:r>
                        <a:rPr sz="1200" b="1" i="0" u="sng">
                          <a:solidFill>
                            <a:srgbClr val="00376E"/>
                          </a:solidFill>
                          <a:latin typeface="Arial"/>
                        </a:rPr>
                        <a:t>mitigar</a:t>
                      </a:r>
                      <a:r>
                        <a:rPr sz="1200" b="0" i="0">
                          <a:solidFill>
                            <a:srgbClr val="1B2333"/>
                          </a:solidFill>
                          <a:latin typeface="Arial"/>
                        </a:rPr>
                        <a:t> y monitorear objetivamente </a:t>
                      </a:r>
                      <a:r>
                        <a:rPr sz="1200" b="1" i="0" u="sng">
                          <a:solidFill>
                            <a:srgbClr val="00376E"/>
                          </a:solidFill>
                          <a:latin typeface="Arial"/>
                        </a:rPr>
                        <a:t>los riesgos asociados a la tercerización de servicios críticos, asegurando que dichos servicios sean</a:t>
                      </a:r>
                      <a:r>
                        <a:rPr sz="1200" b="0" i="0">
                          <a:solidFill>
                            <a:srgbClr val="1B2333"/>
                          </a:solidFill>
                          <a:latin typeface="Arial"/>
                        </a:rPr>
                        <a:t> prestados de manera eficiente, </a:t>
                      </a:r>
                      <a:r>
                        <a:rPr sz="1200" b="1" i="0" u="sng">
                          <a:solidFill>
                            <a:srgbClr val="00376E"/>
                          </a:solidFill>
                          <a:latin typeface="Arial"/>
                        </a:rPr>
                        <a:t>segura y continua, y que</a:t>
                      </a:r>
                      <a:r>
                        <a:rPr sz="1200" b="0" i="0">
                          <a:solidFill>
                            <a:srgbClr val="1B2333"/>
                          </a:solidFill>
                          <a:latin typeface="Arial"/>
                        </a:rPr>
                        <a:t> no interfieran en el correcto funcionamiento de la Cooperativa</a:t>
                      </a:r>
                      <a:r>
                        <a:rPr sz="1200" b="1" i="0" u="sng">
                          <a:solidFill>
                            <a:srgbClr val="00376E"/>
                          </a:solidFill>
                          <a:latin typeface="Arial"/>
                        </a:rPr>
                        <a:t>, en su perfil de riesgo, en su posición de liquidez ni en el cumplimiento del marco regulatorio</a:t>
                      </a:r>
                      <a:r>
                        <a:rPr sz="1200" b="0" i="0">
                          <a:solidFill>
                            <a:srgbClr val="1B2333"/>
                          </a:solidFill>
                          <a:latin typeface="Arial"/>
                        </a:rPr>
                        <a:t>, cuidando los intereses de COMEDICA </a:t>
                      </a:r>
                      <a:r>
                        <a:rPr sz="1200" b="1" i="0" u="sng">
                          <a:solidFill>
                            <a:srgbClr val="00376E"/>
                          </a:solidFill>
                          <a:latin typeface="Arial"/>
                        </a:rPr>
                        <a:t>de R.L. y de sus asociados</a:t>
                      </a:r>
                      <a:r>
                        <a:rPr sz="1200" b="0" i="0">
                          <a:solidFill>
                            <a:srgbClr val="1B2333"/>
                          </a:solidFill>
                          <a:latin typeface="Arial"/>
                        </a:rPr>
                        <a:t> en los procesos de </a:t>
                      </a:r>
                      <a:r>
                        <a:rPr sz="1200" b="1" i="0" u="sng">
                          <a:solidFill>
                            <a:srgbClr val="00376E"/>
                          </a:solidFill>
                          <a:latin typeface="Arial"/>
                        </a:rPr>
                        <a:t>selección,</a:t>
                      </a:r>
                      <a:r>
                        <a:rPr sz="1200" b="0" i="0">
                          <a:solidFill>
                            <a:srgbClr val="1B2333"/>
                          </a:solidFill>
                          <a:latin typeface="Arial"/>
                        </a:rPr>
                        <a:t> contratación</a:t>
                      </a:r>
                      <a:r>
                        <a:rPr sz="1200" b="1" i="0" u="sng">
                          <a:solidFill>
                            <a:srgbClr val="00376E"/>
                          </a:solidFill>
                          <a:latin typeface="Arial"/>
                        </a:rPr>
                        <a:t>, monitoreo, renovación y terminación</a:t>
                      </a:r>
                      <a:r>
                        <a:rPr sz="1200" b="0" i="0">
                          <a:solidFill>
                            <a:srgbClr val="1B2333"/>
                          </a:solidFill>
                          <a:latin typeface="Arial"/>
                        </a:rPr>
                        <a:t> de Servicios Críticos Tercerizados.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Incorpora las etapas de gestión de riesgos y el ciclo de vida completo del servicio.</a:t>
                      </a:r>
                    </a:p>
                    <a:p>
                      <a:r>
                        <a:rPr sz="1200" b="1" i="0">
                          <a:solidFill>
                            <a:srgbClr val="00376E"/>
                          </a:solidFill>
                          <a:latin typeface="Arial"/>
                        </a:rPr>
                        <a:t>NRP-20, art. 5 · NRP-42, art. 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Encabezado del documento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Título y I. Propósito (2 de 2)</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62179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La presente política se alinea con lo dispuesto en las NRP-20, NRP-42, NRP-24, NRP-23, NRP-17 y NRP-05. La tercerización de un servicio no exime a la Cooperativa de su responsabilidad sobre las actividades delegadas; COMEDICA de R.L. conserva en todo momento la capacidad de supervisar, controlar y, cuando sea necesario, reasumir o transferir el servicio tercerizado.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Deja explícito que la responsabilidad no se traslada al proveedor.</a:t>
                      </a:r>
                    </a:p>
                    <a:p>
                      <a:r>
                        <a:rPr sz="1200" b="1" i="0">
                          <a:solidFill>
                            <a:srgbClr val="00376E"/>
                          </a:solidFill>
                          <a:latin typeface="Arial"/>
                        </a:rPr>
                        <a:t>NRP-42, art. 4 · NRP-23, art. 26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Ámbito de aplicación y normativa</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II. Alcance</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62179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La presente política aplica para la Contratación de Servicios Críticos Tercerizados, en cumplimiento a lo establecido en las Normas para la Gestión del Riesgo Operacional de las Entidades Financieras (NPB4-50), Normas Técnicas para la Gestión de la Seguridad de la Información (NRP-23) y Normas Técnicas para el Sistema de Gestión de la Continuidad del Negocio (NRP-24).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La presente política aplica para la contratación de Servicios Críticos Tercerizados </a:t>
                      </a:r>
                      <a:r>
                        <a:rPr sz="1200" b="1" i="0" u="sng">
                          <a:solidFill>
                            <a:srgbClr val="00376E"/>
                          </a:solidFill>
                          <a:latin typeface="Arial"/>
                        </a:rPr>
                        <a:t>y su gestión durante todo el ciclo de vida (evaluación, selección, contratación, monitoreo, renovación y terminación), sean éstos de Tecnología de la Información o de otra naturaleza. Es de cumplimiento obligatorio para el Consejo de Administración, Comité de Riesgos, Gerencia General y todas las Gerencias, Jefaturas y Administradores de Contrato</a:t>
                      </a:r>
                      <a:r>
                        <a:rPr sz="1200" b="0" i="0">
                          <a:solidFill>
                            <a:srgbClr val="1B2333"/>
                          </a:solidFill>
                          <a:latin typeface="Arial"/>
                        </a:rPr>
                        <a:t>, en cumplimiento a lo establecido en: </a:t>
                      </a:r>
                      <a:r>
                        <a:rPr sz="1200" b="1" i="0" u="sng">
                          <a:solidFill>
                            <a:srgbClr val="00376E"/>
                          </a:solidFill>
                          <a:latin typeface="Arial"/>
                        </a:rPr>
                        <a:t>NRP-20; NRP-42</a:t>
                      </a:r>
                      <a:r>
                        <a:rPr sz="1200" b="0" i="0">
                          <a:solidFill>
                            <a:srgbClr val="1B2333"/>
                          </a:solidFill>
                          <a:latin typeface="Arial"/>
                        </a:rPr>
                        <a:t>; NRP-24; </a:t>
                      </a:r>
                      <a:r>
                        <a:rPr sz="1200" b="1" i="0" u="sng">
                          <a:solidFill>
                            <a:srgbClr val="00376E"/>
                          </a:solidFill>
                          <a:latin typeface="Arial"/>
                        </a:rPr>
                        <a:t>NRP-17; NRP-05</a:t>
                      </a:r>
                      <a:r>
                        <a:rPr sz="1200" b="0" i="0">
                          <a:solidFill>
                            <a:srgbClr val="1B2333"/>
                          </a:solidFill>
                          <a:latin typeface="Arial"/>
                        </a:rPr>
                        <a:t>; NRP-23; </a:t>
                      </a:r>
                      <a:r>
                        <a:rPr sz="1200" b="1" i="0" u="sng">
                          <a:solidFill>
                            <a:srgbClr val="00376E"/>
                          </a:solidFill>
                          <a:latin typeface="Arial"/>
                        </a:rPr>
                        <a:t>Manual de Compras de Bienes y Servicios (RP-GA-M-001), Código de Gobierno Corporativo, Código de Conducta y demás normativa aplicable.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Se sustituye la NPB4-50, derogada por la NRP-42. Se amplía a servicios no tecnológicos y se definen los obligados.</a:t>
                      </a:r>
                    </a:p>
                    <a:p>
                      <a:r>
                        <a:rPr sz="1200" b="1" i="0">
                          <a:solidFill>
                            <a:srgbClr val="00376E"/>
                          </a:solidFill>
                          <a:latin typeface="Arial"/>
                        </a:rPr>
                        <a:t>NRP-42, art. 25 (derogatoria)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Términos que se modifican</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III. Definiciones (1 de 4)</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Tercerización de actividades: Es cuando la realización de una o más partes de la actividad principal del negocio, se delega a un tercero, quien asume las actividades por su cuenta y riesgo, y que además cuenta con sus propios recursos financieros, técnicos y materiales. En consecuencia, es responsable de los resultados de sus actividades, y del personal a su cargo.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Tercerización de servicios: Se produce cuando la entidad encarga la realización de un proceso a un tercero, es decir, a una persona natural o jurídica distinta a la entidad.</a:t>
                      </a:r>
                    </a:p>
                    <a:p>
                      <a:r>
                        <a:rPr sz="1200" b="1" i="0" u="sng">
                          <a:solidFill>
                            <a:srgbClr val="00376E"/>
                          </a:solidFill>
                          <a:latin typeface="Arial"/>
                        </a:rPr>
                        <a:t>Tercerización de actividades, operaciones o procesos de tecnologías de la información: Se produce cuando la entidad encarga la realización de actividades, operaciones o procesos de tecnologías de la información, relacionados a servicios o productos financieros de la entidad, a un tercero.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Se adoptan las definiciones literales de la normativa.</a:t>
                      </a:r>
                    </a:p>
                    <a:p>
                      <a:r>
                        <a:rPr sz="1200" b="1" i="0">
                          <a:solidFill>
                            <a:srgbClr val="00376E"/>
                          </a:solidFill>
                          <a:latin typeface="Arial"/>
                        </a:rPr>
                        <a:t>NRP-24, art. 3, lit. y · NRP-23, art. 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Servicio Críticos: Son un conjunto de actividades o procedimientos definidos como prioritarios, cuya no disponibilidad compromete la existencia de la entidad.</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Servicios críticos</a:t>
                      </a:r>
                      <a:r>
                        <a:rPr sz="1200" b="0" i="0">
                          <a:solidFill>
                            <a:srgbClr val="1B2333"/>
                          </a:solidFill>
                          <a:latin typeface="Arial"/>
                        </a:rPr>
                        <a:t>: Son </a:t>
                      </a:r>
                      <a:r>
                        <a:rPr sz="1200" b="1" i="0" u="sng">
                          <a:solidFill>
                            <a:srgbClr val="00376E"/>
                          </a:solidFill>
                          <a:latin typeface="Arial"/>
                        </a:rPr>
                        <a:t>los servicios y actividades prioritarios</a:t>
                      </a:r>
                      <a:r>
                        <a:rPr sz="1200" b="0" i="0">
                          <a:solidFill>
                            <a:srgbClr val="1B2333"/>
                          </a:solidFill>
                          <a:latin typeface="Arial"/>
                        </a:rPr>
                        <a:t> cuya no disponibilidad compromete la existencia de la entidad.</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Definición literal de la normativa.</a:t>
                      </a:r>
                    </a:p>
                    <a:p>
                      <a:r>
                        <a:rPr sz="1200" b="1" i="0">
                          <a:solidFill>
                            <a:srgbClr val="00376E"/>
                          </a:solidFill>
                          <a:latin typeface="Arial"/>
                        </a:rPr>
                        <a:t>NRP-23, art. 3 · NRP-24, art. 3, lit. v</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Procesos Críticos: Son los procesos dentro de la Cooperativa que se han definidos como prioritarios para la entrega de productos y servicios y la interrupción de los mismos detiene la continuidad del negocio.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Procesos críticos: Son los procesos </a:t>
                      </a:r>
                      <a:r>
                        <a:rPr sz="1200" b="1" i="0" u="sng">
                          <a:solidFill>
                            <a:srgbClr val="00376E"/>
                          </a:solidFill>
                          <a:latin typeface="Arial"/>
                        </a:rPr>
                        <a:t>de la Cooperativa identificados y priorizados como críticos en el Análisis de Impacto del Negocio (BIA)</a:t>
                      </a:r>
                      <a:r>
                        <a:rPr sz="1200" b="0" i="0">
                          <a:solidFill>
                            <a:srgbClr val="1B2333"/>
                          </a:solidFill>
                          <a:latin typeface="Arial"/>
                        </a:rPr>
                        <a:t>, relacionados con la entrega de productos o servicios críticos.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Se vincula al BIA del Sistema de Gestión de la Continuidad del Negocio.</a:t>
                      </a:r>
                    </a:p>
                    <a:p>
                      <a:r>
                        <a:rPr sz="1200" b="1" i="0">
                          <a:solidFill>
                            <a:srgbClr val="00376E"/>
                          </a:solidFill>
                          <a:latin typeface="Arial"/>
                        </a:rPr>
                        <a:t>NRP-24, arts. 6, lit. c y 13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Términos que se modifican</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III. Definiciones (2 de 4)</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Servicios Críticos Tercerizados: Es una persona natural o jurídica, a quien se delega operaciones de la actividad o giro principal de la Cooperativa, y la no disponibilidad interrumpe la prestación de productos y servicios.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Servicios Críticos Tercerizados: </a:t>
                      </a:r>
                      <a:r>
                        <a:rPr sz="1200" b="1" i="0" u="sng">
                          <a:solidFill>
                            <a:srgbClr val="00376E"/>
                          </a:solidFill>
                          <a:latin typeface="Arial"/>
                        </a:rPr>
                        <a:t>Son los servicios críticos brindados por terceros, es decir aquellos que puedan interrumpir el normal desarrollo de las operaciones de la Cooperativa, identificados conforme a los criterios del apartado V.</a:t>
                      </a:r>
                    </a:p>
                    <a:p>
                      <a:r>
                        <a:rPr sz="1200" b="1" i="0" u="sng">
                          <a:solidFill>
                            <a:srgbClr val="00376E"/>
                          </a:solidFill>
                          <a:latin typeface="Arial"/>
                        </a:rPr>
                        <a:t>Proveedor de Servicios Críticos Tercerizados: Persona natural o jurídica distinta a la Cooperativa a quien se encarga la prestación de un Servicio Crítico Tercerizado.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Corrige la V03, que definía el servicio como una persona. Se separa el servicio del proveedor.</a:t>
                      </a:r>
                    </a:p>
                    <a:p>
                      <a:r>
                        <a:rPr sz="1200" b="1" i="0">
                          <a:solidFill>
                            <a:srgbClr val="00376E"/>
                          </a:solidFill>
                          <a:latin typeface="Arial"/>
                        </a:rPr>
                        <a:t>NRP-42, art. 4 · NRP-24, art. 3, lit. y</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Servicio No Crítico Tercerizado: Es una persona natural o jurídica que brinda productos o servicios, pero que la no disponibilidad de los mismos, no detiene la continuidad del negocio de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Servicio No Crítico Tercerizado: Es </a:t>
                      </a:r>
                      <a:r>
                        <a:rPr sz="1200" b="1" i="0" u="sng">
                          <a:solidFill>
                            <a:srgbClr val="00376E"/>
                          </a:solidFill>
                          <a:latin typeface="Arial"/>
                        </a:rPr>
                        <a:t>el servicio prestado por un tercero</a:t>
                      </a:r>
                      <a:r>
                        <a:rPr sz="1200" b="0" i="0">
                          <a:solidFill>
                            <a:srgbClr val="1B2333"/>
                          </a:solidFill>
                          <a:latin typeface="Arial"/>
                        </a:rPr>
                        <a:t> cuya no disponibilidad no detiene la continuidad del negocio de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Misma corrección: se define el servicio, no la persona.</a:t>
                      </a:r>
                    </a:p>
                    <a:p>
                      <a:r>
                        <a:rPr sz="1200" b="1" i="0">
                          <a:solidFill>
                            <a:srgbClr val="00376E"/>
                          </a:solidFill>
                          <a:latin typeface="Arial"/>
                        </a:rPr>
                        <a:t>Coherencia con NRP-42, art. 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Riesgo operacional: Posibilidad de incurrir en pérdidas debido a fallas en los procesos, en las personas, en los sistemas de información y a causa de acontecimientos externos; incluye el riesgo legal.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Definición literal de la normativa.</a:t>
                      </a:r>
                    </a:p>
                    <a:p>
                      <a:r>
                        <a:rPr sz="1200" b="1" i="0">
                          <a:solidFill>
                            <a:srgbClr val="00376E"/>
                          </a:solidFill>
                          <a:latin typeface="Arial"/>
                        </a:rPr>
                        <a:t>NRP-20, art. 6, lit. d · NRP-42, art. 3, lit. p</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Factor de riesgo operacional: Es la causa primaria o el origen de un evento operacional: procesos, personas, tecnología de información y acontecimientos externos.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Definición literal de la normativa.</a:t>
                      </a:r>
                    </a:p>
                    <a:p>
                      <a:r>
                        <a:rPr sz="1200" b="1" i="0">
                          <a:solidFill>
                            <a:srgbClr val="00376E"/>
                          </a:solidFill>
                          <a:latin typeface="Arial"/>
                        </a:rPr>
                        <a:t>NRP-42, art. 3, lit. h</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Términos nuevos</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III. Definiciones (3 de 4)</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Tecnología de información (factor de riesgo operacional): Comprende los riesgos asociados a la tecnología de información, entre otros, los relacionados a fallas en la seguridad y continuidad operativa de los sistemas informáticos, los errores en su desarrollo e implementación, su compatibilidad e integración, la calidad de la información y una adecuada inversión en tecnología.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Nombre y definición de la normativa.</a:t>
                      </a:r>
                    </a:p>
                    <a:p>
                      <a:r>
                        <a:rPr sz="1200" b="1" i="0">
                          <a:solidFill>
                            <a:srgbClr val="00376E"/>
                          </a:solidFill>
                          <a:latin typeface="Arial"/>
                        </a:rPr>
                        <a:t>NRP-42, art. 8, lit. c</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Evento de riesgo operacional: Es un suceso o serie de sucesos, de origen interno o externo, que incluyen los incidentes ocurridos y eventos potenciales que pudieren generar pérdidas económicas.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Definición literal de la normativa.</a:t>
                      </a:r>
                    </a:p>
                    <a:p>
                      <a:r>
                        <a:rPr sz="1200" b="1" i="0">
                          <a:solidFill>
                            <a:srgbClr val="00376E"/>
                          </a:solidFill>
                          <a:latin typeface="Arial"/>
                        </a:rPr>
                        <a:t>NRP-42, art. 3, lit. g</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Riesgo de liquidez: Es la posibilidad de incurrir en pérdidas por no disponer de los recursos suficientes para cumplir con las obligaciones asumidas, incurrir en costos excesivos y no poder desarrollar el negocio en las condiciones previstas.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Definición literal de la normativa.</a:t>
                      </a:r>
                    </a:p>
                    <a:p>
                      <a:r>
                        <a:rPr sz="1200" b="1" i="0">
                          <a:solidFill>
                            <a:srgbClr val="00376E"/>
                          </a:solidFill>
                          <a:latin typeface="Arial"/>
                        </a:rPr>
                        <a:t>NRP-20, art. 6, lit. c</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Riesgo reputacional: Es la posibilidad de incurrir en pérdidas, producto del deterioro de imagen de la entidad, debido al incumplimiento de leyes, normas internas, códigos de gobierno corporativo, códigos de conducta, entre otros.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Definición literal de la normativa.</a:t>
                      </a:r>
                    </a:p>
                    <a:p>
                      <a:r>
                        <a:rPr sz="1200" b="1" i="0">
                          <a:solidFill>
                            <a:srgbClr val="00376E"/>
                          </a:solidFill>
                          <a:latin typeface="Arial"/>
                        </a:rPr>
                        <a:t>NRP-20, art. 6, lit. 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Términos nuevos</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III. Definiciones (4 de 4)</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Acuerdo de Niveles de Servicio (SLA): Compromisos medibles de calidad, disponibilidad, capacidad, tiempos de respuesta y de recuperación pactados con el proveedor, en condiciones normales y de contingencia tras una interrupción.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Permite medir el cumplimiento del proveedor.</a:t>
                      </a:r>
                    </a:p>
                    <a:p>
                      <a:r>
                        <a:rPr sz="1200" b="1" i="0">
                          <a:solidFill>
                            <a:srgbClr val="00376E"/>
                          </a:solidFill>
                          <a:latin typeface="Arial"/>
                        </a:rPr>
                        <a:t>NRP-23, Anexo 1, Secc. B, num. 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BIA, RTO, RPO y MTPD: Análisis de Impacto del Negocio; Tiempo Objetivo de Recuperación; Punto Objetivo de Recuperación; y Máximo Período Tolerable de Disrupción.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Parámetros de continuidad con su definición literal.</a:t>
                      </a:r>
                    </a:p>
                    <a:p>
                      <a:r>
                        <a:rPr sz="1200" b="1" i="0">
                          <a:solidFill>
                            <a:srgbClr val="00376E"/>
                          </a:solidFill>
                          <a:latin typeface="Arial"/>
                        </a:rPr>
                        <a:t>NRP-24, art. 3, lits. c, z, u y 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Apetito de riesgo y tolerancia al riesgo: nivel y tipos de riesgos que la entidad está dispuesta a asumir; y niveles de toma de riesgos aceptables para un objetivo específico o categoría de riesgo.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Definiciones literales de la normativa.</a:t>
                      </a:r>
                    </a:p>
                    <a:p>
                      <a:r>
                        <a:rPr sz="1200" b="1" i="0">
                          <a:solidFill>
                            <a:srgbClr val="00376E"/>
                          </a:solidFill>
                          <a:latin typeface="Arial"/>
                        </a:rPr>
                        <a:t>NRP-20, art. 3, lits. b y m</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Matriz Centralizada de Servicios Críticos Tercerizados: control centralizado con nombre del proveedor, tipo de servicio, monto del contrato, contraparte dentro de la Cooperativa y vigencia, a disposición de la Superintendencia.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Campos mínimos vigentes.</a:t>
                      </a:r>
                    </a:p>
                    <a:p>
                      <a:r>
                        <a:rPr sz="1200" b="1" i="0">
                          <a:solidFill>
                            <a:srgbClr val="00376E"/>
                          </a:solidFill>
                          <a:latin typeface="Arial"/>
                        </a:rPr>
                        <a:t>NRP-42, art. 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Órganos de gobierno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IV. Responsabilidades — Consejo de Administración y Comité de Riesgos</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20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Consejo b) Aprobar el apetito y la tolerancia al riesgo aplicables a la tercerización de servicios críticos, así como los límites de exposición, incluyendo la exposición por proveedor o grupo económico.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El Consejo fija los límites de exposición.</a:t>
                      </a:r>
                    </a:p>
                    <a:p>
                      <a:r>
                        <a:rPr sz="1200" b="1" i="0">
                          <a:solidFill>
                            <a:srgbClr val="00376E"/>
                          </a:solidFill>
                          <a:latin typeface="Arial"/>
                        </a:rPr>
                        <a:t>NRP-20, art. 8, lit. 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21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Consejo c) Conocer, al menos anualmente, el informe consolidado sobre los proveedores de servicios críticos tercerizados, su nivel de riesgo, concentración, cumplimiento de niveles de servicio y resultados de pruebas de continuidad.</a:t>
                      </a:r>
                    </a:p>
                    <a:p>
                      <a:r>
                        <a:rPr sz="1200" b="1" i="0" u="sng">
                          <a:solidFill>
                            <a:srgbClr val="00376E"/>
                          </a:solidFill>
                          <a:latin typeface="Arial"/>
                        </a:rPr>
                        <a:t>Consejo d) Aprobar las excepciones a la presente política, previa opinión del Comité de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Supervisión anual y control de excepciones.</a:t>
                      </a:r>
                    </a:p>
                    <a:p>
                      <a:r>
                        <a:rPr sz="1200" b="1" i="0">
                          <a:solidFill>
                            <a:srgbClr val="00376E"/>
                          </a:solidFill>
                          <a:latin typeface="Arial"/>
                        </a:rPr>
                        <a:t>NRP-20, art. 8, lits. a y f</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22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Comité de Administración de Riesgos: Evaluar, revisar y proponer al Consejo de Administración, la presente política y su actualización.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Comité de Riesgos</a:t>
                      </a:r>
                      <a:r>
                        <a:rPr sz="1200" b="0" i="0">
                          <a:solidFill>
                            <a:srgbClr val="1B2333"/>
                          </a:solidFill>
                          <a:latin typeface="Arial"/>
                        </a:rPr>
                        <a:t>: a) Evaluar, revisar y proponer al Consejo de Administración la presente política y su actualización.</a:t>
                      </a:r>
                    </a:p>
                    <a:p>
                      <a:r>
                        <a:rPr sz="1200" b="1" i="0" u="sng">
                          <a:solidFill>
                            <a:srgbClr val="00376E"/>
                          </a:solidFill>
                          <a:latin typeface="Arial"/>
                        </a:rPr>
                        <a:t>b) Evaluar, avalar y proponer los límites de tolerancia a la exposición, incluyendo la exposición por proveedor o grupo económico.</a:t>
                      </a:r>
                    </a:p>
                    <a:p>
                      <a:r>
                        <a:rPr sz="1200" b="1" i="0" u="sng">
                          <a:solidFill>
                            <a:srgbClr val="00376E"/>
                          </a:solidFill>
                          <a:latin typeface="Arial"/>
                        </a:rPr>
                        <a:t>c) Informar al Consejo sobre las exposiciones relevantes y desviaciones a los límites aprobados.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Nombre vigente del comité y funciones sobre límites.</a:t>
                      </a:r>
                    </a:p>
                    <a:p>
                      <a:r>
                        <a:rPr sz="1200" b="1" i="0">
                          <a:solidFill>
                            <a:srgbClr val="00376E"/>
                          </a:solidFill>
                          <a:latin typeface="Arial"/>
                        </a:rPr>
                        <a:t>NRP-20, art. 10, lits. c y 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Departamento de Administración de Riesgos</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IV. Responsabilidades — Jefe de Administración de Riesgos</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23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a) Diseñar y someter a la aprobación del Consejo de Administración a través del Comité de Administración de Riesgos, la presente Política y sus futuras actualizaciones.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a) Diseñar y someter a la aprobación del Consejo de Administración, a través del </a:t>
                      </a:r>
                      <a:r>
                        <a:rPr sz="1200" b="1" i="0" u="sng">
                          <a:solidFill>
                            <a:srgbClr val="00376E"/>
                          </a:solidFill>
                          <a:latin typeface="Arial"/>
                        </a:rPr>
                        <a:t>Comité de Riesgos</a:t>
                      </a:r>
                      <a:r>
                        <a:rPr sz="1200" b="0" i="0">
                          <a:solidFill>
                            <a:srgbClr val="1B2333"/>
                          </a:solidFill>
                          <a:latin typeface="Arial"/>
                        </a:rPr>
                        <a:t>, la presente Política y sus futuras actualizaciones.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Nombre vigente del comité.</a:t>
                      </a:r>
                    </a:p>
                    <a:p>
                      <a:r>
                        <a:rPr sz="1200" b="1" i="0">
                          <a:solidFill>
                            <a:srgbClr val="00376E"/>
                          </a:solidFill>
                          <a:latin typeface="Arial"/>
                        </a:rPr>
                        <a:t>NRP-20, art. 13, lit. c</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24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b) Coordinar con las áreas involucradas, la evaluación de criticidad de los nuevos proveedores de servicios críticos a contratar.</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b) Coordinar con las áreas involucradas la evaluación de criticidad de los nuevos proveedores de servicios críticos a contratar</a:t>
                      </a:r>
                      <a:r>
                        <a:rPr sz="1200" b="1" i="0" u="sng">
                          <a:solidFill>
                            <a:srgbClr val="00376E"/>
                          </a:solidFill>
                          <a:latin typeface="Arial"/>
                        </a:rPr>
                        <a:t>, así como su reevaluación anual o ante cambios significativos en el servicio o en el proveedor.</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La evaluación no termina con la contratación.</a:t>
                      </a:r>
                    </a:p>
                    <a:p>
                      <a:r>
                        <a:rPr sz="1200" b="1" i="0">
                          <a:solidFill>
                            <a:srgbClr val="00376E"/>
                          </a:solidFill>
                          <a:latin typeface="Arial"/>
                        </a:rPr>
                        <a:t>NRP-23, Anexo 1, Secc. A, num. 3, lit. c</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25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d) Elaborar la evaluación de riesgos previa a la contratación: riesgos operacionales (incluyendo tecnológicos y legales), reputacionales y financieros; concentración de entidades financieras en el proveedor; riesgo de liquidez y continuidad del negocio, proponiendo los mecanismos de mitigación.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Contenido mínimo de la evaluación.</a:t>
                      </a:r>
                    </a:p>
                    <a:p>
                      <a:r>
                        <a:rPr sz="1200" b="1" i="0">
                          <a:solidFill>
                            <a:srgbClr val="00376E"/>
                          </a:solidFill>
                          <a:latin typeface="Arial"/>
                        </a:rPr>
                        <a:t>NRP-23, Anexo 1, Secc. A, num. 1 y 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26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e) Mantener actualizado el análisis de concentración de proveedores y reportar al Comité de Riesgos las exposiciones que superen los límites aprobados.</a:t>
                      </a:r>
                    </a:p>
                    <a:p>
                      <a:r>
                        <a:rPr sz="1200" b="1" i="0" u="sng">
                          <a:solidFill>
                            <a:srgbClr val="00376E"/>
                          </a:solidFill>
                          <a:latin typeface="Arial"/>
                        </a:rPr>
                        <a:t>f) Registrar en la base de datos de eventos de riesgo operacional las pérdidas e incidentes originados en proveedores.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Seguimiento de límites y registro de eventos.</a:t>
                      </a:r>
                    </a:p>
                    <a:p>
                      <a:r>
                        <a:rPr sz="1200" b="1" i="0">
                          <a:solidFill>
                            <a:srgbClr val="00376E"/>
                          </a:solidFill>
                          <a:latin typeface="Arial"/>
                        </a:rPr>
                        <a:t>NRP-20, art. 13, lit. h · NRP-42, art. 19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Áreas que intervienen en la contratación</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IV. Responsabilidades — Administrador de Contrato, Legal y OSI</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27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 Solicitar al Departamento de Administración de Riesgos y a la Oficialía de Seguridad de la Información, previo a la contratación…, una evaluación de los potenciales riesgos…, de acuerdo a lo establecido en las Normas Técnicas correspondientes.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 Solicitar al Departamento de Administración de Riesgos y a la Oficialía de Seguridad de la Información… una evaluación de los potenciales riesgos…, de acuerdo a lo establecido en las Normas Técnicas correspondientes </a:t>
                      </a:r>
                      <a:r>
                        <a:rPr sz="1200" b="1" i="0" u="sng">
                          <a:solidFill>
                            <a:srgbClr val="00376E"/>
                          </a:solidFill>
                          <a:latin typeface="Arial"/>
                        </a:rPr>
                        <a:t>(NRP-20, NRP-42, NRP-24, NRP-23 y NRP-05).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Se identifican las normas aplicables.</a:t>
                      </a:r>
                    </a:p>
                    <a:p>
                      <a:r>
                        <a:rPr sz="1200" b="1" i="0">
                          <a:solidFill>
                            <a:srgbClr val="00376E"/>
                          </a:solidFill>
                          <a:latin typeface="Arial"/>
                        </a:rPr>
                        <a:t>NRP-20 · 42 · 24 · 23 · 05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28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Administrador de Contrato f) Reportar al Departamento de Administración de Riesgos todo evento de riesgo operacional, incidente, interrupción, incumplimiento o pérdida originada en el proveedor, dentro de los plazos de la normativa interna.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Alimenta la base de datos de eventos.</a:t>
                      </a:r>
                    </a:p>
                    <a:p>
                      <a:r>
                        <a:rPr sz="1200" b="1" i="0">
                          <a:solidFill>
                            <a:srgbClr val="00376E"/>
                          </a:solidFill>
                          <a:latin typeface="Arial"/>
                        </a:rPr>
                        <a:t>NRP-42, arts. 8, lit. d y 19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29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Jefe del Departamento Jurídico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Jefe del Departamento </a:t>
                      </a:r>
                      <a:r>
                        <a:rPr sz="1200" b="1" i="0" u="sng">
                          <a:solidFill>
                            <a:srgbClr val="00376E"/>
                          </a:solidFill>
                          <a:latin typeface="Arial"/>
                        </a:rPr>
                        <a:t>Legal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Nombre vigente del departamento.</a:t>
                      </a:r>
                    </a:p>
                    <a:p>
                      <a:r>
                        <a:rPr sz="1200" b="1" i="0">
                          <a:solidFill>
                            <a:srgbClr val="00376E"/>
                          </a:solidFill>
                          <a:latin typeface="Arial"/>
                        </a:rPr>
                        <a:t>Estructura organizativa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30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b) Solicitar al Oficial de Seguridad de la Información las cláusulas del contrato que debe cumplir el servicio de acuerdo al anexo No. 1 Condiciones para tercerizar Actividades u Operaciones de Tecnología de Servicios Críticos.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b) Solicitar al Oficial de Seguridad de la Información las cláusulas del contrato que debe cumplir el servicio de acuerdo al Anexo No. 1, </a:t>
                      </a:r>
                      <a:r>
                        <a:rPr sz="1200" b="1" i="0" u="sng">
                          <a:solidFill>
                            <a:srgbClr val="00376E"/>
                          </a:solidFill>
                          <a:latin typeface="Arial"/>
                        </a:rPr>
                        <a:t>Sección B.</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Precisa la sección de cláusulas contractuales.</a:t>
                      </a:r>
                    </a:p>
                    <a:p>
                      <a:r>
                        <a:rPr sz="1200" b="1" i="0">
                          <a:solidFill>
                            <a:srgbClr val="00376E"/>
                          </a:solidFill>
                          <a:latin typeface="Arial"/>
                        </a:rPr>
                        <a:t>NRP-23, art. 26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Resguardo y control documental</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IV. Responsabilidades — Custodia de Valores y Servicios Generales</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89611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31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Custodia: Responsable de resguardar los contratos, garantías y adendas de Servicios Críticos Tercerizados, así como, llevar el control de los resguardos respectivos.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Responsable de resguardar los contratos </a:t>
                      </a:r>
                      <a:r>
                        <a:rPr sz="1200" b="1" i="0" u="sng">
                          <a:solidFill>
                            <a:srgbClr val="00376E"/>
                          </a:solidFill>
                          <a:latin typeface="Arial"/>
                        </a:rPr>
                        <a:t>originales</a:t>
                      </a:r>
                      <a:r>
                        <a:rPr sz="1200" b="0" i="0">
                          <a:solidFill>
                            <a:srgbClr val="1B2333"/>
                          </a:solidFill>
                          <a:latin typeface="Arial"/>
                        </a:rPr>
                        <a:t>, garantías y adendas…, </a:t>
                      </a:r>
                      <a:r>
                        <a:rPr sz="1200" b="1" i="0" u="sng">
                          <a:solidFill>
                            <a:srgbClr val="00376E"/>
                          </a:solidFill>
                          <a:latin typeface="Arial"/>
                        </a:rPr>
                        <a:t>asegurando su conservación ordenada, completa, íntegra y oportuna. Para ello deberá: a) registrar cada documento recibido (fecha, proveedor, número y vigencia del contrato y garantía); b) informar por escrito, con 30 días de anticipación, el vencimiento de contratos y garantías; c) mantener los documentos a disposición de la Superintendencia, Auditoría Interna y auditores externos; d) entregar originales solo con autorización escrita y registro de salida y devolución.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Obligaciones concretas y verificables.</a:t>
                      </a:r>
                    </a:p>
                    <a:p>
                      <a:r>
                        <a:rPr sz="1200" b="1" i="0">
                          <a:solidFill>
                            <a:srgbClr val="00376E"/>
                          </a:solidFill>
                          <a:latin typeface="Arial"/>
                        </a:rPr>
                        <a:t>NRP-42, arts. 4 y 5 · NRP-23, Anexo 1, A-5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32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Servicios Generales a) Responsable de completar y actualizar la “Matriz Centralizada de Servicios Críticos Tercerizados” con los campos definidos en las Normas para la Gestión del Riesgo Operacional (NPB4-50).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 Responsable de completar y actualizar la “Matriz Centralizada de Servicios Críticos Tercerizados” con los campos definidos en las </a:t>
                      </a:r>
                      <a:r>
                        <a:rPr sz="1200" b="1" i="0" u="sng">
                          <a:solidFill>
                            <a:srgbClr val="00376E"/>
                          </a:solidFill>
                          <a:latin typeface="Arial"/>
                        </a:rPr>
                        <a:t>Normas Técnicas para la Gestión del Riesgo Operacional de las Entidades Financieras (NRP-42): nombre del proveedor, tipo de servicio, monto del contrato, contraparte dentro de la Cooperativa y vigencia.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NPB4-50 derogada; se detallan los campos mínimos vigentes.</a:t>
                      </a:r>
                    </a:p>
                    <a:p>
                      <a:r>
                        <a:rPr sz="1200" b="1" i="0">
                          <a:solidFill>
                            <a:srgbClr val="00376E"/>
                          </a:solidFill>
                          <a:latin typeface="Arial"/>
                        </a:rPr>
                        <a:t>NRP-42, arts. 4 y 25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Cuadro de clasificación</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V. Criterios para identificar Servicios Críticos Tercerizados (1 de 2)</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33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Un Servicio Tercerizado… puede identificarse… como los servicios que detengan la continuidad del negocio y cumplan alguno de los siguientes criterios: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Un Servicio </a:t>
                      </a:r>
                      <a:r>
                        <a:rPr sz="1200" b="1" i="0" u="sng">
                          <a:solidFill>
                            <a:srgbClr val="00376E"/>
                          </a:solidFill>
                          <a:latin typeface="Arial"/>
                        </a:rPr>
                        <a:t>Crítico</a:t>
                      </a:r>
                      <a:r>
                        <a:rPr sz="1200" b="0" i="0">
                          <a:solidFill>
                            <a:srgbClr val="1B2333"/>
                          </a:solidFill>
                          <a:latin typeface="Arial"/>
                        </a:rPr>
                        <a:t> Tercerizado… puede identificarse… como los servicios que detengan la continuidad del negocio</a:t>
                      </a:r>
                      <a:r>
                        <a:rPr sz="1200" b="1" i="0" u="sng">
                          <a:solidFill>
                            <a:srgbClr val="00376E"/>
                          </a:solidFill>
                          <a:latin typeface="Arial"/>
                        </a:rPr>
                        <a:t>, afecten la posición de liquidez o comprometan el cumplimiento regulatorio,</a:t>
                      </a:r>
                      <a:r>
                        <a:rPr sz="1200" b="0" i="0">
                          <a:solidFill>
                            <a:srgbClr val="1B2333"/>
                          </a:solidFill>
                          <a:latin typeface="Arial"/>
                        </a:rPr>
                        <a:t> y cumplan alguno de los siguientes criterios: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Amplía el concepto de criticidad.</a:t>
                      </a:r>
                    </a:p>
                    <a:p>
                      <a:r>
                        <a:rPr sz="1200" b="1" i="0">
                          <a:solidFill>
                            <a:srgbClr val="00376E"/>
                          </a:solidFill>
                          <a:latin typeface="Arial"/>
                        </a:rPr>
                        <a:t>NRP-42, art. 4 · NRP-05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34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Las demoras o incidentes del proveedor del servicio interrumpen totalmente la operatividad de los procesos críticos.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Las demoras o incidentes del proveedor interrumpen </a:t>
                      </a:r>
                      <a:r>
                        <a:rPr sz="1200" b="1" i="0" u="sng">
                          <a:solidFill>
                            <a:srgbClr val="00376E"/>
                          </a:solidFill>
                          <a:latin typeface="Arial"/>
                        </a:rPr>
                        <a:t>total o parcialmente</a:t>
                      </a:r>
                      <a:r>
                        <a:rPr sz="1200" b="0" i="0">
                          <a:solidFill>
                            <a:srgbClr val="1B2333"/>
                          </a:solidFill>
                          <a:latin typeface="Arial"/>
                        </a:rPr>
                        <a:t> la operatividad de los procesos críticos</a:t>
                      </a:r>
                      <a:r>
                        <a:rPr sz="1200" b="1" i="0" u="sng">
                          <a:solidFill>
                            <a:srgbClr val="00376E"/>
                          </a:solidFill>
                          <a:latin typeface="Arial"/>
                        </a:rPr>
                        <a:t>, por encima del Máximo Período Tolerable de Disrupción (MTPD) definido en el BIA.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Criterio medible con el BIA.</a:t>
                      </a:r>
                    </a:p>
                    <a:p>
                      <a:r>
                        <a:rPr sz="1200" b="1" i="0">
                          <a:solidFill>
                            <a:srgbClr val="00376E"/>
                          </a:solidFill>
                          <a:latin typeface="Arial"/>
                        </a:rPr>
                        <a:t>NRP-24, arts. 3, lit. n y 13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35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Puede generar pérdidas significativas.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Puede generar pérdidas significativas</a:t>
                      </a:r>
                      <a:r>
                        <a:rPr sz="1200" b="1" i="0" u="sng">
                          <a:solidFill>
                            <a:srgbClr val="00376E"/>
                          </a:solidFill>
                          <a:latin typeface="Arial"/>
                        </a:rPr>
                        <a:t>, conforme a los umbrales de severidad de la metodología de riesgo operacional.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Se vincula a la metodología.</a:t>
                      </a:r>
                    </a:p>
                    <a:p>
                      <a:r>
                        <a:rPr sz="1200" b="1" i="0">
                          <a:solidFill>
                            <a:srgbClr val="00376E"/>
                          </a:solidFill>
                          <a:latin typeface="Arial"/>
                        </a:rPr>
                        <a:t>NRP-42, art. 16, lit. b</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36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El cambio de proveedor del servicio implica grandes costos para la Cooperativa o no existe otro proveedor.</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El cambio de proveedor implica grandes costos para la Cooperativa o no existe otro proveedor</a:t>
                      </a:r>
                      <a:r>
                        <a:rPr sz="1200" b="1" i="0" u="sng">
                          <a:solidFill>
                            <a:srgbClr val="00376E"/>
                          </a:solidFill>
                          <a:latin typeface="Arial"/>
                        </a:rPr>
                        <a:t>, o el tiempo de sustitución es superior al RTO del proceso.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Criterio medible con el RTO.</a:t>
                      </a:r>
                    </a:p>
                    <a:p>
                      <a:r>
                        <a:rPr sz="1200" b="1" i="0">
                          <a:solidFill>
                            <a:srgbClr val="00376E"/>
                          </a:solidFill>
                          <a:latin typeface="Arial"/>
                        </a:rPr>
                        <a:t>NRP-24, art. 3, lit. z</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Criterios nuevos y clasificación</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V. Criterios para identificar Servicios Críticos Tercerizados (2 de 2)</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37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Tecnología de información: el proveedor procesa, almacena o transmite información confidencial de asociados, o tiene acceso a los sistemas principales, bases de datos o infraestructura tecnológica.</a:t>
                      </a:r>
                    </a:p>
                    <a:p>
                      <a:r>
                        <a:rPr sz="1200" b="1" i="0" u="sng">
                          <a:solidFill>
                            <a:srgbClr val="00376E"/>
                          </a:solidFill>
                          <a:latin typeface="Arial"/>
                        </a:rPr>
                        <a:t>Concentración en el proveedor: presta más de un servicio crítico o concentra servicios a varias entidades financieras, o recibe anticipos expuestos a su solidez financiera.</a:t>
                      </a:r>
                    </a:p>
                    <a:p>
                      <a:r>
                        <a:rPr sz="1200" b="1" i="0" u="sng">
                          <a:solidFill>
                            <a:srgbClr val="00376E"/>
                          </a:solidFill>
                          <a:latin typeface="Arial"/>
                        </a:rPr>
                        <a:t>Riesgo de liquidez: el servicio soporta canales de pago, transferencias, compensación, tarjetas, tesorería o captación de fondos.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Tres criterios nuevos de criticidad.</a:t>
                      </a:r>
                    </a:p>
                    <a:p>
                      <a:r>
                        <a:rPr sz="1200" b="1" i="0">
                          <a:solidFill>
                            <a:srgbClr val="00376E"/>
                          </a:solidFill>
                          <a:latin typeface="Arial"/>
                        </a:rPr>
                        <a:t>NRP-42, art. 8, lit. c · NRP-23, Anexo 1, A-1 · NRP-05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38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 través del formulario “Entrevista para elaborar el Análisis de Servicios Críticos Tercerizados” RP-GG-F-213.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 través del formulario … RP-GG-F-213</a:t>
                      </a:r>
                      <a:r>
                        <a:rPr sz="1200" b="1" i="0" u="sng">
                          <a:solidFill>
                            <a:srgbClr val="00376E"/>
                          </a:solidFill>
                          <a:latin typeface="Arial"/>
                        </a:rPr>
                        <a:t>, considerando los criterios establecidos en el cuadro anterior.</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El formulario aplica los criterios nuevos.</a:t>
                      </a:r>
                    </a:p>
                    <a:p>
                      <a:r>
                        <a:rPr sz="1200" b="1" i="0">
                          <a:solidFill>
                            <a:srgbClr val="00376E"/>
                          </a:solidFill>
                          <a:latin typeface="Arial"/>
                        </a:rPr>
                        <a:t>Formulario interno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39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El resultado de la evaluación clasificará el servicio en nivel de criticidad Alto, Medio o Bajo, para determinar la profundidad de la debida diligencia y la frecuencia de monitoreo. La criticidad deberá reevaluarse anualmente y ante cambios significativos en el servicio, el proveedor o los procesos críticos.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Monitoreo proporcional al riesgo.</a:t>
                      </a:r>
                    </a:p>
                    <a:p>
                      <a:r>
                        <a:rPr sz="1200" b="1" i="0">
                          <a:solidFill>
                            <a:srgbClr val="00376E"/>
                          </a:solidFill>
                          <a:latin typeface="Arial"/>
                        </a:rPr>
                        <a:t>NRP-23, Anexo 1, A-3, lit. c · NRP-24, art. 21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Sustitución o adquisición de sistemas informáticos</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VI. Requerimientos normativos para tecnología de la información</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89611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40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Cuando cada Gerente y/o Jefatura… determinen la necesidad de efectuar sustituciones o reemplazos de sistemas informáticos principales… o la adquisición de sistemas informáticos para nuevas operaciones… deberán presentar al Consejo de Administración, la siguiente información: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Cuando cada Gerente y/o Jefatura… determine la necesidad de efectuar sustituciones, reemplazos </a:t>
                      </a:r>
                      <a:r>
                        <a:rPr sz="1200" b="1" i="0" u="sng">
                          <a:solidFill>
                            <a:srgbClr val="00376E"/>
                          </a:solidFill>
                          <a:latin typeface="Arial"/>
                        </a:rPr>
                        <a:t>o cambios importantes</a:t>
                      </a:r>
                      <a:r>
                        <a:rPr sz="1200" b="0" i="0">
                          <a:solidFill>
                            <a:srgbClr val="1B2333"/>
                          </a:solidFill>
                          <a:latin typeface="Arial"/>
                        </a:rPr>
                        <a:t> de sistemas informáticos principales… o la adquisición de </a:t>
                      </a:r>
                      <a:r>
                        <a:rPr sz="1200" b="1" i="0" u="sng">
                          <a:solidFill>
                            <a:srgbClr val="00376E"/>
                          </a:solidFill>
                          <a:latin typeface="Arial"/>
                        </a:rPr>
                        <a:t>infraestructura y/o</a:t>
                      </a:r>
                      <a:r>
                        <a:rPr sz="1200" b="0" i="0">
                          <a:solidFill>
                            <a:srgbClr val="1B2333"/>
                          </a:solidFill>
                          <a:latin typeface="Arial"/>
                        </a:rPr>
                        <a:t> sistemas informáticos… deberán presentar al Consejo de Administración la siguiente información, </a:t>
                      </a:r>
                      <a:r>
                        <a:rPr sz="1200" b="1" i="0" u="sng">
                          <a:solidFill>
                            <a:srgbClr val="00376E"/>
                          </a:solidFill>
                          <a:latin typeface="Arial"/>
                        </a:rPr>
                        <a:t>quien resolverá dejando constancia de su decisión en el Acta de Sesión correspondiente.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Alineado a la reforma 2025 de la NRP-23.</a:t>
                      </a:r>
                    </a:p>
                    <a:p>
                      <a:r>
                        <a:rPr sz="1200" b="1" i="0">
                          <a:solidFill>
                            <a:srgbClr val="00376E"/>
                          </a:solidFill>
                          <a:latin typeface="Arial"/>
                        </a:rPr>
                        <a:t>NRP-23, art. 22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41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La información deberá remitirse a la Superintendencia con quince días hábiles de anticipación a la puesta en producción; las condiciones del Anexo No. 1 se documentarán en un informe con cronograma de actividades (plazos, responsables e hitos), remitido también con quince días hábiles de anticipación.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Obligación de reporte a la Superintendencia.</a:t>
                      </a:r>
                    </a:p>
                    <a:p>
                      <a:r>
                        <a:rPr sz="1200" b="1" i="0">
                          <a:solidFill>
                            <a:srgbClr val="00376E"/>
                          </a:solidFill>
                          <a:latin typeface="Arial"/>
                        </a:rPr>
                        <a:t>NRP-23, arts. 22 y 26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Contenido mínimo de la evaluación y monitoreo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VII. Evaluación de los proveedores de Servicios Críticos Tercerizados</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89611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42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Cuando se requiera adquisición de productos o servicios críticos tercerizados, el área solicitante deberá requerir al Departamento de Administración de Riesgos, una evaluación de los potenciales riesgos de los servicios a contratar.</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…deberá requerir al Departamento de Administración de Riesgos una evaluación de los potenciales riesgos de los servicios a contratar</a:t>
                      </a:r>
                      <a:r>
                        <a:rPr sz="1200" b="1" i="0" u="sng">
                          <a:solidFill>
                            <a:srgbClr val="00376E"/>
                          </a:solidFill>
                          <a:latin typeface="Arial"/>
                        </a:rPr>
                        <a:t>, la cual comprenderá como mínimo: riesgo operacional; tecnología de información; concentración en el proveedor; solidez financiera del proveedor; riesgo de liquidez; continuidad del negocio; y riesgo legal y reputacional.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Contenido mínimo de la evaluación de riesgos.</a:t>
                      </a:r>
                    </a:p>
                    <a:p>
                      <a:r>
                        <a:rPr sz="1200" b="1" i="0">
                          <a:solidFill>
                            <a:srgbClr val="00376E"/>
                          </a:solidFill>
                          <a:latin typeface="Arial"/>
                        </a:rPr>
                        <a:t>NRP-23, Anexo 1, A-1 a A-3 · NRP-42 · NRP-05 · NRP-24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43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Monitoreo: El Departamento de Administración de Riesgos reevaluará semestralmente a los proveedores de criticidad Alta y anualmente a los de criticidad Media y Baja, considerando la debida diligencia (documentada y revisada anualmente), el cumplimiento de los SLA, los eventos registrados y las pruebas de continuidad y de seguridad. Los resultados se informarán al Comité de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Seguimiento posterior a la contratación.</a:t>
                      </a:r>
                    </a:p>
                    <a:p>
                      <a:r>
                        <a:rPr sz="1200" b="1" i="0">
                          <a:solidFill>
                            <a:srgbClr val="00376E"/>
                          </a:solidFill>
                          <a:latin typeface="Arial"/>
                        </a:rPr>
                        <a:t>NRP-23, Anexo 1, Secc. A, num. 3, lit. c</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Continuidad y gestión de eventos</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VIII. Continuidad · XI. Eventos de riesgo operacional</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44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…en la formalización del contrato, deberán presentar una declaración jurada, que indique que cuentan con un programa o gestión de la seguridad de la información, planes de continuidad del negocio…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…en la formalización del contrato, </a:t>
                      </a:r>
                      <a:r>
                        <a:rPr sz="1200" b="1" i="0" u="sng">
                          <a:solidFill>
                            <a:srgbClr val="00376E"/>
                          </a:solidFill>
                          <a:latin typeface="Arial"/>
                        </a:rPr>
                        <a:t>los proveedores</a:t>
                      </a:r>
                      <a:r>
                        <a:rPr sz="1200" b="0" i="0">
                          <a:solidFill>
                            <a:srgbClr val="1B2333"/>
                          </a:solidFill>
                          <a:latin typeface="Arial"/>
                        </a:rPr>
                        <a:t> deberán presentar una declaración jurada </a:t>
                      </a:r>
                      <a:r>
                        <a:rPr sz="1200" b="1" i="0" u="sng">
                          <a:solidFill>
                            <a:srgbClr val="00376E"/>
                          </a:solidFill>
                          <a:latin typeface="Arial"/>
                        </a:rPr>
                        <a:t>o certificación vigente</a:t>
                      </a:r>
                      <a:r>
                        <a:rPr sz="1200" b="0" i="0">
                          <a:solidFill>
                            <a:srgbClr val="1B2333"/>
                          </a:solidFill>
                          <a:latin typeface="Arial"/>
                        </a:rPr>
                        <a:t> que indique que cuentan con un programa o gestión de la seguridad de la información, planes de continuidad del negocio…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Acepta certificación vigente como evidencia.</a:t>
                      </a:r>
                    </a:p>
                    <a:p>
                      <a:r>
                        <a:rPr sz="1200" b="1" i="0">
                          <a:solidFill>
                            <a:srgbClr val="00376E"/>
                          </a:solidFill>
                          <a:latin typeface="Arial"/>
                        </a:rPr>
                        <a:t>NRP-23, Anexo 1, A-6 · NRP-24, art. 20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45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XI. Gestión de eventos: Todo evento de riesgo operacional originado en un proveedor de servicios críticos tercerizados deberá ser reportado por el Administrador de Contrato al Departamento de Administración de Riesgos, para su registro, análisis de causa raíz y seguimiento de planes de acción.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Apartado nuevo.</a:t>
                      </a:r>
                    </a:p>
                    <a:p>
                      <a:r>
                        <a:rPr sz="1200" b="1" i="0">
                          <a:solidFill>
                            <a:srgbClr val="00376E"/>
                          </a:solidFill>
                          <a:latin typeface="Arial"/>
                        </a:rPr>
                        <a:t>NRP-42, arts. 8, lit. d y 19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46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Cuando el evento afecte de forma masiva cualquier producto financiero, deberá reportarse a la Superintendencia en el momento de su ocurrencia, por medio del responsable designado por 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Reporte inmediato al supervisor.</a:t>
                      </a:r>
                    </a:p>
                    <a:p>
                      <a:r>
                        <a:rPr sz="1200" b="1" i="0">
                          <a:solidFill>
                            <a:srgbClr val="00376E"/>
                          </a:solidFill>
                          <a:latin typeface="Arial"/>
                        </a:rPr>
                        <a:t>NRP-42, arts. 11, lit. d y 21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Disposiciones finales</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XII. Actualización · XIII. Aprobación · XV. Disposición final</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47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Con el objetivo de mantener actualizada la presente política se revisará y actualizará cuando existan modificaciones en la normativa interna y externa aplicables a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…se revisará </a:t>
                      </a:r>
                      <a:r>
                        <a:rPr sz="1200" b="1" i="0" u="sng">
                          <a:solidFill>
                            <a:srgbClr val="00376E"/>
                          </a:solidFill>
                          <a:latin typeface="Arial"/>
                        </a:rPr>
                        <a:t>al menos una vez al año</a:t>
                      </a:r>
                      <a:r>
                        <a:rPr sz="1200" b="0" i="0">
                          <a:solidFill>
                            <a:srgbClr val="1B2333"/>
                          </a:solidFill>
                          <a:latin typeface="Arial"/>
                        </a:rPr>
                        <a:t> y se actualizará cuando existan modificaciones en la normativa interna y externa aplicable a la Cooperativa</a:t>
                      </a:r>
                      <a:r>
                        <a:rPr sz="1200" b="1" i="0" u="sng">
                          <a:solidFill>
                            <a:srgbClr val="00376E"/>
                          </a:solidFill>
                          <a:latin typeface="Arial"/>
                        </a:rPr>
                        <a:t>, cambios significativos en el perfil de riesgo de tercerización, o a requerimiento de la Superintendencia, del Comité de Riesgos o de Auditoría Interna.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Revisión periódica obligatoria.</a:t>
                      </a:r>
                    </a:p>
                    <a:p>
                      <a:r>
                        <a:rPr sz="1200" b="1" i="0">
                          <a:solidFill>
                            <a:srgbClr val="00376E"/>
                          </a:solidFill>
                          <a:latin typeface="Arial"/>
                        </a:rPr>
                        <a:t>NRP-20, art. 8 (máximo 2 años)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48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…para someterlo a validación del Comité de Administración de Riesgos y posterior aprobación del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…para someterla a validación del </a:t>
                      </a:r>
                      <a:r>
                        <a:rPr sz="1200" b="1" i="0" u="sng">
                          <a:solidFill>
                            <a:srgbClr val="00376E"/>
                          </a:solidFill>
                          <a:latin typeface="Arial"/>
                        </a:rPr>
                        <a:t>Comité de Riesgos</a:t>
                      </a:r>
                      <a:r>
                        <a:rPr sz="1200" b="0" i="0">
                          <a:solidFill>
                            <a:srgbClr val="1B2333"/>
                          </a:solidFill>
                          <a:latin typeface="Arial"/>
                        </a:rPr>
                        <a:t> y posterior aprobación del Consejo de Administración. </a:t>
                      </a:r>
                      <a:r>
                        <a:rPr sz="1200" b="1" i="0" u="sng">
                          <a:solidFill>
                            <a:srgbClr val="00376E"/>
                          </a:solidFill>
                          <a:latin typeface="Arial"/>
                        </a:rPr>
                        <a:t>Una vez aprobada, deberá remitirse a la Superintendencia dentro de los diez días hábiles siguientes a su aprobación.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Remisión obligatoria al supervisor.</a:t>
                      </a:r>
                    </a:p>
                    <a:p>
                      <a:r>
                        <a:rPr sz="1200" b="1" i="0">
                          <a:solidFill>
                            <a:srgbClr val="00376E"/>
                          </a:solidFill>
                          <a:latin typeface="Arial"/>
                        </a:rPr>
                        <a:t>NRP-20, art. 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49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Lo no contemplado en la presente política, deberá ser resuelto por 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Lo no contemplado en la presente política deberá ser resuelto por el Consejo de Administración</a:t>
                      </a:r>
                      <a:r>
                        <a:rPr sz="1200" b="1" i="0" u="sng">
                          <a:solidFill>
                            <a:srgbClr val="00376E"/>
                          </a:solidFill>
                          <a:latin typeface="Arial"/>
                        </a:rPr>
                        <a:t>, previa opinión del Comité de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Opinión técnica previa del comité.</a:t>
                      </a:r>
                    </a:p>
                    <a:p>
                      <a:r>
                        <a:rPr sz="1200" b="1" i="0">
                          <a:solidFill>
                            <a:srgbClr val="00376E"/>
                          </a:solidFill>
                          <a:latin typeface="Arial"/>
                        </a:rPr>
                        <a:t>NRP-20, art. 10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Requisitos previos a la contratación</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Anexo 1 — Sección A: Información y documentos para contratar</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50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Título: Condiciones para tercerizar Actividades u Operaciones de Tecnología de Servicios Críticos.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Condiciones para tercerizar Actividades u Operaciones de Tecnología de </a:t>
                      </a:r>
                      <a:r>
                        <a:rPr sz="1200" b="1" i="0" u="sng">
                          <a:solidFill>
                            <a:srgbClr val="00376E"/>
                          </a:solidFill>
                          <a:latin typeface="Arial"/>
                        </a:rPr>
                        <a:t>la Información relacionadas a productos y servicios financieros.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Nombre de la normativa.</a:t>
                      </a:r>
                    </a:p>
                    <a:p>
                      <a:r>
                        <a:rPr sz="1200" b="1" i="0">
                          <a:solidFill>
                            <a:srgbClr val="00376E"/>
                          </a:solidFill>
                          <a:latin typeface="Arial"/>
                        </a:rPr>
                        <a:t>NRP-23, Anexo No. 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51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1. Realizar una evaluación de riesgos… Evaluar riesgos derivados de la capacidad del proveedor respecto a la concentración de instituciones con el proveedor.</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1. Realizar una evaluación </a:t>
                      </a:r>
                      <a:r>
                        <a:rPr sz="1200" b="1" i="0" u="sng">
                          <a:solidFill>
                            <a:srgbClr val="00376E"/>
                          </a:solidFill>
                          <a:latin typeface="Arial"/>
                        </a:rPr>
                        <a:t>integral</a:t>
                      </a:r>
                      <a:r>
                        <a:rPr sz="1200" b="0" i="0">
                          <a:solidFill>
                            <a:srgbClr val="1B2333"/>
                          </a:solidFill>
                          <a:latin typeface="Arial"/>
                        </a:rPr>
                        <a:t> de riesgos… </a:t>
                      </a:r>
                      <a:r>
                        <a:rPr sz="1200" b="1" i="0" u="sng">
                          <a:solidFill>
                            <a:srgbClr val="00376E"/>
                          </a:solidFill>
                          <a:latin typeface="Arial"/>
                        </a:rPr>
                        <a:t>considerando los riesgos operacionales (incluyendo tecnológicos y legales), reputacionales y financieros, la continuidad del negocio y el riesgo de liquidez; la concentración de entidades financieras en el proveedor y de la propia Cooperativa, con acciones a realizar si el proveedor falla.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Texto completo de la norma.</a:t>
                      </a:r>
                    </a:p>
                    <a:p>
                      <a:r>
                        <a:rPr sz="1200" b="1" i="0">
                          <a:solidFill>
                            <a:srgbClr val="00376E"/>
                          </a:solidFill>
                          <a:latin typeface="Arial"/>
                        </a:rPr>
                        <a:t>NRP-23, Anexo 1, Secc. A, num. 1 y 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52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3. Denominación o Razón social y giro del negocio, experiencia, servicios, clientes (personas jurídicas), periodos de servicio, entre otros.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3. Denominación o Razón social… entre otros. </a:t>
                      </a:r>
                      <a:r>
                        <a:rPr sz="1200" b="1" i="0" u="sng">
                          <a:solidFill>
                            <a:srgbClr val="00376E"/>
                          </a:solidFill>
                          <a:latin typeface="Arial"/>
                        </a:rPr>
                        <a:t>Para el caso de un proveedor local, nómina de accionistas y principales funcionarios.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Requisito omitido en la V03.</a:t>
                      </a:r>
                    </a:p>
                    <a:p>
                      <a:r>
                        <a:rPr sz="1200" b="1" i="0">
                          <a:solidFill>
                            <a:srgbClr val="00376E"/>
                          </a:solidFill>
                          <a:latin typeface="Arial"/>
                        </a:rPr>
                        <a:t>NRP-23, Anexo 1, A-3, lit. b</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53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5. La entidad deberá realizar la debida diligencia de dicho proveedor sobre: 1. Solidez financiera…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5. La entidad deberá realizar la debida diligencia de dicho proveedor</a:t>
                      </a:r>
                      <a:r>
                        <a:rPr sz="1200" b="1" i="0" u="sng">
                          <a:solidFill>
                            <a:srgbClr val="00376E"/>
                          </a:solidFill>
                          <a:latin typeface="Arial"/>
                        </a:rPr>
                        <a:t>, la cual deberá documentarse y revisarse anualmente utilizando la información más reciente,</a:t>
                      </a:r>
                      <a:r>
                        <a:rPr sz="1200" b="0" i="0">
                          <a:solidFill>
                            <a:srgbClr val="1B2333"/>
                          </a:solidFill>
                          <a:latin typeface="Arial"/>
                        </a:rPr>
                        <a:t> sobre: 1. Solidez financiera…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Revisión anual obligatoria.</a:t>
                      </a:r>
                    </a:p>
                    <a:p>
                      <a:r>
                        <a:rPr sz="1200" b="1" i="0">
                          <a:solidFill>
                            <a:srgbClr val="00376E"/>
                          </a:solidFill>
                          <a:latin typeface="Arial"/>
                        </a:rPr>
                        <a:t>NRP-23, Anexo 1, A-3, lit. c</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Requisitos y cláusulas del contrato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Anexo 1 — Sección A (numerales nuevos) y Sección B (1 de 2)</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54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6. Análisis de concentración de proveedores (proveedor, grupo económico, tecnología y ubicación geográfica) y verificación de los límites aprobados por el Consejo de Administración. Responsable: Depto. de Administración de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Control de límites de exposición.</a:t>
                      </a:r>
                    </a:p>
                    <a:p>
                      <a:r>
                        <a:rPr sz="1200" b="1" i="0">
                          <a:solidFill>
                            <a:srgbClr val="00376E"/>
                          </a:solidFill>
                          <a:latin typeface="Arial"/>
                        </a:rPr>
                        <a:t>NRP-20, art. 8, lit. a · NRP-23, A-1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55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7. Verificar que se puede requerir al proveedor informes de auditoría vigentes y asociados a los servicios prestados, provistos a requerimiento de la Superintendencia. Responsable: Administrador de Contrato.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Requisito omitido en la V03.</a:t>
                      </a:r>
                    </a:p>
                    <a:p>
                      <a:r>
                        <a:rPr sz="1200" b="1" i="0">
                          <a:solidFill>
                            <a:srgbClr val="00376E"/>
                          </a:solidFill>
                          <a:latin typeface="Arial"/>
                        </a:rPr>
                        <a:t>NRP-23, Anexo 1, Secc. A, num. 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56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B-12. …por el personal subcontratado por el proveedor… B-17. …realice subcontrataciones… B-18. …proveedor subcontratado. B-19. …al subcontratista… el proveedor subcontratado…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B-12. …por el personal </a:t>
                      </a:r>
                      <a:r>
                        <a:rPr sz="1200" b="1" i="0" u="sng">
                          <a:solidFill>
                            <a:srgbClr val="00376E"/>
                          </a:solidFill>
                          <a:latin typeface="Arial"/>
                        </a:rPr>
                        <a:t>contratado</a:t>
                      </a:r>
                      <a:r>
                        <a:rPr sz="1200" b="0" i="0">
                          <a:solidFill>
                            <a:srgbClr val="1B2333"/>
                          </a:solidFill>
                          <a:latin typeface="Arial"/>
                        </a:rPr>
                        <a:t> por el proveedor… B-17. …realice </a:t>
                      </a:r>
                      <a:r>
                        <a:rPr sz="1200" b="1" i="0" u="sng">
                          <a:solidFill>
                            <a:srgbClr val="00376E"/>
                          </a:solidFill>
                          <a:latin typeface="Arial"/>
                        </a:rPr>
                        <a:t>contrataciones</a:t>
                      </a:r>
                      <a:r>
                        <a:rPr sz="1200" b="0" i="0">
                          <a:solidFill>
                            <a:srgbClr val="1B2333"/>
                          </a:solidFill>
                          <a:latin typeface="Arial"/>
                        </a:rPr>
                        <a:t>… B-18. …proveedor </a:t>
                      </a:r>
                      <a:r>
                        <a:rPr sz="1200" b="1" i="0" u="sng">
                          <a:solidFill>
                            <a:srgbClr val="00376E"/>
                          </a:solidFill>
                          <a:latin typeface="Arial"/>
                        </a:rPr>
                        <a:t>contratado</a:t>
                      </a:r>
                      <a:r>
                        <a:rPr sz="1200" b="0" i="0">
                          <a:solidFill>
                            <a:srgbClr val="1B2333"/>
                          </a:solidFill>
                          <a:latin typeface="Arial"/>
                        </a:rPr>
                        <a:t>. B-19. …al </a:t>
                      </a:r>
                      <a:r>
                        <a:rPr sz="1200" b="1" i="0" u="sng">
                          <a:solidFill>
                            <a:srgbClr val="00376E"/>
                          </a:solidFill>
                          <a:latin typeface="Arial"/>
                        </a:rPr>
                        <a:t>contratista</a:t>
                      </a:r>
                      <a:r>
                        <a:rPr sz="1200" b="0" i="0">
                          <a:solidFill>
                            <a:srgbClr val="1B2333"/>
                          </a:solidFill>
                          <a:latin typeface="Arial"/>
                        </a:rPr>
                        <a:t>… el proveedor </a:t>
                      </a:r>
                      <a:r>
                        <a:rPr sz="1200" b="1" i="0" u="sng">
                          <a:solidFill>
                            <a:srgbClr val="00376E"/>
                          </a:solidFill>
                          <a:latin typeface="Arial"/>
                        </a:rPr>
                        <a:t>contratado</a:t>
                      </a:r>
                      <a:r>
                        <a:rPr sz="1200" b="0" i="0">
                          <a:solidFill>
                            <a:srgbClr val="1B2333"/>
                          </a:solidFill>
                          <a:latin typeface="Arial"/>
                        </a:rPr>
                        <a:t>…</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Cambio de término solicitado por el Departamento.</a:t>
                      </a:r>
                    </a:p>
                    <a:p>
                      <a:r>
                        <a:rPr sz="1200" b="1" i="0">
                          <a:solidFill>
                            <a:srgbClr val="00376E"/>
                          </a:solidFill>
                          <a:latin typeface="Arial"/>
                        </a:rPr>
                        <a:t>Redacción interna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Política RP-GG-PL-003 · Cláusulas contractuales</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Anexo 1 — Sección B: Cláusulas a considerar para el contrato (2 de 2)</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57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20. …garantizar las condiciones del acceso para la auditoría interna y las firmas de auditoría externa…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20. …garantizar las condiciones del acceso para la auditoría interna, </a:t>
                      </a:r>
                      <a:r>
                        <a:rPr sz="1200" b="1" i="0" u="sng">
                          <a:solidFill>
                            <a:srgbClr val="00376E"/>
                          </a:solidFill>
                          <a:latin typeface="Arial"/>
                        </a:rPr>
                        <a:t>el Departamento de Administración de Riesgos</a:t>
                      </a:r>
                      <a:r>
                        <a:rPr sz="1200" b="0" i="0">
                          <a:solidFill>
                            <a:srgbClr val="1B2333"/>
                          </a:solidFill>
                          <a:latin typeface="Arial"/>
                        </a:rPr>
                        <a:t> y las firmas de auditoría externa…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Acceso de Riesgos para su monitoreo.</a:t>
                      </a:r>
                    </a:p>
                    <a:p>
                      <a:r>
                        <a:rPr sz="1200" b="1" i="0">
                          <a:solidFill>
                            <a:srgbClr val="00376E"/>
                          </a:solidFill>
                          <a:latin typeface="Arial"/>
                        </a:rPr>
                        <a:t>NRP-20, art. 12 · NRP-23, A-5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58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21. En caso de resolución, intervención o liquidación para garantizar que la Superintendencia tenga acceso a los datos o información en caso de materializarse dichos casos.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21. En caso de resolución, intervención o liquidación </a:t>
                      </a:r>
                      <a:r>
                        <a:rPr sz="1200" b="1" i="0" u="sng">
                          <a:solidFill>
                            <a:srgbClr val="00376E"/>
                          </a:solidFill>
                          <a:latin typeface="Arial"/>
                        </a:rPr>
                        <a:t>de COMEDICA de R.L., establecer los procesos</a:t>
                      </a:r>
                      <a:r>
                        <a:rPr sz="1200" b="0" i="0">
                          <a:solidFill>
                            <a:srgbClr val="1B2333"/>
                          </a:solidFill>
                          <a:latin typeface="Arial"/>
                        </a:rPr>
                        <a:t> para garantizar que la Superintendencia tenga acceso a los datos o información.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Redacción completa y clara.</a:t>
                      </a:r>
                    </a:p>
                    <a:p>
                      <a:r>
                        <a:rPr sz="1200" b="1" i="0">
                          <a:solidFill>
                            <a:srgbClr val="00376E"/>
                          </a:solidFill>
                          <a:latin typeface="Arial"/>
                        </a:rPr>
                        <a:t>NRP-23, Anexo 1, Secc. C, num. 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59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22. Garantizar la devolución y destrucción o borrado seguro de la información involucrada en la prestación del servicio, cuando lo solicite COMEDICA de R.L. o ante la terminación del contrato.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Cláusula omitida en la V03.</a:t>
                      </a:r>
                    </a:p>
                    <a:p>
                      <a:r>
                        <a:rPr sz="1200" b="1" i="0">
                          <a:solidFill>
                            <a:srgbClr val="00376E"/>
                          </a:solidFill>
                          <a:latin typeface="Arial"/>
                        </a:rPr>
                        <a:t>NRP-23, Anexo 1, Secc. B, num. 19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60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23. Reporte de eventos de riesgo operacional: obligación del proveedor de reportar los incidentes, interrupciones y fallas que afecten el servicio, con su causa raíz, impacto y acciones correctivas.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Insumo para la base de datos de eventos.</a:t>
                      </a:r>
                    </a:p>
                    <a:p>
                      <a:r>
                        <a:rPr sz="1200" b="1" i="0">
                          <a:solidFill>
                            <a:srgbClr val="00376E"/>
                          </a:solidFill>
                          <a:latin typeface="Arial"/>
                        </a:rPr>
                        <a:t>NRP-42, arts. 19 y 21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ángulo 3">
            <a:extLst>
              <a:ext uri="{FF2B5EF4-FFF2-40B4-BE49-F238E27FC236}">
                <a16:creationId xmlns:a16="http://schemas.microsoft.com/office/drawing/2014/main" id="{5411B601-C91F-0BE0-090B-5C8396A9A9ED}"/>
              </a:ext>
            </a:extLst>
          </p:cNvPr>
          <p:cNvSpPr>
            <a:spLocks noGrp="1" noRot="1" noMove="1" noResize="1" noEditPoints="1" noAdjustHandles="1" noChangeArrowheads="1" noChangeShapeType="1"/>
          </p:cNvSpPr>
          <p:nvPr/>
        </p:nvSpPr>
        <p:spPr>
          <a:xfrm>
            <a:off x="-92149" y="-53163"/>
            <a:ext cx="12376298" cy="6964326"/>
          </a:xfrm>
          <a:prstGeom prst="rect">
            <a:avLst/>
          </a:prstGeom>
          <a:solidFill>
            <a:srgbClr val="0037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pic>
        <p:nvPicPr>
          <p:cNvPr id="5" name="Imagen 4">
            <a:extLst>
              <a:ext uri="{FF2B5EF4-FFF2-40B4-BE49-F238E27FC236}">
                <a16:creationId xmlns:a16="http://schemas.microsoft.com/office/drawing/2014/main" id="{DFF64E7E-F23D-0AD8-1D6F-56900929F75A}"/>
              </a:ext>
            </a:extLst>
          </p:cNvPr>
          <p:cNvPicPr>
            <a:picLocks noChangeAspect="1"/>
          </p:cNvPicPr>
          <p:nvPr/>
        </p:nvPicPr>
        <p:blipFill>
          <a:blip r:embed="rId2"/>
          <a:stretch>
            <a:fillRect/>
          </a:stretch>
        </p:blipFill>
        <p:spPr>
          <a:xfrm>
            <a:off x="6504166" y="2535186"/>
            <a:ext cx="2342121" cy="1579302"/>
          </a:xfrm>
          <a:prstGeom prst="rect">
            <a:avLst/>
          </a:prstGeom>
        </p:spPr>
      </p:pic>
      <p:sp>
        <p:nvSpPr>
          <p:cNvPr id="6" name="CuadroTexto 5">
            <a:extLst>
              <a:ext uri="{FF2B5EF4-FFF2-40B4-BE49-F238E27FC236}">
                <a16:creationId xmlns:a16="http://schemas.microsoft.com/office/drawing/2014/main" id="{BA87AA9B-702C-4456-A380-F08DF42DEF2C}"/>
              </a:ext>
            </a:extLst>
          </p:cNvPr>
          <p:cNvSpPr txBox="1"/>
          <p:nvPr/>
        </p:nvSpPr>
        <p:spPr>
          <a:xfrm>
            <a:off x="640080" y="2377440"/>
            <a:ext cx="5120640" cy="1463040"/>
          </a:xfrm>
          <a:prstGeom prst="rect">
            <a:avLst/>
          </a:prstGeom>
          <a:noFill/>
        </p:spPr>
        <p:txBody>
          <a:bodyPr wrap="square" rtlCol="0">
            <a:spAutoFit/>
          </a:bodyPr>
          <a:lstStyle/>
          <a:p>
            <a:pPr algn="r"/>
            <a:r>
              <a:rPr lang="es-SV" sz="2800" dirty="0">
                <a:solidFill>
                  <a:schemeClr val="bg1"/>
                </a:solidFill>
                <a:latin typeface="Century Gothic" panose="020B0502020202020204" pitchFamily="34" charset="0"/>
              </a:rPr>
              <a:t>Manual de Gestión del Riesgo Reputacional</a:t>
            </a:r>
          </a:p>
        </p:txBody>
      </p:sp>
      <p:cxnSp>
        <p:nvCxnSpPr>
          <p:cNvPr id="8" name="Conector recto 7">
            <a:extLst>
              <a:ext uri="{FF2B5EF4-FFF2-40B4-BE49-F238E27FC236}">
                <a16:creationId xmlns:a16="http://schemas.microsoft.com/office/drawing/2014/main" id="{8F41098E-7291-4952-0707-562BC04ED036}"/>
              </a:ext>
            </a:extLst>
          </p:cNvPr>
          <p:cNvCxnSpPr>
            <a:cxnSpLocks/>
          </p:cNvCxnSpPr>
          <p:nvPr/>
        </p:nvCxnSpPr>
        <p:spPr>
          <a:xfrm>
            <a:off x="5986130" y="2695509"/>
            <a:ext cx="0" cy="14669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3977639"/>
            <a:ext cx="5120640" cy="731520"/>
          </a:xfrm>
          <a:prstGeom prst="rect">
            <a:avLst/>
          </a:prstGeom>
          <a:noFill/>
        </p:spPr>
        <p:txBody>
          <a:bodyPr wrap="square" lIns="0" rIns="0" tIns="0" bIns="0" anchor="t">
            <a:spAutoFit/>
          </a:bodyPr>
          <a:lstStyle/>
          <a:p>
            <a:pPr algn="r"/>
            <a:r>
              <a:rPr sz="1400" b="0" i="0">
                <a:solidFill>
                  <a:srgbClr val="DCE6F7"/>
                </a:solidFill>
                <a:latin typeface="Arial"/>
              </a:rPr>
              <a:t>MA-GG-M-004 · V03 vigente → V04 propuesta · 22 cambios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Manual MA-GG-M-004 · Manual de Gestión del Riesgo Reputacional</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Alcance, Objetivos y Marco Regulatorio</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El presente Manual… es de obligatorio cumplimiento para los Miembros del Consejo de Administración, Miembros de Junta de Vigilancia, Comités, Gerentes y Empleados de COMEDICA.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El presente Manual… es de obligatorio cumplimiento para los </a:t>
                      </a:r>
                      <a:r>
                        <a:rPr sz="1200" b="1" i="0" u="sng">
                          <a:solidFill>
                            <a:srgbClr val="00376E"/>
                          </a:solidFill>
                          <a:latin typeface="Arial"/>
                        </a:rPr>
                        <a:t>Directores</a:t>
                      </a:r>
                      <a:r>
                        <a:rPr sz="1200" b="0" i="0">
                          <a:solidFill>
                            <a:srgbClr val="1B2333"/>
                          </a:solidFill>
                          <a:latin typeface="Arial"/>
                        </a:rPr>
                        <a:t> del Consejo de Administración, Miembros de Junta de Vigilancia, Comités, Gerentes y Empleados de COMEDICA </a:t>
                      </a:r>
                      <a:r>
                        <a:rPr sz="1200" b="1" i="0" u="sng">
                          <a:solidFill>
                            <a:srgbClr val="00376E"/>
                          </a:solidFill>
                          <a:latin typeface="Arial"/>
                        </a:rPr>
                        <a:t>de R.L.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Denominación de los miembros del Consejo y razón social completa.</a:t>
                      </a:r>
                    </a:p>
                    <a:p>
                      <a:r>
                        <a:rPr sz="1200" b="1" i="0">
                          <a:solidFill>
                            <a:srgbClr val="00376E"/>
                          </a:solidFill>
                          <a:latin typeface="Arial"/>
                        </a:rPr>
                        <a:t>Redacción interna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Mantener la confianza de nuestros asociados y clientes, sobre los diferentes productos y servicios ofrecidos.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Mantener la confianza </a:t>
                      </a:r>
                      <a:r>
                        <a:rPr sz="1200" b="1" i="0" u="sng">
                          <a:solidFill>
                            <a:srgbClr val="00376E"/>
                          </a:solidFill>
                          <a:latin typeface="Arial"/>
                        </a:rPr>
                        <a:t>y fidelidad</a:t>
                      </a:r>
                      <a:r>
                        <a:rPr sz="1200" b="0" i="0">
                          <a:solidFill>
                            <a:srgbClr val="1B2333"/>
                          </a:solidFill>
                          <a:latin typeface="Arial"/>
                        </a:rPr>
                        <a:t> de nuestros asociados y clientes, sobre los diferentes productos y servicios ofrecidos.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Amplía el objetivo específico.</a:t>
                      </a:r>
                    </a:p>
                    <a:p>
                      <a:r>
                        <a:rPr sz="1200" b="1" i="0">
                          <a:solidFill>
                            <a:srgbClr val="00376E"/>
                          </a:solidFill>
                          <a:latin typeface="Arial"/>
                        </a:rPr>
                        <a:t>Redacción interna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II. DOCUMENTOS DE REFERENCIA: Normas Técnicas para la Gestión Integral de Riesgos de las Entidades Financieras (NRP-20); Normas Técnicas de Gobierno Corporativo (NRP-17); … Código de Conducta.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2. MARCO REGULATORIO</a:t>
                      </a:r>
                      <a:r>
                        <a:rPr sz="1200" b="0" i="0">
                          <a:solidFill>
                            <a:srgbClr val="1B2333"/>
                          </a:solidFill>
                          <a:latin typeface="Arial"/>
                        </a:rPr>
                        <a:t>: Normas Técnicas para la Gestión Integral de Riesgos de las Entidades Financieras; Normas Técnicas de Gobierno Corporativo; … Código de Conducta </a:t>
                      </a:r>
                      <a:r>
                        <a:rPr sz="1200" b="1" i="0" u="sng">
                          <a:solidFill>
                            <a:srgbClr val="00376E"/>
                          </a:solidFill>
                          <a:latin typeface="Arial"/>
                        </a:rPr>
                        <a:t>de COMEDICA de R.L.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Cambia el título del apartado; se eliminan los códigos NRP-20 y NRP-17.</a:t>
                      </a:r>
                    </a:p>
                    <a:p>
                      <a:r>
                        <a:rPr sz="1200" b="1" i="0">
                          <a:solidFill>
                            <a:srgbClr val="00376E"/>
                          </a:solidFill>
                          <a:latin typeface="Arial"/>
                        </a:rPr>
                        <a:t>NRP-20 · NRP-17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COMEDICA · numeración de apartados en romanos (I a XVII).</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COMEDICA de R.L.</a:t>
                      </a:r>
                      <a:r>
                        <a:rPr sz="1200" b="0" i="0">
                          <a:solidFill>
                            <a:srgbClr val="1B2333"/>
                          </a:solidFill>
                          <a:latin typeface="Arial"/>
                        </a:rPr>
                        <a:t> en todo el documento · </a:t>
                      </a:r>
                      <a:r>
                        <a:rPr sz="1200" b="1" i="0" u="sng">
                          <a:solidFill>
                            <a:srgbClr val="00376E"/>
                          </a:solidFill>
                          <a:latin typeface="Arial"/>
                        </a:rPr>
                        <a:t>numeración arábiga de apartados.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Uniformidad de forma.</a:t>
                      </a:r>
                    </a:p>
                    <a:p>
                      <a:r>
                        <a:rPr sz="1200" b="1" i="0">
                          <a:solidFill>
                            <a:srgbClr val="00376E"/>
                          </a:solidFill>
                          <a:latin typeface="Arial"/>
                        </a:rPr>
                        <a:t>Redacción interna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Manual MA-GG-M-004 · Órganos de gobierno y Consejo de Calidad</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Responsabilidades (1 de 2)</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ROLES Y 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Se simplifica el título del apartado.</a:t>
                      </a:r>
                    </a:p>
                    <a:p>
                      <a:r>
                        <a:rPr sz="1200" b="1" i="0">
                          <a:solidFill>
                            <a:srgbClr val="00376E"/>
                          </a:solidFill>
                          <a:latin typeface="Arial"/>
                        </a:rPr>
                        <a:t>Redacción interna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Consejo de Administración: Aprobar el presente Manual y asegurarse que la Gerencia General lo implemente efectivamente.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Aprobar el presente Manual y asegurarse que la Gerencia General lo implemente efectivamente </a:t>
                      </a:r>
                      <a:r>
                        <a:rPr sz="1200" b="1" i="0" u="sng">
                          <a:solidFill>
                            <a:srgbClr val="00376E"/>
                          </a:solidFill>
                          <a:latin typeface="Arial"/>
                        </a:rPr>
                        <a:t>en todas las áreas de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Precisa el alcance de la implementación.</a:t>
                      </a:r>
                    </a:p>
                    <a:p>
                      <a:r>
                        <a:rPr sz="1200" b="1" i="0">
                          <a:solidFill>
                            <a:srgbClr val="00376E"/>
                          </a:solidFill>
                          <a:latin typeface="Arial"/>
                        </a:rPr>
                        <a:t>NRP-20, art. 8, lit. c</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Comité de Administración de Riesgos (en todo el documento).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Comité de Riesgos</a:t>
                      </a:r>
                      <a:r>
                        <a:rPr sz="1200" b="0" i="0">
                          <a:solidFill>
                            <a:srgbClr val="1B2333"/>
                          </a:solidFill>
                          <a:latin typeface="Arial"/>
                        </a:rPr>
                        <a:t> (en todo el documento).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Nombre vigente del comité.</a:t>
                      </a:r>
                    </a:p>
                    <a:p>
                      <a:r>
                        <a:rPr sz="1200" b="1" i="0">
                          <a:solidFill>
                            <a:srgbClr val="00376E"/>
                          </a:solidFill>
                          <a:latin typeface="Arial"/>
                        </a:rPr>
                        <a:t>NRP-20, art. 9 · NRP-17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Consejo de Calidad: Analizar las gestiones realizadas sobre sugerencias y quejas, las acciones tomadas en su resolución y acuerdos según corresponda.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Elaborar</a:t>
                      </a:r>
                      <a:r>
                        <a:rPr sz="1200" b="0" i="0">
                          <a:solidFill>
                            <a:srgbClr val="1B2333"/>
                          </a:solidFill>
                          <a:latin typeface="Arial"/>
                        </a:rPr>
                        <a:t> las gestiones realizadas sobre sugerencias y quejas, las acciones tomadas en su resolución y acuerdos según corresponda.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Cambio de la función del Consejo de Calidad.</a:t>
                      </a:r>
                    </a:p>
                    <a:p>
                      <a:r>
                        <a:rPr sz="1200" b="1" i="0">
                          <a:solidFill>
                            <a:srgbClr val="00376E"/>
                          </a:solidFill>
                          <a:latin typeface="Arial"/>
                        </a:rPr>
                        <a:t>Redacción interna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Manual MA-GG-M-004 · Jefaturas y áreas de apoyo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Responsabilidades (2 de 2)</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71907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Jefe de Administración de Riesgos: Diseñar y someter a la aprobación del Consejo de Administración, a través del Comité de Administración de Riesgos, el presente Manual.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Elaborar</a:t>
                      </a:r>
                      <a:r>
                        <a:rPr sz="1200" b="0" i="0">
                          <a:solidFill>
                            <a:srgbClr val="1B2333"/>
                          </a:solidFill>
                          <a:latin typeface="Arial"/>
                        </a:rPr>
                        <a:t> diseñar y someter a la aprobación del Consejo de Administración, a través del </a:t>
                      </a:r>
                      <a:r>
                        <a:rPr sz="1200" b="1" i="0" u="sng">
                          <a:solidFill>
                            <a:srgbClr val="00376E"/>
                          </a:solidFill>
                          <a:latin typeface="Arial"/>
                        </a:rPr>
                        <a:t>Comité de Riesgos</a:t>
                      </a:r>
                      <a:r>
                        <a:rPr sz="1200" b="0" i="0">
                          <a:solidFill>
                            <a:srgbClr val="1B2333"/>
                          </a:solidFill>
                          <a:latin typeface="Arial"/>
                        </a:rPr>
                        <a:t>, el presente Manual.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Función de la Unidad de Riesgos.</a:t>
                      </a:r>
                    </a:p>
                    <a:p>
                      <a:r>
                        <a:rPr sz="1200" b="1" i="0">
                          <a:solidFill>
                            <a:srgbClr val="00376E"/>
                          </a:solidFill>
                          <a:latin typeface="Arial"/>
                        </a:rPr>
                        <a:t>NRP-20, art. 13, lit. c</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Oficial de Cumplimiento: Velar por el cumplimiento… financiación del terrorismo y financiación de la proliferación de armas de destrucción masiva.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Gerente de Oficialía de Cumplimiento</a:t>
                      </a:r>
                      <a:r>
                        <a:rPr sz="1200" b="0" i="0">
                          <a:solidFill>
                            <a:srgbClr val="1B2333"/>
                          </a:solidFill>
                          <a:latin typeface="Arial"/>
                        </a:rPr>
                        <a:t>: Velar por el cumplimiento… financiación del terrorismo y </a:t>
                      </a:r>
                      <a:r>
                        <a:rPr sz="1200" b="1" i="0" u="sng">
                          <a:solidFill>
                            <a:srgbClr val="00376E"/>
                          </a:solidFill>
                          <a:latin typeface="Arial"/>
                        </a:rPr>
                        <a:t>la</a:t>
                      </a:r>
                      <a:r>
                        <a:rPr sz="1200" b="0" i="0">
                          <a:solidFill>
                            <a:srgbClr val="1B2333"/>
                          </a:solidFill>
                          <a:latin typeface="Arial"/>
                        </a:rPr>
                        <a:t> financiación de la proliferación de armas de destrucción masiva.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Nombre vigente del cargo (también en apartados de control e informe).</a:t>
                      </a:r>
                    </a:p>
                    <a:p>
                      <a:r>
                        <a:rPr sz="1200" b="1" i="0">
                          <a:solidFill>
                            <a:srgbClr val="00376E"/>
                          </a:solidFill>
                          <a:latin typeface="Arial"/>
                        </a:rPr>
                        <a:t>Estructura organizativa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Jefe de Mercadeo: Informar al Departamento de Administración de Riesgos sobre la percepción de imagen de COMEDICA de R.L. en las redes sociales.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Nueva fuente de información reputacional.</a:t>
                      </a:r>
                    </a:p>
                    <a:p>
                      <a:r>
                        <a:rPr sz="1200" b="1" i="0">
                          <a:solidFill>
                            <a:srgbClr val="00376E"/>
                          </a:solidFill>
                          <a:latin typeface="Arial"/>
                        </a:rPr>
                        <a:t>NRP-20, art. 6, lit. 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Jefe Talento Humano: Garantizar el cumplimiento de los procesos de selección y contratación del personal.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Jefe de</a:t>
                      </a:r>
                      <a:r>
                        <a:rPr sz="1200" b="0" i="0">
                          <a:solidFill>
                            <a:srgbClr val="1B2333"/>
                          </a:solidFill>
                          <a:latin typeface="Arial"/>
                        </a:rPr>
                        <a:t> Talento Humano: Garantizar el cumplimiento de los procesos de </a:t>
                      </a:r>
                      <a:r>
                        <a:rPr sz="1200" b="1" i="0" u="sng">
                          <a:solidFill>
                            <a:srgbClr val="00376E"/>
                          </a:solidFill>
                          <a:latin typeface="Arial"/>
                        </a:rPr>
                        <a:t>reclutamiento,</a:t>
                      </a:r>
                      <a:r>
                        <a:rPr sz="1200" b="0" i="0">
                          <a:solidFill>
                            <a:srgbClr val="1B2333"/>
                          </a:solidFill>
                          <a:latin typeface="Arial"/>
                        </a:rPr>
                        <a:t> selección y contratación </a:t>
                      </a:r>
                      <a:r>
                        <a:rPr sz="1200" b="1" i="0" u="sng">
                          <a:solidFill>
                            <a:srgbClr val="00376E"/>
                          </a:solidFill>
                          <a:latin typeface="Arial"/>
                        </a:rPr>
                        <a:t>de</a:t>
                      </a:r>
                      <a:r>
                        <a:rPr sz="1200" b="0" i="0">
                          <a:solidFill>
                            <a:srgbClr val="1B2333"/>
                          </a:solidFill>
                          <a:latin typeface="Arial"/>
                        </a:rPr>
                        <a:t> personal.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Incluye la etapa de reclutamiento.</a:t>
                      </a:r>
                    </a:p>
                    <a:p>
                      <a:r>
                        <a:rPr sz="1200" b="1" i="0">
                          <a:solidFill>
                            <a:srgbClr val="00376E"/>
                          </a:solidFill>
                          <a:latin typeface="Arial"/>
                        </a:rPr>
                        <a:t>Redacción interna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Jefe de Auditoría Interna: Evaluar el cumplimiento al presente Manual.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Evaluar el cumplimiento </a:t>
                      </a:r>
                      <a:r>
                        <a:rPr sz="1200" b="1" i="0" u="sng">
                          <a:solidFill>
                            <a:srgbClr val="00376E"/>
                          </a:solidFill>
                          <a:latin typeface="Arial"/>
                        </a:rPr>
                        <a:t>a lo estipulado en</a:t>
                      </a:r>
                      <a:r>
                        <a:rPr sz="1200" b="0" i="0">
                          <a:solidFill>
                            <a:srgbClr val="1B2333"/>
                          </a:solidFill>
                          <a:latin typeface="Arial"/>
                        </a:rPr>
                        <a:t> el presente Manual.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Precisión de redacción.</a:t>
                      </a:r>
                    </a:p>
                    <a:p>
                      <a:r>
                        <a:rPr sz="1200" b="1" i="0">
                          <a:solidFill>
                            <a:srgbClr val="00376E"/>
                          </a:solidFill>
                          <a:latin typeface="Arial"/>
                        </a:rPr>
                        <a:t>NRP-20, art. 19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Manual MA-GG-M-004 · Lineamientos generales</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Política de la Gestión del Riesgo Reputacional</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POLITICA GENERAL DE LA GESTIÓN DEL RIESGO REPUTACIONAL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POLITICA </a:t>
                      </a:r>
                      <a:r>
                        <a:rPr sz="1200" b="1" i="0" u="sng">
                          <a:solidFill>
                            <a:srgbClr val="00376E"/>
                          </a:solidFill>
                          <a:latin typeface="Arial"/>
                        </a:rPr>
                        <a:t>DE</a:t>
                      </a:r>
                      <a:r>
                        <a:rPr sz="1200" b="0" i="0">
                          <a:solidFill>
                            <a:srgbClr val="1B2333"/>
                          </a:solidFill>
                          <a:latin typeface="Arial"/>
                        </a:rPr>
                        <a:t> LA GESTIÓN DEL RIESGO REPUTACIONAL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Se simplifica el título.</a:t>
                      </a:r>
                    </a:p>
                    <a:p>
                      <a:r>
                        <a:rPr sz="1200" b="1" i="0">
                          <a:solidFill>
                            <a:srgbClr val="00376E"/>
                          </a:solidFill>
                          <a:latin typeface="Arial"/>
                        </a:rPr>
                        <a:t>Redacción interna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Los miembros del Consejo de Administración… deberán salvaguardar la reputación de COMEDICA…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Los </a:t>
                      </a:r>
                      <a:r>
                        <a:rPr sz="1200" b="1" i="0" u="sng">
                          <a:solidFill>
                            <a:srgbClr val="00376E"/>
                          </a:solidFill>
                          <a:latin typeface="Arial"/>
                        </a:rPr>
                        <a:t>Directores</a:t>
                      </a:r>
                      <a:r>
                        <a:rPr sz="1200" b="0" i="0">
                          <a:solidFill>
                            <a:srgbClr val="1B2333"/>
                          </a:solidFill>
                          <a:latin typeface="Arial"/>
                        </a:rPr>
                        <a:t> del Consejo de Administración… deberán salvaguardar la reputación de COMEDICA </a:t>
                      </a:r>
                      <a:r>
                        <a:rPr sz="1200" b="1" i="0" u="sng">
                          <a:solidFill>
                            <a:srgbClr val="00376E"/>
                          </a:solidFill>
                          <a:latin typeface="Arial"/>
                        </a:rPr>
                        <a:t>de R.L.</a:t>
                      </a:r>
                      <a:r>
                        <a:rPr sz="1200" b="0" i="0">
                          <a:solidFill>
                            <a:srgbClr val="1B2333"/>
                          </a:solidFill>
                          <a:latin typeface="Arial"/>
                        </a:rPr>
                        <a:t>…</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Denominación de los miembros del Consejo.</a:t>
                      </a:r>
                    </a:p>
                    <a:p>
                      <a:r>
                        <a:rPr sz="1200" b="1" i="0">
                          <a:solidFill>
                            <a:srgbClr val="00376E"/>
                          </a:solidFill>
                          <a:latin typeface="Arial"/>
                        </a:rPr>
                        <a:t>Redacción interna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El comportamiento de los empleados está normado por el Código de Conducta, Reglamento Interno de Trabajo y Política de Calidad, que complementan la cultura organizacional orientada a la satisfacción de nuestros asociados…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El comportamiento de los empleados está normado por el Código de Conducta </a:t>
                      </a:r>
                      <a:r>
                        <a:rPr sz="1200" b="1" i="0" u="sng">
                          <a:solidFill>
                            <a:srgbClr val="00376E"/>
                          </a:solidFill>
                          <a:latin typeface="Arial"/>
                        </a:rPr>
                        <a:t>y el</a:t>
                      </a:r>
                      <a:r>
                        <a:rPr sz="1200" b="0" i="0">
                          <a:solidFill>
                            <a:srgbClr val="1B2333"/>
                          </a:solidFill>
                          <a:latin typeface="Arial"/>
                        </a:rPr>
                        <a:t> Reglamento Interno de Trabajo, que complementan la cultura organizacional orientada a </a:t>
                      </a:r>
                      <a:r>
                        <a:rPr sz="1200" b="1" i="0" u="sng">
                          <a:solidFill>
                            <a:srgbClr val="00376E"/>
                          </a:solidFill>
                          <a:latin typeface="Arial"/>
                        </a:rPr>
                        <a:t>incrementar</a:t>
                      </a:r>
                      <a:r>
                        <a:rPr sz="1200" b="0" i="0">
                          <a:solidFill>
                            <a:srgbClr val="1B2333"/>
                          </a:solidFill>
                          <a:latin typeface="Arial"/>
                        </a:rPr>
                        <a:t> la satisfacción de nuestros asociados…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Se elimina la referencia a la Política de Calidad.</a:t>
                      </a:r>
                    </a:p>
                    <a:p>
                      <a:r>
                        <a:rPr sz="1200" b="1" i="0">
                          <a:solidFill>
                            <a:srgbClr val="00376E"/>
                          </a:solidFill>
                          <a:latin typeface="Arial"/>
                        </a:rPr>
                        <a:t>Redacción interna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Manual MA-GG-M-004 · Nuevas fuentes de riesgo y controles</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Identificación y Control del Riesgo Reputacional</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Redes sociales: La información difundida en las redes sociales representa un riesgo difícil de controlar, ya que las críticas y los comentarios negativos pueden afectar rápidamente la percepción pública de COMEDICA de R.L. El informe elaborado por el Departamento de Mercadeo permite conocer únicamente una parte de la opinión que los usuarios expresan sobre la Cooperativa en estos medios.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Nueva fuente de riesgo reputacional identificada.</a:t>
                      </a:r>
                    </a:p>
                    <a:p>
                      <a:r>
                        <a:rPr sz="1200" b="1" i="0">
                          <a:solidFill>
                            <a:srgbClr val="00376E"/>
                          </a:solidFill>
                          <a:latin typeface="Arial"/>
                        </a:rPr>
                        <a:t>NRP-20, art. 6, lit. 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4. Denuncias por fraudes de tarjeta de crédito y débito: la Gerencia Legal y de Cumplimiento Normativo recibe correos de la Defensoría del Consumidor sobre denuncias por fraudes de tarjeta de crédito, y oficios de la Fiscalía General de la República por fraudes de tarjeta de crédito y de débito.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Nuevo control.</a:t>
                      </a:r>
                    </a:p>
                    <a:p>
                      <a:r>
                        <a:rPr sz="1200" b="1" i="0">
                          <a:solidFill>
                            <a:srgbClr val="00376E"/>
                          </a:solidFill>
                          <a:latin typeface="Arial"/>
                        </a:rPr>
                        <a:t>NRP-20, art. 6, lit. 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5. Denuncias por asesorías por sobreendeudamiento en créditos y tarjetas de crédito: la Jefatura del Departamento de Soluciones Financieras recibe denuncias interpuestas ante la Defensoría del Consumidor.</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Nuevo control.</a:t>
                      </a:r>
                    </a:p>
                    <a:p>
                      <a:r>
                        <a:rPr sz="1200" b="1" i="0">
                          <a:solidFill>
                            <a:srgbClr val="00376E"/>
                          </a:solidFill>
                          <a:latin typeface="Arial"/>
                        </a:rPr>
                        <a:t>NRP-20, art. 6, lit. 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Manual MA-GG-M-004 · Reportes mensuales al Departamento de Administración de Riesgos</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Informe de casos de Riesgo Reputacional</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3291840"/>
                <a:gridCol w="4572000"/>
                <a:gridCol w="27706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(V03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(V04 propuesta)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Mejora y base normativa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20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Gerente Legal y de Cumplimiento Normativo reportará en los primeros 10 días hábiles del mes siguiente las denuncias interpuestas por los tarjetahabientes ante la Defensoría del Consumidor por fraudes de tarjeta de crédito. De no existir, en el mismo plazo informará la no existencia.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Nuevo reporte mensual.</a:t>
                      </a:r>
                    </a:p>
                    <a:p>
                      <a:r>
                        <a:rPr sz="1200" b="1" i="0">
                          <a:solidFill>
                            <a:srgbClr val="00376E"/>
                          </a:solidFill>
                          <a:latin typeface="Arial"/>
                        </a:rPr>
                        <a:t>NRP-20, art. 17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21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Jefe del Departamento de Soluciones Financieras reportará en los primeros 10 días hábiles del mes siguiente las denuncias ante la Defensoría del Consumidor por asesorías por sobreendeudamiento en créditos y tarjetas de crédito. De no existir, en el mismo plazo informará la no existencia.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Nuevo reporte mensual.</a:t>
                      </a:r>
                    </a:p>
                    <a:p>
                      <a:r>
                        <a:rPr sz="1200" b="1" i="0">
                          <a:solidFill>
                            <a:srgbClr val="00376E"/>
                          </a:solidFill>
                          <a:latin typeface="Arial"/>
                        </a:rPr>
                        <a:t>NRP-20, art. 17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22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Los Miembros del Consejo de Administración… podrán informar… al correo riesgoreputacional@comedica.com.sv… Los informes recibidos se presentarán al Comité de Administración de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Los </a:t>
                      </a:r>
                      <a:r>
                        <a:rPr sz="1200" b="1" i="0" u="sng">
                          <a:solidFill>
                            <a:srgbClr val="00376E"/>
                          </a:solidFill>
                          <a:latin typeface="Arial"/>
                        </a:rPr>
                        <a:t>Directores</a:t>
                      </a:r>
                      <a:r>
                        <a:rPr sz="1200" b="0" i="0">
                          <a:solidFill>
                            <a:srgbClr val="1B2333"/>
                          </a:solidFill>
                          <a:latin typeface="Arial"/>
                        </a:rPr>
                        <a:t> del Consejo de Administración… podrán informar… al correo riesgoreputacional@comedica.com.sv… Los informes recibidos se presentarán al </a:t>
                      </a:r>
                      <a:r>
                        <a:rPr sz="1200" b="1" i="0" u="sng">
                          <a:solidFill>
                            <a:srgbClr val="00376E"/>
                          </a:solidFill>
                          <a:latin typeface="Arial"/>
                        </a:rPr>
                        <a:t>Comité de Riesgos</a:t>
                      </a:r>
                      <a:r>
                        <a:rPr sz="1200" b="0" i="0">
                          <a:solidFill>
                            <a:srgbClr val="1B2333"/>
                          </a:solidFill>
                          <a:latin typeface="Arial"/>
                        </a:rPr>
                        <a:t>…</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Denominaciones vigentes.</a:t>
                      </a:r>
                    </a:p>
                    <a:p>
                      <a:r>
                        <a:rPr sz="1200" b="1" i="0">
                          <a:solidFill>
                            <a:srgbClr val="00376E"/>
                          </a:solidFill>
                          <a:latin typeface="Arial"/>
                        </a:rPr>
                        <a:t>NRP-20, art. 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Texto subrayado en azul</a:t>
            </a:r>
            <a:r>
              <a:rPr sz="1000" b="0" i="0">
                <a:solidFill>
                  <a:srgbClr val="5B6578"/>
                </a:solidFill>
                <a:latin typeface="Arial"/>
              </a:rPr>
              <a:t> = nuevo o modificado respecto a la versión vigente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ángulo 3">
            <a:extLst>
              <a:ext uri="{FF2B5EF4-FFF2-40B4-BE49-F238E27FC236}">
                <a16:creationId xmlns:a16="http://schemas.microsoft.com/office/drawing/2014/main" id="{5411B601-C91F-0BE0-090B-5C8396A9A9ED}"/>
              </a:ext>
            </a:extLst>
          </p:cNvPr>
          <p:cNvSpPr>
            <a:spLocks noGrp="1" noRot="1" noMove="1" noResize="1" noEditPoints="1" noAdjustHandles="1" noChangeArrowheads="1" noChangeShapeType="1"/>
          </p:cNvSpPr>
          <p:nvPr/>
        </p:nvSpPr>
        <p:spPr>
          <a:xfrm>
            <a:off x="-92149" y="-53163"/>
            <a:ext cx="12376298" cy="6964326"/>
          </a:xfrm>
          <a:prstGeom prst="rect">
            <a:avLst/>
          </a:prstGeom>
          <a:solidFill>
            <a:srgbClr val="0037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pic>
        <p:nvPicPr>
          <p:cNvPr id="5" name="Imagen 4">
            <a:extLst>
              <a:ext uri="{FF2B5EF4-FFF2-40B4-BE49-F238E27FC236}">
                <a16:creationId xmlns:a16="http://schemas.microsoft.com/office/drawing/2014/main" id="{DFF64E7E-F23D-0AD8-1D6F-56900929F75A}"/>
              </a:ext>
            </a:extLst>
          </p:cNvPr>
          <p:cNvPicPr>
            <a:picLocks noChangeAspect="1"/>
          </p:cNvPicPr>
          <p:nvPr/>
        </p:nvPicPr>
        <p:blipFill>
          <a:blip r:embed="rId2"/>
          <a:stretch>
            <a:fillRect/>
          </a:stretch>
        </p:blipFill>
        <p:spPr>
          <a:xfrm>
            <a:off x="6504166" y="2535186"/>
            <a:ext cx="2342121" cy="1579302"/>
          </a:xfrm>
          <a:prstGeom prst="rect">
            <a:avLst/>
          </a:prstGeom>
        </p:spPr>
      </p:pic>
      <p:sp>
        <p:nvSpPr>
          <p:cNvPr id="6" name="CuadroTexto 5">
            <a:extLst>
              <a:ext uri="{FF2B5EF4-FFF2-40B4-BE49-F238E27FC236}">
                <a16:creationId xmlns:a16="http://schemas.microsoft.com/office/drawing/2014/main" id="{BA87AA9B-702C-4456-A380-F08DF42DEF2C}"/>
              </a:ext>
            </a:extLst>
          </p:cNvPr>
          <p:cNvSpPr txBox="1"/>
          <p:nvPr/>
        </p:nvSpPr>
        <p:spPr>
          <a:xfrm>
            <a:off x="640080" y="2377440"/>
            <a:ext cx="5120640" cy="1463040"/>
          </a:xfrm>
          <a:prstGeom prst="rect">
            <a:avLst/>
          </a:prstGeom>
          <a:noFill/>
        </p:spPr>
        <p:txBody>
          <a:bodyPr wrap="square" rtlCol="0">
            <a:spAutoFit/>
          </a:bodyPr>
          <a:lstStyle/>
          <a:p>
            <a:pPr algn="r"/>
            <a:r>
              <a:rPr lang="es-SV" sz="2800" dirty="0">
                <a:solidFill>
                  <a:schemeClr val="bg1"/>
                </a:solidFill>
                <a:latin typeface="Century Gothic" panose="020B0502020202020204" pitchFamily="34" charset="0"/>
              </a:rPr>
              <a:t>Información de Comités</a:t>
            </a:r>
          </a:p>
        </p:txBody>
      </p:sp>
      <p:cxnSp>
        <p:nvCxnSpPr>
          <p:cNvPr id="8" name="Conector recto 7">
            <a:extLst>
              <a:ext uri="{FF2B5EF4-FFF2-40B4-BE49-F238E27FC236}">
                <a16:creationId xmlns:a16="http://schemas.microsoft.com/office/drawing/2014/main" id="{8F41098E-7291-4952-0707-562BC04ED036}"/>
              </a:ext>
            </a:extLst>
          </p:cNvPr>
          <p:cNvCxnSpPr>
            <a:cxnSpLocks/>
          </p:cNvCxnSpPr>
          <p:nvPr/>
        </p:nvCxnSpPr>
        <p:spPr>
          <a:xfrm>
            <a:off x="5986130" y="2695509"/>
            <a:ext cx="0" cy="14669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3977639"/>
            <a:ext cx="5120640" cy="731520"/>
          </a:xfrm>
          <a:prstGeom prst="rect">
            <a:avLst/>
          </a:prstGeom>
          <a:noFill/>
        </p:spPr>
        <p:txBody>
          <a:bodyPr wrap="square" lIns="0" rIns="0" tIns="0" bIns="0" anchor="t">
            <a:spAutoFit/>
          </a:bodyPr>
          <a:lstStyle/>
          <a:p>
            <a:pPr algn="r"/>
            <a:r>
              <a:rPr sz="1400" b="0" i="0">
                <a:solidFill>
                  <a:srgbClr val="DCE6F7"/>
                </a:solidFill>
                <a:latin typeface="Arial"/>
              </a:rPr>
              <a:t>Informe 2024 vigente → Informe 2026 propuesto · NRP-17, art. 29 · 187 cambios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Créditos (1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71907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Objetivos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 </a:t>
                      </a:r>
                      <a:r>
                        <a:rPr sz="1200" b="0" i="0" strike="sngStrike">
                          <a:solidFill>
                            <a:srgbClr val="B3261E"/>
                          </a:solidFill>
                          <a:latin typeface="Arial"/>
                        </a:rPr>
                        <a:t>Regular y Agilizar</a:t>
                      </a:r>
                      <a:r>
                        <a:rPr sz="1200" b="0" i="0">
                          <a:solidFill>
                            <a:srgbClr val="1B2333"/>
                          </a:solidFill>
                          <a:latin typeface="Arial"/>
                        </a:rPr>
                        <a:t> en forma imparcial la tramitación de los créditos.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 </a:t>
                      </a:r>
                      <a:r>
                        <a:rPr sz="1200" b="1" i="0" u="sng">
                          <a:solidFill>
                            <a:srgbClr val="00376E"/>
                          </a:solidFill>
                          <a:latin typeface="Arial"/>
                        </a:rPr>
                        <a:t>Agilizar y dar resolución</a:t>
                      </a:r>
                      <a:r>
                        <a:rPr sz="1200" b="0" i="0">
                          <a:solidFill>
                            <a:srgbClr val="1B2333"/>
                          </a:solidFill>
                          <a:latin typeface="Arial"/>
                        </a:rPr>
                        <a:t> en forma imparcial la tramitación de los créditos.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Objetivos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 Actuar con prudencia, equidad, solidaridad e incentivar la amortización puntual de los créditos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 Actuar con prudencia, equidad, solidaridad e incentivar la amortización puntual de los créditos, </a:t>
                      </a:r>
                      <a:r>
                        <a:rPr sz="1200" b="1" i="0" u="sng">
                          <a:solidFill>
                            <a:srgbClr val="00376E"/>
                          </a:solidFill>
                          <a:latin typeface="Arial"/>
                        </a:rPr>
                        <a:t>con el objetivo de mantener el buen crecimiento de la Cartera de Créditos y de Tarjeta.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b) Aprobar para cada solicitud, el monto, cuota, </a:t>
                      </a:r>
                      <a:r>
                        <a:rPr sz="1200" b="0" i="0" strike="sngStrike">
                          <a:solidFill>
                            <a:srgbClr val="B3261E"/>
                          </a:solidFill>
                          <a:latin typeface="Arial"/>
                        </a:rPr>
                        <a:t>,</a:t>
                      </a:r>
                      <a:r>
                        <a:rPr sz="1200" b="0" i="0">
                          <a:solidFill>
                            <a:srgbClr val="1B2333"/>
                          </a:solidFill>
                          <a:latin typeface="Arial"/>
                        </a:rPr>
                        <a:t> plazo de amortización, </a:t>
                      </a:r>
                      <a:r>
                        <a:rPr sz="1200" b="0" i="0" strike="sngStrike">
                          <a:solidFill>
                            <a:srgbClr val="B3261E"/>
                          </a:solidFill>
                          <a:latin typeface="Arial"/>
                        </a:rPr>
                        <a:t>garantía</a:t>
                      </a:r>
                      <a:r>
                        <a:rPr sz="1200" b="0" i="0">
                          <a:solidFill>
                            <a:srgbClr val="1B2333"/>
                          </a:solidFill>
                          <a:latin typeface="Arial"/>
                        </a:rPr>
                        <a:t> y naturaleza de </a:t>
                      </a:r>
                      <a:r>
                        <a:rPr sz="1200" b="0" i="0" strike="sngStrike">
                          <a:solidFill>
                            <a:srgbClr val="B3261E"/>
                          </a:solidFill>
                          <a:latin typeface="Arial"/>
                        </a:rPr>
                        <a:t>esta.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b) Aprobar para cada solicitud, el monto, cuota, </a:t>
                      </a:r>
                      <a:r>
                        <a:rPr sz="1200" b="1" i="0" u="sng">
                          <a:solidFill>
                            <a:srgbClr val="00376E"/>
                          </a:solidFill>
                          <a:latin typeface="Arial"/>
                        </a:rPr>
                        <a:t>y forma de pago,</a:t>
                      </a:r>
                      <a:r>
                        <a:rPr sz="1200" b="0" i="0">
                          <a:solidFill>
                            <a:srgbClr val="1B2333"/>
                          </a:solidFill>
                          <a:latin typeface="Arial"/>
                        </a:rPr>
                        <a:t> plazo de amortización, </a:t>
                      </a:r>
                      <a:r>
                        <a:rPr sz="1200" b="1" i="0" u="sng">
                          <a:solidFill>
                            <a:srgbClr val="00376E"/>
                          </a:solidFill>
                          <a:latin typeface="Arial"/>
                        </a:rPr>
                        <a:t>garantías</a:t>
                      </a:r>
                      <a:r>
                        <a:rPr sz="1200" b="0" i="0">
                          <a:solidFill>
                            <a:srgbClr val="1B2333"/>
                          </a:solidFill>
                          <a:latin typeface="Arial"/>
                        </a:rPr>
                        <a:t> y naturaleza de </a:t>
                      </a:r>
                      <a:r>
                        <a:rPr sz="1200" b="1" i="0" u="sng">
                          <a:solidFill>
                            <a:srgbClr val="00376E"/>
                          </a:solidFill>
                          <a:latin typeface="Arial"/>
                        </a:rPr>
                        <a:t>estas.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d) </a:t>
                      </a:r>
                      <a:r>
                        <a:rPr sz="1200" b="0" i="0" strike="sngStrike">
                          <a:solidFill>
                            <a:srgbClr val="B3261E"/>
                          </a:solidFill>
                          <a:latin typeface="Arial"/>
                        </a:rPr>
                        <a:t>Llevar y mantener actualizado el Libro de Actas</a:t>
                      </a:r>
                      <a:r>
                        <a:rPr sz="1200" b="0" i="0">
                          <a:solidFill>
                            <a:srgbClr val="1B2333"/>
                          </a:solidFill>
                          <a:latin typeface="Arial"/>
                        </a:rPr>
                        <a:t> de las sesiones </a:t>
                      </a:r>
                      <a:r>
                        <a:rPr sz="1200" b="0" i="0" strike="sngStrike">
                          <a:solidFill>
                            <a:srgbClr val="B3261E"/>
                          </a:solidFill>
                          <a:latin typeface="Arial"/>
                        </a:rPr>
                        <a:t>efectuadas.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d) De las sesiones </a:t>
                      </a:r>
                      <a:r>
                        <a:rPr sz="1200" b="1" i="0" u="sng">
                          <a:solidFill>
                            <a:srgbClr val="00376E"/>
                          </a:solidFill>
                          <a:latin typeface="Arial"/>
                        </a:rPr>
                        <a:t>que celebren en el Comité de Créditos se levantará acta. Las actas deberán ser levantadas de forma clara y detallada para comprender los fundamentos de los acuerdos tomados y de los temas conocidos. Se asentarán en el libro legal respectivo, bajo numeración secuencial.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f) Elaborar el Plan de trabajo anual y su respectivo presupuesto, y presentarlo al Consejo de Administración para su aprobación en el mes de Enero de cada año.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f) Elaborar el Plan de trabajo anual y su respectivo presupuesto, y presentarlo al Consejo de Administración para su aprobación, </a:t>
                      </a:r>
                      <a:r>
                        <a:rPr sz="1200" b="1" i="0" u="sng">
                          <a:solidFill>
                            <a:srgbClr val="00376E"/>
                          </a:solidFill>
                          <a:latin typeface="Arial"/>
                        </a:rPr>
                        <a:t>a más tardar</a:t>
                      </a:r>
                      <a:r>
                        <a:rPr sz="1200" b="0" i="0">
                          <a:solidFill>
                            <a:srgbClr val="1B2333"/>
                          </a:solidFill>
                          <a:latin typeface="Arial"/>
                        </a:rPr>
                        <a:t> en el mes de enero de cada año.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Créditos (2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g) Sugerir al Consejo de Administración, cambios en las Políticas de créditos, de acuerdo al entorno económico financiero </a:t>
                      </a:r>
                      <a:r>
                        <a:rPr sz="1200" b="0" i="0" strike="sngStrike">
                          <a:solidFill>
                            <a:srgbClr val="B3261E"/>
                          </a:solidFill>
                          <a:latin typeface="Arial"/>
                        </a:rPr>
                        <a:t>.</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g) Sugerir al Consejo de Administración, cambios en las Políticas de créditos, de acuerdo al entorno económico financiero </a:t>
                      </a:r>
                      <a:r>
                        <a:rPr sz="1200" b="1" i="0" u="sng">
                          <a:solidFill>
                            <a:srgbClr val="00376E"/>
                          </a:solidFill>
                          <a:latin typeface="Arial"/>
                        </a:rPr>
                        <a:t>nacional.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i) Asistir a actividades de formación, capacitaciones y a todas aquellas que fuesen convocadas por el Consejo de Administración </a:t>
                      </a:r>
                      <a:r>
                        <a:rPr sz="1200" b="0" i="0" strike="sngStrike">
                          <a:solidFill>
                            <a:srgbClr val="B3261E"/>
                          </a:solidFill>
                          <a:latin typeface="Arial"/>
                        </a:rPr>
                        <a:t>.</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i) Asistir a actividades de formación, capacitaciones y a todas aquellas que fuesen convocadas por el Consejo de Administración </a:t>
                      </a:r>
                      <a:r>
                        <a:rPr sz="1200" b="1" i="0" u="sng">
                          <a:solidFill>
                            <a:srgbClr val="00376E"/>
                          </a:solidFill>
                          <a:latin typeface="Arial"/>
                        </a:rPr>
                        <a:t>y otras Unidades de la Cooperativa para mantenerse actualizados en temas financieros y marco regulatorio y en prevención de Lavado de Dinero y de Activos, Financiamiento al Terrorismo y la Financiación de la Proliferación de Armas de Destrucción Masiva.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k) Programar y participar en reuniones </a:t>
                      </a:r>
                      <a:r>
                        <a:rPr sz="1200" b="0" i="0" strike="sngStrike">
                          <a:solidFill>
                            <a:srgbClr val="B3261E"/>
                          </a:solidFill>
                          <a:latin typeface="Arial"/>
                        </a:rPr>
                        <a:t>trimestrales</a:t>
                      </a:r>
                      <a:r>
                        <a:rPr sz="1200" b="0" i="0">
                          <a:solidFill>
                            <a:srgbClr val="1B2333"/>
                          </a:solidFill>
                          <a:latin typeface="Arial"/>
                        </a:rPr>
                        <a:t> con el Comité de Cobros y Recuperación </a:t>
                      </a:r>
                      <a:r>
                        <a:rPr sz="1200" b="0" i="0" strike="sngStrike">
                          <a:solidFill>
                            <a:srgbClr val="B3261E"/>
                          </a:solidFill>
                          <a:latin typeface="Arial"/>
                        </a:rPr>
                        <a:t>de Mora, y con , el Departamento jurídico</a:t>
                      </a:r>
                      <a:r>
                        <a:rPr sz="1200" b="0" i="0">
                          <a:solidFill>
                            <a:srgbClr val="1B2333"/>
                          </a:solidFill>
                          <a:latin typeface="Arial"/>
                        </a:rPr>
                        <a:t> cuando sea indispensable.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k) Programar y participar en reuniones con el Comité de Cobros y Recuperación, </a:t>
                      </a:r>
                      <a:r>
                        <a:rPr sz="1200" b="1" i="0" u="sng">
                          <a:solidFill>
                            <a:srgbClr val="00376E"/>
                          </a:solidFill>
                          <a:latin typeface="Arial"/>
                        </a:rPr>
                        <a:t>y con las unidades de la Cooperativa,</a:t>
                      </a:r>
                      <a:r>
                        <a:rPr sz="1200" b="0" i="0">
                          <a:solidFill>
                            <a:srgbClr val="1B2333"/>
                          </a:solidFill>
                          <a:latin typeface="Arial"/>
                        </a:rPr>
                        <a:t> cuando sea indispensable.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El Comité de Créditos </a:t>
                      </a:r>
                      <a:r>
                        <a:rPr sz="1200" b="0" i="0" strike="sngStrike">
                          <a:solidFill>
                            <a:srgbClr val="B3261E"/>
                          </a:solidFill>
                          <a:latin typeface="Arial"/>
                        </a:rPr>
                        <a:t>está</a:t>
                      </a:r>
                      <a:r>
                        <a:rPr sz="1200" b="0" i="0">
                          <a:solidFill>
                            <a:srgbClr val="1B2333"/>
                          </a:solidFill>
                          <a:latin typeface="Arial"/>
                        </a:rPr>
                        <a:t> integrado por un Presidente, un Secretario, un Vocal, Primero, </a:t>
                      </a:r>
                      <a:r>
                        <a:rPr sz="1200" b="0" i="0" strike="sngStrike">
                          <a:solidFill>
                            <a:srgbClr val="B3261E"/>
                          </a:solidFill>
                          <a:latin typeface="Arial"/>
                        </a:rPr>
                        <a:t>Segundo y Tercer</a:t>
                      </a:r>
                      <a:r>
                        <a:rPr sz="1200" b="0" i="0">
                          <a:solidFill>
                            <a:srgbClr val="1B2333"/>
                          </a:solidFill>
                          <a:latin typeface="Arial"/>
                        </a:rPr>
                        <a:t> Suplente nombrados por 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El Comité de Créditos </a:t>
                      </a:r>
                      <a:r>
                        <a:rPr sz="1200" b="1" i="0" u="sng">
                          <a:solidFill>
                            <a:srgbClr val="00376E"/>
                          </a:solidFill>
                          <a:latin typeface="Arial"/>
                        </a:rPr>
                        <a:t>estará</a:t>
                      </a:r>
                      <a:r>
                        <a:rPr sz="1200" b="0" i="0">
                          <a:solidFill>
                            <a:srgbClr val="1B2333"/>
                          </a:solidFill>
                          <a:latin typeface="Arial"/>
                        </a:rPr>
                        <a:t> integrado por un presidente, un secretario, un Vocal, Primero </a:t>
                      </a:r>
                      <a:r>
                        <a:rPr sz="1200" b="1" i="0" u="sng">
                          <a:solidFill>
                            <a:srgbClr val="00376E"/>
                          </a:solidFill>
                          <a:latin typeface="Arial"/>
                        </a:rPr>
                        <a:t>y Segundo</a:t>
                      </a:r>
                      <a:r>
                        <a:rPr sz="1200" b="0" i="0">
                          <a:solidFill>
                            <a:srgbClr val="1B2333"/>
                          </a:solidFill>
                          <a:latin typeface="Arial"/>
                        </a:rPr>
                        <a:t> Suplente nombrados por 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Créditos (3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89611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El Consejo de Administración está facultado para nombrar los Suplentes que considere necesarios para lograr la eficiencia en la aprobación de los créditos. Por lo menos un miembro del Consejo de Administración deberá formar parte de dicho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Los requisitos para ser miembro del Comité de Créditos se detallan en Anexo 3 del Código de Gobierno Corporativo.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Créditos (4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89611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a) El Comité se reunirá ordinariamente una vez por semana, a fin de resolver las solicitudes de créditos y </a:t>
                      </a:r>
                      <a:r>
                        <a:rPr sz="1200" b="0" i="0" strike="sngStrike">
                          <a:solidFill>
                            <a:srgbClr val="B3261E"/>
                          </a:solidFill>
                          <a:latin typeface="Arial"/>
                        </a:rPr>
                        <a:t>tarjeta de créditos</a:t>
                      </a:r>
                      <a:r>
                        <a:rPr sz="1200" b="0" i="0">
                          <a:solidFill>
                            <a:srgbClr val="1B2333"/>
                          </a:solidFill>
                          <a:latin typeface="Arial"/>
                        </a:rPr>
                        <a:t> y para desarrollar otras actividades o atribuciones establecidas por el Consejo de Administración; pudiendo sesionar de forma extraordinaria cuando las circunstancias lo ameriten.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a) El Comité se reunirá ordinariamente </a:t>
                      </a:r>
                      <a:r>
                        <a:rPr sz="1200" b="1" i="0" u="sng">
                          <a:solidFill>
                            <a:srgbClr val="00376E"/>
                          </a:solidFill>
                          <a:latin typeface="Arial"/>
                        </a:rPr>
                        <a:t>al menos</a:t>
                      </a:r>
                      <a:r>
                        <a:rPr sz="1200" b="0" i="0">
                          <a:solidFill>
                            <a:srgbClr val="1B2333"/>
                          </a:solidFill>
                          <a:latin typeface="Arial"/>
                        </a:rPr>
                        <a:t> una vez por semana a fin de resolver las solicitudes de créditos y </a:t>
                      </a:r>
                      <a:r>
                        <a:rPr sz="1200" b="1" i="0" u="sng">
                          <a:solidFill>
                            <a:srgbClr val="00376E"/>
                          </a:solidFill>
                          <a:latin typeface="Arial"/>
                        </a:rPr>
                        <a:t>tarjetas de crédito</a:t>
                      </a:r>
                      <a:r>
                        <a:rPr sz="1200" b="0" i="0">
                          <a:solidFill>
                            <a:srgbClr val="1B2333"/>
                          </a:solidFill>
                          <a:latin typeface="Arial"/>
                        </a:rPr>
                        <a:t> y para desarrollar otras actividades o atribuciones establecidas por el Consejo de Administración; pudiendo sesionar de forma extraordinaria cuando las circunstancias lo ameriten. </a:t>
                      </a:r>
                      <a:r>
                        <a:rPr sz="1200" b="1" i="0" u="sng">
                          <a:solidFill>
                            <a:srgbClr val="00376E"/>
                          </a:solidFill>
                          <a:latin typeface="Arial"/>
                        </a:rPr>
                        <a:t>Los suplentes concurrirán a las sesiones del Comité únicamente con voz, excepto cuando suplan a los propietarios en cuyo caso tendrán voto. La presencia de dos de sus miembros constituirá quórum, ya sea propietario o suplente. El secretario del Comité llevará el Libro de Actas respectivo y si en alguna sesión faltare y no están presentes los suplentes, hará sus veces el Vocal.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b) </a:t>
                      </a:r>
                      <a:r>
                        <a:rPr sz="1200" b="1" i="0" u="sng">
                          <a:solidFill>
                            <a:srgbClr val="00376E"/>
                          </a:solidFill>
                          <a:latin typeface="Arial"/>
                        </a:rPr>
                        <a:t>Las resoluciones de solicitudes de créditos que el Comité determine deberán ser firmadas por todos los miembros presentes en la sesión. En caso de que un miembro no esté de acuerdo en alguna resolución tomada por la mayoría deberá dejarlo consignado dando sus razonamientos.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Créditos (5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 </a:t>
                      </a:r>
                      <a:r>
                        <a:rPr sz="1200" b="1" i="0" u="sng">
                          <a:solidFill>
                            <a:srgbClr val="00376E"/>
                          </a:solidFill>
                          <a:latin typeface="Arial"/>
                        </a:rPr>
                        <a:t>Los análisis y resoluciones del Comité de Créditos, tomará como base la documentación presentada por el asociado y las instancias correspondientes, así como las opiniones de los analistas, jefe de Créditos y de las Gerencias; pudiendo solicitar información y opiniones adicionales.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d) </a:t>
                      </a:r>
                      <a:r>
                        <a:rPr sz="1200" b="1" i="0" u="sng">
                          <a:solidFill>
                            <a:srgbClr val="00376E"/>
                          </a:solidFill>
                          <a:latin typeface="Arial"/>
                        </a:rPr>
                        <a:t>El Comité recibirá la información necesaria para conocer las condiciones financieras, económicas y crediticias nacionales, que necesite para su mejor desempeño por lo que recibirá copia de: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 </a:t>
                      </a:r>
                      <a:r>
                        <a:rPr sz="1200" b="1" i="0" u="sng">
                          <a:solidFill>
                            <a:srgbClr val="00376E"/>
                          </a:solidFill>
                          <a:latin typeface="Arial"/>
                        </a:rPr>
                        <a:t>Todos los acuerdos y otras decisiones del Consejo de Administración que correspondan a Políticas, procedimientos y lineamientos sobre el proceso financiero y crediticio de COMEDICA de R.L.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 </a:t>
                      </a:r>
                      <a:r>
                        <a:rPr sz="1200" b="1" i="0" u="sng">
                          <a:solidFill>
                            <a:srgbClr val="00376E"/>
                          </a:solidFill>
                          <a:latin typeface="Arial"/>
                        </a:rPr>
                        <a:t>De las opiniones y observaciones que sobre la organización y funcionamiento del Comité de Créditos le haga la Junta de Vigilancia directamente o a través del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Créditos (6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62179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 </a:t>
                      </a:r>
                      <a:r>
                        <a:rPr sz="1200" b="1" i="0" u="sng">
                          <a:solidFill>
                            <a:srgbClr val="00376E"/>
                          </a:solidFill>
                          <a:latin typeface="Arial"/>
                        </a:rPr>
                        <a:t>Información sobre las condiciones de mora, así como de las variables de los usuarios en mora, que presenta las gerencias de la Cooperativa; y de los procesos en recuperación judicial de préstamos que el Comité de Cobros y Recuperación presente.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Educación (1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Objetivos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Promover y difundir de los servicios y beneficios de COMEDICA entre los asociados o los aspirantes a asociarse, así como de procurar la superación científica y cultural de los miembros de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Promover y difundir de los servicios y beneficios de COMEDICA </a:t>
                      </a:r>
                      <a:r>
                        <a:rPr sz="1200" b="1" i="0" u="sng">
                          <a:solidFill>
                            <a:srgbClr val="00376E"/>
                          </a:solidFill>
                          <a:latin typeface="Arial"/>
                        </a:rPr>
                        <a:t>de R.L.</a:t>
                      </a:r>
                      <a:r>
                        <a:rPr sz="1200" b="0" i="0">
                          <a:solidFill>
                            <a:srgbClr val="1B2333"/>
                          </a:solidFill>
                          <a:latin typeface="Arial"/>
                        </a:rPr>
                        <a:t> entre los asociados o los aspirantes a asociarse, así como de procurar la superación científica y cultural de los miembros de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20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 Elaborar y someter al Consejo de Administración el Plan Anual de Trabajo y el Presupuesto correspondiente, para su aprobación durante los primeros quince días del mes de diciembre.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 Elaborar y someter al Consejo de Administración el Plan Anual de Trabajo y el Presupuesto correspondiente, para su aprobación durante los primeros quince días del mes de diciembre </a:t>
                      </a:r>
                      <a:r>
                        <a:rPr sz="1200" b="1" i="0" u="sng">
                          <a:solidFill>
                            <a:srgbClr val="00376E"/>
                          </a:solidFill>
                          <a:latin typeface="Arial"/>
                        </a:rPr>
                        <a:t>de cada año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21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 Organizar e impartir el Curso Básico de Cooperativismo, por lo menos una vez al mes, en San Salvador, y según demanda, en el interior del país. Los cursos se </a:t>
                      </a:r>
                      <a:r>
                        <a:rPr sz="1200" b="0" i="0" strike="sngStrike">
                          <a:solidFill>
                            <a:srgbClr val="B3261E"/>
                          </a:solidFill>
                          <a:latin typeface="Arial"/>
                        </a:rPr>
                        <a:t>realizaran</a:t>
                      </a:r>
                      <a:r>
                        <a:rPr sz="1200" b="0" i="0">
                          <a:solidFill>
                            <a:srgbClr val="1B2333"/>
                          </a:solidFill>
                          <a:latin typeface="Arial"/>
                        </a:rPr>
                        <a:t> de acuerdo a pedido expreso por parte de los aspirantes a asociarse; cuando su número así lo requiera, como apoyo al curso virtual en la página Web.</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 Organizar e impartir el Curso Básico de Cooperativismo, por lo menos una vez al mes, en San Salvador, y según demanda, en el interior del país. Los cursos se </a:t>
                      </a:r>
                      <a:r>
                        <a:rPr sz="1200" b="1" i="0" u="sng">
                          <a:solidFill>
                            <a:srgbClr val="00376E"/>
                          </a:solidFill>
                          <a:latin typeface="Arial"/>
                        </a:rPr>
                        <a:t>realizarán</a:t>
                      </a:r>
                      <a:r>
                        <a:rPr sz="1200" b="0" i="0">
                          <a:solidFill>
                            <a:srgbClr val="1B2333"/>
                          </a:solidFill>
                          <a:latin typeface="Arial"/>
                        </a:rPr>
                        <a:t> de acuerdo a pedido expreso por parte de los aspirantes a asociarse; cuando su número así lo requiera, como apoyo al curso virtual en la página Web.</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Educación (2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89611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22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i) Elaborar el Plan Anual de Capacitaciones de acuerdo a las necesidades y presupuesto asignado para ello, de los Cuerpos Directivos y Comités de COMEDICA </a:t>
                      </a:r>
                      <a:r>
                        <a:rPr sz="1200" b="0" i="0" strike="sngStrike">
                          <a:solidFill>
                            <a:srgbClr val="B3261E"/>
                          </a:solidFill>
                          <a:latin typeface="Arial"/>
                        </a:rPr>
                        <a:t>,</a:t>
                      </a:r>
                      <a:r>
                        <a:rPr sz="1200" b="0" i="0">
                          <a:solidFill>
                            <a:srgbClr val="1B2333"/>
                          </a:solidFill>
                          <a:latin typeface="Arial"/>
                        </a:rPr>
                        <a:t> coordinando estas actividades con el Plan de Capacitación de los funcionarios y empleados de COMEDICA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i) Elaborar el Plan Anual de Capacitaciones de acuerdo a las necesidades y presupuesto asignado para ello, de los Cuerpos Directivos y Comités de COMEDICA </a:t>
                      </a:r>
                      <a:r>
                        <a:rPr sz="1200" b="1" i="0" u="sng">
                          <a:solidFill>
                            <a:srgbClr val="00376E"/>
                          </a:solidFill>
                          <a:latin typeface="Arial"/>
                        </a:rPr>
                        <a:t>de R.L.,</a:t>
                      </a:r>
                      <a:r>
                        <a:rPr sz="1200" b="0" i="0">
                          <a:solidFill>
                            <a:srgbClr val="1B2333"/>
                          </a:solidFill>
                          <a:latin typeface="Arial"/>
                        </a:rPr>
                        <a:t> coordinando estas actividades con el Plan de Capacitación de los funcionarios y empleados de COMEDICA </a:t>
                      </a:r>
                      <a:r>
                        <a:rPr sz="1200" b="1" i="0" u="sng">
                          <a:solidFill>
                            <a:srgbClr val="00376E"/>
                          </a:solidFill>
                          <a:latin typeface="Arial"/>
                        </a:rPr>
                        <a:t>de R.L.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23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El Comité estará integrado por </a:t>
                      </a:r>
                      <a:r>
                        <a:rPr sz="1200" b="0" i="0" strike="sngStrike">
                          <a:solidFill>
                            <a:srgbClr val="B3261E"/>
                          </a:solidFill>
                          <a:latin typeface="Arial"/>
                        </a:rPr>
                        <a:t>un Presidente, un Secretario, un Vocal y un Suplente</a:t>
                      </a:r>
                      <a:r>
                        <a:rPr sz="1200" b="0" i="0">
                          <a:solidFill>
                            <a:srgbClr val="1B2333"/>
                          </a:solidFill>
                          <a:latin typeface="Arial"/>
                        </a:rPr>
                        <a:t> nombrados por 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El Comité estará integrado por: </a:t>
                      </a:r>
                      <a:r>
                        <a:rPr sz="1200" b="1" i="0" u="sng">
                          <a:solidFill>
                            <a:srgbClr val="00376E"/>
                          </a:solidFill>
                          <a:latin typeface="Arial"/>
                        </a:rPr>
                        <a:t>a) Un presidente quien dirigirá las sesiones y será el representante nato del Comité; b) un secretario, encargado de elaborar las actas de las sesiones y la correspondencia; y de llevar el control de gastos del fondo de educación. c) un Vocal, quien reemplazará al presidente o al secretario en caso de ausencia, y será el responsable del plan de capacitación, de su control y evaluación, d) Suplente, quien sustituirá al Vocal cuando éste se encuentre ausente o sustituyendo al presidente o al secretario y será el responsable de las publicaciones del Comité. Todos serán</a:t>
                      </a:r>
                      <a:r>
                        <a:rPr sz="1200" b="0" i="0">
                          <a:solidFill>
                            <a:srgbClr val="1B2333"/>
                          </a:solidFill>
                          <a:latin typeface="Arial"/>
                        </a:rPr>
                        <a:t> nombrados por 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Educación (3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71907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24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Los requisitos para ser miembro del Comité de Educación se detallan en Anexo 6 del Código de Gobierno Corporativo.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25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 </a:t>
                      </a:r>
                      <a:r>
                        <a:rPr sz="1200" b="0" i="0" strike="sngStrike">
                          <a:solidFill>
                            <a:srgbClr val="B3261E"/>
                          </a:solidFill>
                          <a:latin typeface="Arial"/>
                        </a:rPr>
                        <a:t>Las sesiones del Comité de Educación son de dos clases: Ordinarias y Extraordinarias. Las ordinarias se celebran una vez por semana, el día, hora y lugar que se establezca de común acuerdo por los integrantes. Su duración dependerá de la agenda propuesta por el Secretario.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B3261E"/>
                          </a:solidFill>
                          <a:latin typeface="Arial"/>
                        </a:rPr>
                        <a:t>Se elimina.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B3261E"/>
                          </a:solidFill>
                          <a:latin typeface="Arial"/>
                        </a:rPr>
                        <a:t>Eliminado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26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b) </a:t>
                      </a:r>
                      <a:r>
                        <a:rPr sz="1200" b="1" i="0" u="sng">
                          <a:solidFill>
                            <a:srgbClr val="00376E"/>
                          </a:solidFill>
                          <a:latin typeface="Arial"/>
                        </a:rPr>
                        <a:t>Para ser válida la sesión se necesita que exista quórum con la presencia mínima de dos miembros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27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 </a:t>
                      </a:r>
                      <a:r>
                        <a:rPr sz="1200" b="1" i="0" u="sng">
                          <a:solidFill>
                            <a:srgbClr val="00376E"/>
                          </a:solidFill>
                          <a:latin typeface="Arial"/>
                        </a:rPr>
                        <a:t>El desarrollo de la sesión del Comité estará regulado así: a) El presidente verificara el quórum y abre la sesión, b) El secretario propone la Agenda, la cual, una vez aprobada por consenso o mayoría simple, se procede a discusión.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28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 </a:t>
                      </a:r>
                      <a:r>
                        <a:rPr sz="1200" b="1" i="0" u="sng">
                          <a:solidFill>
                            <a:srgbClr val="00376E"/>
                          </a:solidFill>
                          <a:latin typeface="Arial"/>
                        </a:rPr>
                        <a:t>En las sesiones cada uno de los Miembros del Comité de Educación dará un informe sobre sus funciones y asignaciones.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Educación (4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29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 </a:t>
                      </a:r>
                      <a:r>
                        <a:rPr sz="1200" b="1" i="0" u="sng">
                          <a:solidFill>
                            <a:srgbClr val="00376E"/>
                          </a:solidFill>
                          <a:latin typeface="Arial"/>
                        </a:rPr>
                        <a:t>Sus resoluciones o acuerdos se tomarán por mayoría de votos y en caso de empate el presidente, o quien haga sus veces, tendrá doble voto.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30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f) </a:t>
                      </a:r>
                      <a:r>
                        <a:rPr sz="1200" b="1" i="0" u="sng">
                          <a:solidFill>
                            <a:srgbClr val="00376E"/>
                          </a:solidFill>
                          <a:latin typeface="Arial"/>
                        </a:rPr>
                        <a:t>En cada Agenda se incorporará el Ítem Puntos Varios, los cuales, si los hubiere, serán acordados antes del inicio de la sesión correspondiente.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31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g) </a:t>
                      </a:r>
                      <a:r>
                        <a:rPr sz="1200" b="1" i="0" u="sng">
                          <a:solidFill>
                            <a:srgbClr val="00376E"/>
                          </a:solidFill>
                          <a:latin typeface="Arial"/>
                        </a:rPr>
                        <a:t>Cuando un miembro ya sea propietario o que haga las veces de éste, se integre a la sesión en el curso de un punto en discusión, podrá emitir su opinión, pero no tendrá voto hasta finalizar dicho punto. Integrándose de pleno inmediatamente después. Los integrantes propietarios del Comité tienen pleno derecho de voz y voto en las decisiones, y el miembro suplente tendrá derecho a voz, y solo en caso de sustituir a un propietario tendrá derecho a voto. El miembro representante de la Junta de Vigilancia, sí lo hubiere, tendrá derecho a voz, pero no a voto. El retiro de un miembro antes de finalizar la sesión deberá ser justificado y contar con la anuencia del presidente.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Educación (5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32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h) </a:t>
                      </a:r>
                      <a:r>
                        <a:rPr sz="1200" b="1" i="0" u="sng">
                          <a:solidFill>
                            <a:srgbClr val="00376E"/>
                          </a:solidFill>
                          <a:latin typeface="Arial"/>
                        </a:rPr>
                        <a:t>El presidente dirigirá la sesión y mantendrá el orden en la exposición de los puntos tratados. Dará la palabra en el orden solicitado regulando en todo momento la reunión.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33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i) </a:t>
                      </a:r>
                      <a:r>
                        <a:rPr sz="1200" b="1" i="0" u="sng">
                          <a:solidFill>
                            <a:srgbClr val="00376E"/>
                          </a:solidFill>
                          <a:latin typeface="Arial"/>
                        </a:rPr>
                        <a:t>En cada sesión, el presidente informará en lo pertinente al Comité, lo tratado en el Consejo de Administración. El secretario dará lectura al acta de la sesión anterior la cual será sometida a discusión para su aprobación y posterior impresión en Libro de Actas.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34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j) </a:t>
                      </a:r>
                      <a:r>
                        <a:rPr sz="1200" b="1" i="0" u="sng">
                          <a:solidFill>
                            <a:srgbClr val="00376E"/>
                          </a:solidFill>
                          <a:latin typeface="Arial"/>
                        </a:rPr>
                        <a:t>El Comité deliberará cada punto de la Agenda y resolverá lo conveniente de acuerdo a las estipulaciones legales. Todos los miembros asistentes serán responsables de los acuerdos y otras decisiones que tomen, excepto que dejen constancia en el acta de su voto negativo, razonándolo. Los acuerdos deberán codificarse para su mejor control y evaluación.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Educación (6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35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k) </a:t>
                      </a:r>
                      <a:r>
                        <a:rPr sz="1200" b="1" i="0" u="sng">
                          <a:solidFill>
                            <a:srgbClr val="00376E"/>
                          </a:solidFill>
                          <a:latin typeface="Arial"/>
                        </a:rPr>
                        <a:t>Las actas serán breves, concisas, y orientadas a recoger lo esencial de lo tratado en cada sesión, agregándose la documentación necesaria cuando fuese pertinente. Una vez impresas en el libro legal serán firmadas por el presidente, secretario y Vocal en el libro respectivo. El miembro suplente firmara las actas cuando actúe como propietario durante toda la sesión. Semanalmente se enviará copia del acta a la Junta de Vigilancia.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36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l) </a:t>
                      </a:r>
                      <a:r>
                        <a:rPr sz="1200" b="1" i="0" u="sng">
                          <a:solidFill>
                            <a:srgbClr val="00376E"/>
                          </a:solidFill>
                          <a:latin typeface="Arial"/>
                        </a:rPr>
                        <a:t>Cuando sea conveniente se realizarán sesiones de trabajo conjuntas con otros Cuerpos Directivos o Personal Administrativo, según sean los puntos a tratar. La regulación de estas sesiones serán las mismas establecidas en este Reglamento.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37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m) </a:t>
                      </a:r>
                      <a:r>
                        <a:rPr sz="1200" b="1" i="0" u="sng">
                          <a:solidFill>
                            <a:srgbClr val="00376E"/>
                          </a:solidFill>
                          <a:latin typeface="Arial"/>
                        </a:rPr>
                        <a:t>El jefe del Departamento de Educación y Responsabilidad Social preparará la documentación necesaria, en coordinación con el secretario, y su participación en las sesiones estará sujeta a la naturaleza de los asuntos a tratar.</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Comité de Cobros y Recuperación de Préstamos en Mora (1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71907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38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Objetivos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Proponer alternativas para mantener el índice de mora legal en rangos aceptables de acuerdo a los indicadores establecidos por la Superintendencia del Sistema Financiero y proponer soluciones a los Asociados con problemas de mora.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Proponer alternativas para mantener el índice de mora legal en rangos aceptables de acuerdo a los indicadores establecidos por la Superintendencia del Sistema Financiero y proponer soluciones a los Asociados </a:t>
                      </a:r>
                      <a:r>
                        <a:rPr sz="1200" b="1" i="0" u="sng">
                          <a:solidFill>
                            <a:srgbClr val="00376E"/>
                          </a:solidFill>
                          <a:latin typeface="Arial"/>
                        </a:rPr>
                        <a:t>y clientes</a:t>
                      </a:r>
                      <a:r>
                        <a:rPr sz="1200" b="0" i="0">
                          <a:solidFill>
                            <a:srgbClr val="1B2333"/>
                          </a:solidFill>
                          <a:latin typeface="Arial"/>
                        </a:rPr>
                        <a:t> con problemas de mora.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39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strike="sngStrike">
                          <a:solidFill>
                            <a:srgbClr val="B3261E"/>
                          </a:solidFill>
                          <a:latin typeface="Arial"/>
                        </a:rPr>
                        <a:t>Corresponde al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El comité de Cobros y Recuperación tendrá las responsabilidades siguientes: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40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b) Analizar, Discutir y Aprobar las propuestas de solución presentadas por el Departamento de </a:t>
                      </a:r>
                      <a:r>
                        <a:rPr sz="1200" b="0" i="0" strike="sngStrike">
                          <a:solidFill>
                            <a:srgbClr val="B3261E"/>
                          </a:solidFill>
                          <a:latin typeface="Arial"/>
                        </a:rPr>
                        <a:t>Cobros y Recuperación</a:t>
                      </a:r>
                      <a:r>
                        <a:rPr sz="1200" b="0" i="0">
                          <a:solidFill>
                            <a:srgbClr val="1B2333"/>
                          </a:solidFill>
                          <a:latin typeface="Arial"/>
                        </a:rPr>
                        <a:t> en relación a </a:t>
                      </a:r>
                      <a:r>
                        <a:rPr sz="1200" b="0" i="0" strike="sngStrike">
                          <a:solidFill>
                            <a:srgbClr val="B3261E"/>
                          </a:solidFill>
                          <a:latin typeface="Arial"/>
                        </a:rPr>
                        <a:t>los problemas de morosidad o dificultades de</a:t>
                      </a:r>
                      <a:r>
                        <a:rPr sz="1200" b="0" i="0">
                          <a:solidFill>
                            <a:srgbClr val="1B2333"/>
                          </a:solidFill>
                          <a:latin typeface="Arial"/>
                        </a:rPr>
                        <a:t> los asociados y clientes para cumplir con las obligaciones crediticias adquiridas con la cooperativa, </a:t>
                      </a:r>
                      <a:r>
                        <a:rPr sz="1200" b="0" i="0" strike="sngStrike">
                          <a:solidFill>
                            <a:srgbClr val="B3261E"/>
                          </a:solidFill>
                          <a:latin typeface="Arial"/>
                        </a:rPr>
                        <a:t>de acuerdo a su capacidad económica, sin afectar los intereses de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b) Analizar, Discutir y Aprobar las propuestas de solución presentadas por el Departamento de </a:t>
                      </a:r>
                      <a:r>
                        <a:rPr sz="1200" b="1" i="0" u="sng">
                          <a:solidFill>
                            <a:srgbClr val="00376E"/>
                          </a:solidFill>
                          <a:latin typeface="Arial"/>
                        </a:rPr>
                        <a:t>Soluciones Financieras</a:t>
                      </a:r>
                      <a:r>
                        <a:rPr sz="1200" b="0" i="0">
                          <a:solidFill>
                            <a:srgbClr val="1B2333"/>
                          </a:solidFill>
                          <a:latin typeface="Arial"/>
                        </a:rPr>
                        <a:t> en relación a </a:t>
                      </a:r>
                      <a:r>
                        <a:rPr sz="1200" b="1" i="0" u="sng">
                          <a:solidFill>
                            <a:srgbClr val="00376E"/>
                          </a:solidFill>
                          <a:latin typeface="Arial"/>
                        </a:rPr>
                        <a:t>las dificultades que presentan</a:t>
                      </a:r>
                      <a:r>
                        <a:rPr sz="1200" b="0" i="0">
                          <a:solidFill>
                            <a:srgbClr val="1B2333"/>
                          </a:solidFill>
                          <a:latin typeface="Arial"/>
                        </a:rPr>
                        <a:t> los asociados y clientes para cumplir con las obligaciones crediticias adquiridas con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41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 </a:t>
                      </a:r>
                      <a:r>
                        <a:rPr sz="1200" b="0" i="0" strike="sngStrike">
                          <a:solidFill>
                            <a:srgbClr val="B3261E"/>
                          </a:solidFill>
                          <a:latin typeface="Arial"/>
                        </a:rPr>
                        <a:t>Aprobar los casos que se trasladarán al cobro extrajudicial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 </a:t>
                      </a:r>
                      <a:r>
                        <a:rPr sz="1200" b="1" i="0" u="sng">
                          <a:solidFill>
                            <a:srgbClr val="00376E"/>
                          </a:solidFill>
                          <a:latin typeface="Arial"/>
                        </a:rPr>
                        <a:t>Proponer alternativas de solución de los préstamos y tarjetas de crédito en mora.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42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 Dar seguimiento a los casos que </a:t>
                      </a:r>
                      <a:r>
                        <a:rPr sz="1200" b="0" i="0" strike="sngStrike">
                          <a:solidFill>
                            <a:srgbClr val="B3261E"/>
                          </a:solidFill>
                          <a:latin typeface="Arial"/>
                        </a:rPr>
                        <a:t>han sido aprobados para ser trasladados a recuperación extrajudicial.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 </a:t>
                      </a:r>
                      <a:r>
                        <a:rPr sz="1200" b="1" i="0" u="sng">
                          <a:solidFill>
                            <a:srgbClr val="00376E"/>
                          </a:solidFill>
                          <a:latin typeface="Arial"/>
                        </a:rPr>
                        <a:t>Aprobar y</a:t>
                      </a:r>
                      <a:r>
                        <a:rPr sz="1200" b="0" i="0">
                          <a:solidFill>
                            <a:srgbClr val="1B2333"/>
                          </a:solidFill>
                          <a:latin typeface="Arial"/>
                        </a:rPr>
                        <a:t> dar seguimiento a los casos que </a:t>
                      </a:r>
                      <a:r>
                        <a:rPr sz="1200" b="1" i="0" u="sng">
                          <a:solidFill>
                            <a:srgbClr val="00376E"/>
                          </a:solidFill>
                          <a:latin typeface="Arial"/>
                        </a:rPr>
                        <a:t>se trasladarán al cobro prejudicial.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Comité de Cobros y Recuperación de Préstamos en Mora (2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43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 </a:t>
                      </a:r>
                      <a:r>
                        <a:rPr sz="1200" b="0" i="0" strike="sngStrike">
                          <a:solidFill>
                            <a:srgbClr val="B3261E"/>
                          </a:solidFill>
                          <a:latin typeface="Arial"/>
                        </a:rPr>
                        <a:t>Aprobar</a:t>
                      </a:r>
                      <a:r>
                        <a:rPr sz="1200" b="0" i="0">
                          <a:solidFill>
                            <a:srgbClr val="1B2333"/>
                          </a:solidFill>
                          <a:latin typeface="Arial"/>
                        </a:rPr>
                        <a:t> los casos que </a:t>
                      </a:r>
                      <a:r>
                        <a:rPr sz="1200" b="0" i="0" strike="sngStrike">
                          <a:solidFill>
                            <a:srgbClr val="B3261E"/>
                          </a:solidFill>
                          <a:latin typeface="Arial"/>
                        </a:rPr>
                        <a:t>se trasladarán al cobro por la vía judicial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 </a:t>
                      </a:r>
                      <a:r>
                        <a:rPr sz="1200" b="1" i="0" u="sng">
                          <a:solidFill>
                            <a:srgbClr val="00376E"/>
                          </a:solidFill>
                          <a:latin typeface="Arial"/>
                        </a:rPr>
                        <a:t>Dar seguimiento a</a:t>
                      </a:r>
                      <a:r>
                        <a:rPr sz="1200" b="0" i="0">
                          <a:solidFill>
                            <a:srgbClr val="1B2333"/>
                          </a:solidFill>
                          <a:latin typeface="Arial"/>
                        </a:rPr>
                        <a:t> los casos que </a:t>
                      </a:r>
                      <a:r>
                        <a:rPr sz="1200" b="1" i="0" u="sng">
                          <a:solidFill>
                            <a:srgbClr val="00376E"/>
                          </a:solidFill>
                          <a:latin typeface="Arial"/>
                        </a:rPr>
                        <a:t>han sido aprobados para ser trasladados a recuperación extrajudicial.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44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f) </a:t>
                      </a:r>
                      <a:r>
                        <a:rPr sz="1200" b="0" i="0" strike="sngStrike">
                          <a:solidFill>
                            <a:srgbClr val="B3261E"/>
                          </a:solidFill>
                          <a:latin typeface="Arial"/>
                        </a:rPr>
                        <a:t>Dar seguimiento mensual a los casos que han sido aprobados para ser trasladados a recuperación por la vía judicial en los últimos 30 días.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f) </a:t>
                      </a:r>
                      <a:r>
                        <a:rPr sz="1200" b="1" i="0" u="sng">
                          <a:solidFill>
                            <a:srgbClr val="00376E"/>
                          </a:solidFill>
                          <a:latin typeface="Arial"/>
                        </a:rPr>
                        <a:t>Llevar un Libro de Actas de las sesiones ordinarias y extraordinarias. Levantar un acta por cada sesión, la cual se leerá y ratificará en la próxima reunión para hacer los asientos respectivos. El Libro se deberá mantener debidamente actualizado.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45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g) </a:t>
                      </a:r>
                      <a:r>
                        <a:rPr sz="1200" b="0" i="0" strike="sngStrike">
                          <a:solidFill>
                            <a:srgbClr val="B3261E"/>
                          </a:solidFill>
                          <a:latin typeface="Arial"/>
                        </a:rPr>
                        <a:t>Revisar trimestralmente los avances de los casos de la cartera judicial.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g) </a:t>
                      </a:r>
                      <a:r>
                        <a:rPr sz="1200" b="1" i="0" u="sng">
                          <a:solidFill>
                            <a:srgbClr val="00376E"/>
                          </a:solidFill>
                          <a:latin typeface="Arial"/>
                        </a:rPr>
                        <a:t>Presentar al Consejo de Administración un informe mensual de sus actividades y, asimismo presentar un informe anual de labores al Consejo de Administración para que a su vez sea presentado a la Asamblea General de Asociados. De este Informe enviará copia a la Junta de Vigilancia.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46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h) </a:t>
                      </a:r>
                      <a:r>
                        <a:rPr sz="1200" b="0" i="0" strike="sngStrike">
                          <a:solidFill>
                            <a:srgbClr val="B3261E"/>
                          </a:solidFill>
                          <a:latin typeface="Arial"/>
                        </a:rPr>
                        <a:t>Llevar un Libro de Actas de las sesiones ordinarias y extraordinarias. Levantar un acta por cada sesión, la cual se leerá y ratificará en la próxima reunión para hacer los asientos respectivos. El Libro se deberá mantener debidamente actualizado.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h) </a:t>
                      </a:r>
                      <a:r>
                        <a:rPr sz="1200" b="1" i="0" u="sng">
                          <a:solidFill>
                            <a:srgbClr val="00376E"/>
                          </a:solidFill>
                          <a:latin typeface="Arial"/>
                        </a:rPr>
                        <a:t>Revisar el Reglamento y las Políticas para la recuperación, con el fin de proponer al Consejo de Administración los cambios necesarios.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Comité de Cobros y Recuperación de Préstamos en Mora (3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47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i) </a:t>
                      </a:r>
                      <a:r>
                        <a:rPr sz="1200" b="0" i="0" strike="sngStrike">
                          <a:solidFill>
                            <a:srgbClr val="B3261E"/>
                          </a:solidFill>
                          <a:latin typeface="Arial"/>
                        </a:rPr>
                        <a:t>Presentar al</a:t>
                      </a:r>
                      <a:r>
                        <a:rPr sz="1200" b="0" i="0">
                          <a:solidFill>
                            <a:srgbClr val="1B2333"/>
                          </a:solidFill>
                          <a:latin typeface="Arial"/>
                        </a:rPr>
                        <a:t> Consejo de Administración </a:t>
                      </a:r>
                      <a:r>
                        <a:rPr sz="1200" b="0" i="0" strike="sngStrike">
                          <a:solidFill>
                            <a:srgbClr val="B3261E"/>
                          </a:solidFill>
                          <a:latin typeface="Arial"/>
                        </a:rPr>
                        <a:t>un informe mensual de sus actividades y, anualmente presentar un informe de labores para ser trasladado por el Consejo de Administración a la Asamblea General de Asociados donde podrá incluir las observaciones y recomendaciones que estime conveniente para el mejoramiento de sus funciones. De este Informe enviará copia a la Junta de Vigilancia.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i) </a:t>
                      </a:r>
                      <a:r>
                        <a:rPr sz="1200" b="1" i="0" u="sng">
                          <a:solidFill>
                            <a:srgbClr val="00376E"/>
                          </a:solidFill>
                          <a:latin typeface="Arial"/>
                        </a:rPr>
                        <a:t>Elaborar el Plan de trabajo anual y su respectivo presupuesto, a solicitud del</a:t>
                      </a:r>
                      <a:r>
                        <a:rPr sz="1200" b="0" i="0">
                          <a:solidFill>
                            <a:srgbClr val="1B2333"/>
                          </a:solidFill>
                          <a:latin typeface="Arial"/>
                        </a:rPr>
                        <a:t> Consejo de Administración </a:t>
                      </a:r>
                      <a:r>
                        <a:rPr sz="1200" b="1" i="0" u="sng">
                          <a:solidFill>
                            <a:srgbClr val="00376E"/>
                          </a:solidFill>
                          <a:latin typeface="Arial"/>
                        </a:rPr>
                        <a:t>para su aprobación.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48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j) </a:t>
                      </a:r>
                      <a:r>
                        <a:rPr sz="1200" b="0" i="0" strike="sngStrike">
                          <a:solidFill>
                            <a:srgbClr val="B3261E"/>
                          </a:solidFill>
                          <a:latin typeface="Arial"/>
                        </a:rPr>
                        <a:t>Revisar el Reglamento y las Políticas para la recuperación, con el fin de proponer al Consejo de Administración los cambios necesarios.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j) </a:t>
                      </a:r>
                      <a:r>
                        <a:rPr sz="1200" b="1" i="0" u="sng">
                          <a:solidFill>
                            <a:srgbClr val="00376E"/>
                          </a:solidFill>
                          <a:latin typeface="Arial"/>
                        </a:rPr>
                        <a:t>Cuando lo considere necesario, podrá programar y participar en reuniones conjuntas con el Comité de Créditos.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49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k) </a:t>
                      </a:r>
                      <a:r>
                        <a:rPr sz="1200" b="0" i="0" strike="sngStrike">
                          <a:solidFill>
                            <a:srgbClr val="B3261E"/>
                          </a:solidFill>
                          <a:latin typeface="Arial"/>
                        </a:rPr>
                        <a:t>Elaborar el Plan de trabajo anual y su respectivo presupuesto, y presentarlo al Consejo de Administración para su aprobación.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k) </a:t>
                      </a:r>
                      <a:r>
                        <a:rPr sz="1200" b="1" i="0" u="sng">
                          <a:solidFill>
                            <a:srgbClr val="00376E"/>
                          </a:solidFill>
                          <a:latin typeface="Arial"/>
                        </a:rPr>
                        <a:t>Solicitar al Departamento de Soluciones Financieras, reportes con relación al estado de la cartera, saldos en mora o cualquier otra información que considere necesaria.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50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l) </a:t>
                      </a:r>
                      <a:r>
                        <a:rPr sz="1200" b="0" i="0" strike="sngStrike">
                          <a:solidFill>
                            <a:srgbClr val="B3261E"/>
                          </a:solidFill>
                          <a:latin typeface="Arial"/>
                        </a:rPr>
                        <a:t>Programar y participar en reuniones conjuntas, semestralmente con el Comité de Créditos y cuando lo considere necesario podrá invitar a miembros de otros departamentos.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l) </a:t>
                      </a:r>
                      <a:r>
                        <a:rPr sz="1200" b="1" i="0" u="sng">
                          <a:solidFill>
                            <a:srgbClr val="00376E"/>
                          </a:solidFill>
                          <a:latin typeface="Arial"/>
                        </a:rPr>
                        <a:t>Dar seguimiento a los casos presentados por el Departamento de Soluciones Financieras al Comité, cuando así se ha programado en sesiones previas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Comité de Cobros y Recuperación de Préstamos en Mora (4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51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m) </a:t>
                      </a:r>
                      <a:r>
                        <a:rPr sz="1200" b="0" i="0" strike="sngStrike">
                          <a:solidFill>
                            <a:srgbClr val="B3261E"/>
                          </a:solidFill>
                          <a:latin typeface="Arial"/>
                        </a:rPr>
                        <a:t>Conocer mensualmente o cuando lo considere necesario, los Reportes de mora, en la cual se detallará la antigüedad de la mora (ver políticas.)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B3261E"/>
                          </a:solidFill>
                          <a:latin typeface="Arial"/>
                        </a:rPr>
                        <a:t>Se elimina.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B3261E"/>
                          </a:solidFill>
                          <a:latin typeface="Arial"/>
                        </a:rPr>
                        <a:t>Eliminado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52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n) </a:t>
                      </a:r>
                      <a:r>
                        <a:rPr sz="1200" b="0" i="0" strike="sngStrike">
                          <a:solidFill>
                            <a:srgbClr val="B3261E"/>
                          </a:solidFill>
                          <a:latin typeface="Arial"/>
                        </a:rPr>
                        <a:t>Dar seguimiento calendarizado a los casos presentados por el Departamento de Cobros al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B3261E"/>
                          </a:solidFill>
                          <a:latin typeface="Arial"/>
                        </a:rPr>
                        <a:t>Se elimina.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B3261E"/>
                          </a:solidFill>
                          <a:latin typeface="Arial"/>
                        </a:rPr>
                        <a:t>Eliminado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53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El Comité de Cobros y Recuperación </a:t>
                      </a:r>
                      <a:r>
                        <a:rPr sz="1200" b="0" i="0" strike="sngStrike">
                          <a:solidFill>
                            <a:srgbClr val="B3261E"/>
                          </a:solidFill>
                          <a:latin typeface="Arial"/>
                        </a:rPr>
                        <a:t>de Préstamos en Mora</a:t>
                      </a:r>
                      <a:r>
                        <a:rPr sz="1200" b="0" i="0">
                          <a:solidFill>
                            <a:srgbClr val="1B2333"/>
                          </a:solidFill>
                          <a:latin typeface="Arial"/>
                        </a:rPr>
                        <a:t> está integrado por cuatro miembros y un delegado de la Junta de Vigilancia en calidad de observador. El cargo de Presidente, será ocupado por un </a:t>
                      </a:r>
                      <a:r>
                        <a:rPr sz="1200" b="0" i="0" strike="sngStrike">
                          <a:solidFill>
                            <a:srgbClr val="B3261E"/>
                          </a:solidFill>
                          <a:latin typeface="Arial"/>
                        </a:rPr>
                        <a:t>miembro</a:t>
                      </a:r>
                      <a:r>
                        <a:rPr sz="1200" b="0" i="0">
                          <a:solidFill>
                            <a:srgbClr val="1B2333"/>
                          </a:solidFill>
                          <a:latin typeface="Arial"/>
                        </a:rPr>
                        <a:t> del Consejo de Administración, el Secretario, Vocal y Suplente, serán nombrados por el Consejo de Administración a propuesta del Presidente del Comité. El Representante de la Junta de Vigilancia será nombrado por ese cuerpo Directivo.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El Comité de Cobros y Recuperación está integrado por cuatro miembros y un delegado de la Junta de Vigilancia en calidad de observador. El cargo de presidente será ocupado por un </a:t>
                      </a:r>
                      <a:r>
                        <a:rPr sz="1200" b="1" i="0" u="sng">
                          <a:solidFill>
                            <a:srgbClr val="00376E"/>
                          </a:solidFill>
                          <a:latin typeface="Arial"/>
                        </a:rPr>
                        <a:t>director</a:t>
                      </a:r>
                      <a:r>
                        <a:rPr sz="1200" b="0" i="0">
                          <a:solidFill>
                            <a:srgbClr val="1B2333"/>
                          </a:solidFill>
                          <a:latin typeface="Arial"/>
                        </a:rPr>
                        <a:t> del Consejo de Administración, el secretario, Vocal y Suplente, serán nombrados por el Consejo de Administración a propuesta del presidente del Comité. El Representante de la Junta de Vigilancia será nombrado por ese cuerpo Directivo.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54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Los requisitos para ser miembro del Comité de Cobros y Recuperación se detallan en Anexo 6 del Código de Gobierno Corporativo.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Comité de Cobros y Recuperación de Préstamos en Mora (5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55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a) El Comité se reunirá ordinariamente una vez por semana a fin de analizar los casos presentados por el Departamento de </a:t>
                      </a:r>
                      <a:r>
                        <a:rPr sz="1200" b="0" i="0" strike="sngStrike">
                          <a:solidFill>
                            <a:srgbClr val="B3261E"/>
                          </a:solidFill>
                          <a:latin typeface="Arial"/>
                        </a:rPr>
                        <a:t>Cobros</a:t>
                      </a:r>
                      <a:r>
                        <a:rPr sz="1200" b="0" i="0">
                          <a:solidFill>
                            <a:srgbClr val="1B2333"/>
                          </a:solidFill>
                          <a:latin typeface="Arial"/>
                        </a:rPr>
                        <a:t> de la cartera de préstamos y tarjeta de crédito en donde se han agotado los esfuerzos de la gestión administrativa sin resultados concretos y que presentan </a:t>
                      </a:r>
                      <a:r>
                        <a:rPr sz="1200" b="0" i="0" strike="sngStrike">
                          <a:solidFill>
                            <a:srgbClr val="B3261E"/>
                          </a:solidFill>
                          <a:latin typeface="Arial"/>
                        </a:rPr>
                        <a:t>categoría de riesgo Deficientes,</a:t>
                      </a:r>
                      <a:r>
                        <a:rPr sz="1200" b="0" i="0">
                          <a:solidFill>
                            <a:srgbClr val="1B2333"/>
                          </a:solidFill>
                          <a:latin typeface="Arial"/>
                        </a:rPr>
                        <a:t> de Difícil Recuperación </a:t>
                      </a:r>
                      <a:r>
                        <a:rPr sz="1200" b="0" i="0" strike="sngStrike">
                          <a:solidFill>
                            <a:srgbClr val="B3261E"/>
                          </a:solidFill>
                          <a:latin typeface="Arial"/>
                        </a:rPr>
                        <a:t>e Irrecuperables; pudiendo</a:t>
                      </a:r>
                      <a:r>
                        <a:rPr sz="1200" b="0" i="0">
                          <a:solidFill>
                            <a:srgbClr val="1B2333"/>
                          </a:solidFill>
                          <a:latin typeface="Arial"/>
                        </a:rPr>
                        <a:t> sesionar de forma extraordinaria cuando las circunstancias lo ameriten.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a) El Comité se reunirá ordinariamente una vez por semana a fin de analizar los casos presentados por el Departamento de </a:t>
                      </a:r>
                      <a:r>
                        <a:rPr sz="1200" b="1" i="0" u="sng">
                          <a:solidFill>
                            <a:srgbClr val="00376E"/>
                          </a:solidFill>
                          <a:latin typeface="Arial"/>
                        </a:rPr>
                        <a:t>Soluciones Financieras</a:t>
                      </a:r>
                      <a:r>
                        <a:rPr sz="1200" b="0" i="0">
                          <a:solidFill>
                            <a:srgbClr val="1B2333"/>
                          </a:solidFill>
                          <a:latin typeface="Arial"/>
                        </a:rPr>
                        <a:t> de la cartera de préstamos y tarjeta de crédito en donde se han agotado los esfuerzos de la gestión administrativa, sin resultados concretos y que presentan </a:t>
                      </a:r>
                      <a:r>
                        <a:rPr sz="1200" b="1" i="0" u="sng">
                          <a:solidFill>
                            <a:srgbClr val="00376E"/>
                          </a:solidFill>
                          <a:latin typeface="Arial"/>
                        </a:rPr>
                        <a:t>un estado</a:t>
                      </a:r>
                      <a:r>
                        <a:rPr sz="1200" b="0" i="0">
                          <a:solidFill>
                            <a:srgbClr val="1B2333"/>
                          </a:solidFill>
                          <a:latin typeface="Arial"/>
                        </a:rPr>
                        <a:t> de difícil recuperación </a:t>
                      </a:r>
                      <a:r>
                        <a:rPr sz="1200" b="1" i="0" u="sng">
                          <a:solidFill>
                            <a:srgbClr val="00376E"/>
                          </a:solidFill>
                          <a:latin typeface="Arial"/>
                        </a:rPr>
                        <a:t>o irrecuperables; podrán</a:t>
                      </a:r>
                      <a:r>
                        <a:rPr sz="1200" b="0" i="0">
                          <a:solidFill>
                            <a:srgbClr val="1B2333"/>
                          </a:solidFill>
                          <a:latin typeface="Arial"/>
                        </a:rPr>
                        <a:t> sesionar de forma extraordinaria cuando las circunstancias lo ameriten.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56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b) </a:t>
                      </a:r>
                      <a:r>
                        <a:rPr sz="1200" b="1" i="0" u="sng">
                          <a:solidFill>
                            <a:srgbClr val="00376E"/>
                          </a:solidFill>
                          <a:latin typeface="Arial"/>
                        </a:rPr>
                        <a:t>La presencia de tres de sus miembros, propietarios o suplentes harán quórum, salvo causa justificada, todos deberán asistir a las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57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 </a:t>
                      </a:r>
                      <a:r>
                        <a:rPr sz="1200" b="1" i="0" u="sng">
                          <a:solidFill>
                            <a:srgbClr val="00376E"/>
                          </a:solidFill>
                          <a:latin typeface="Arial"/>
                        </a:rPr>
                        <a:t>El jefe del Departamento de Soluciones Financieras es el responsable de presentar ante el Comité, los informes preparados por los ejecutivos con sus observaciones y recomendaciones. El Comité deberá tomar un acuerdo al respecto.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Comité de Cobros y Recuperación de Préstamos en Mora (6 de 6)</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58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 </a:t>
                      </a:r>
                      <a:r>
                        <a:rPr sz="1200" b="1" i="0" u="sng">
                          <a:solidFill>
                            <a:srgbClr val="00376E"/>
                          </a:solidFill>
                          <a:latin typeface="Arial"/>
                        </a:rPr>
                        <a:t>Las resoluciones tomadas por el Comité deberán ser firmadas por todos los miembros titulares (presidente, secretario y vocal) presentes en la sesión, o por el suplente cuando faltare alguno de ellos. En caso de que un miembro no esté de acuerdo en alguna resolución tomada por la mayoría, deberá dejarlo consignado en el acta respectiva, dando sus razonamientos.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59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 </a:t>
                      </a:r>
                      <a:r>
                        <a:rPr sz="1200" b="1" i="0" u="sng">
                          <a:solidFill>
                            <a:srgbClr val="00376E"/>
                          </a:solidFill>
                          <a:latin typeface="Arial"/>
                        </a:rPr>
                        <a:t>El Comité tendrá la facultad de convocar a los deudores y codeudores, para que asistan a exponer su situación y proponer alternativas de solución.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60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f) </a:t>
                      </a:r>
                      <a:r>
                        <a:rPr sz="1200" b="1" i="0" u="sng">
                          <a:solidFill>
                            <a:srgbClr val="00376E"/>
                          </a:solidFill>
                          <a:latin typeface="Arial"/>
                        </a:rPr>
                        <a:t>La comunicación de los acuerdos del Comité se hará por escrito y serán firmados por el secretario, colocando el sello del Comité, se comunicarán al deudor y a sus codeudores, si hubiere. En los casos que sea necesario se comunicará a otros cuerpos directivos y entes relacionados.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61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g) </a:t>
                      </a:r>
                      <a:r>
                        <a:rPr sz="1200" b="1" i="0" u="sng">
                          <a:solidFill>
                            <a:srgbClr val="00376E"/>
                          </a:solidFill>
                          <a:latin typeface="Arial"/>
                        </a:rPr>
                        <a:t>Las certificaciones de acuerdos que se soliciten serán expedidas por el secretario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Finanzas (1 de 7)</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99339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62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Objetivos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strike="sngStrike">
                          <a:solidFill>
                            <a:srgbClr val="B3261E"/>
                          </a:solidFill>
                          <a:latin typeface="Arial"/>
                        </a:rPr>
                        <a:t>El Comité de Finanzas tiene como finalidad</a:t>
                      </a:r>
                      <a:r>
                        <a:rPr sz="1200" b="0" i="0">
                          <a:solidFill>
                            <a:srgbClr val="1B2333"/>
                          </a:solidFill>
                          <a:latin typeface="Arial"/>
                        </a:rPr>
                        <a:t> lograr la efectiva y eficiente administración de los recursos financieros </a:t>
                      </a:r>
                      <a:r>
                        <a:rPr sz="1200" b="0" i="0" strike="sngStrike">
                          <a:solidFill>
                            <a:srgbClr val="B3261E"/>
                          </a:solidFill>
                          <a:latin typeface="Arial"/>
                        </a:rPr>
                        <a:t>de COMEDICA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Es responsable de</a:t>
                      </a:r>
                      <a:r>
                        <a:rPr sz="1200" b="0" i="0">
                          <a:solidFill>
                            <a:srgbClr val="1B2333"/>
                          </a:solidFill>
                          <a:latin typeface="Arial"/>
                        </a:rPr>
                        <a:t> lograr la efectiva y eficiente administración de los recursos financieros, </a:t>
                      </a:r>
                      <a:r>
                        <a:rPr sz="1200" b="1" i="0" u="sng">
                          <a:solidFill>
                            <a:srgbClr val="00376E"/>
                          </a:solidFill>
                          <a:latin typeface="Arial"/>
                        </a:rPr>
                        <a:t>y de evaluar el impacto financiero de las medidas de recuperación y la información utilizada para la toma de decisiones.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63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El Comité de Finanzas, tiene las siguientes atribuciones y 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El Comité de Finanzas </a:t>
                      </a:r>
                      <a:r>
                        <a:rPr sz="1200" b="1" i="0" u="sng">
                          <a:solidFill>
                            <a:srgbClr val="00376E"/>
                          </a:solidFill>
                          <a:latin typeface="Arial"/>
                        </a:rPr>
                        <a:t>y de Recuperación Financiera,</a:t>
                      </a:r>
                      <a:r>
                        <a:rPr sz="1200" b="0" i="0">
                          <a:solidFill>
                            <a:srgbClr val="1B2333"/>
                          </a:solidFill>
                          <a:latin typeface="Arial"/>
                        </a:rPr>
                        <a:t> tiene las siguientes atribuciones y 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64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j) </a:t>
                      </a:r>
                      <a:r>
                        <a:rPr sz="1200" b="0" i="0" strike="sngStrike">
                          <a:solidFill>
                            <a:srgbClr val="B3261E"/>
                          </a:solidFill>
                          <a:latin typeface="Arial"/>
                        </a:rPr>
                        <a:t>Evaluar políticas relacionadas con los seguros de la Cooperativa y pólizas de asociados.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j) </a:t>
                      </a:r>
                      <a:r>
                        <a:rPr sz="1200" b="1" i="0" u="sng">
                          <a:solidFill>
                            <a:srgbClr val="00376E"/>
                          </a:solidFill>
                          <a:latin typeface="Arial"/>
                        </a:rPr>
                        <a:t>Recomendar Líneas específicas de Crédito, para Saneamiento y Salvatajes.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65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k) </a:t>
                      </a:r>
                      <a:r>
                        <a:rPr sz="1200" b="0" i="0" strike="sngStrike">
                          <a:solidFill>
                            <a:srgbClr val="B3261E"/>
                          </a:solidFill>
                          <a:latin typeface="Arial"/>
                        </a:rPr>
                        <a:t>Analizar ofertas, negociar precios, términos y condiciones de Pólizas de Seguros Institucionales y de Asociados, y hacer recomendaciones al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k) </a:t>
                      </a:r>
                      <a:r>
                        <a:rPr sz="1200" b="1" i="0" u="sng">
                          <a:solidFill>
                            <a:srgbClr val="00376E"/>
                          </a:solidFill>
                          <a:latin typeface="Arial"/>
                        </a:rPr>
                        <a:t>Definir políticas para el cumplimiento de las reservas de Liquidez.</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66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l) </a:t>
                      </a:r>
                      <a:r>
                        <a:rPr sz="1200" b="0" i="0" strike="sngStrike">
                          <a:solidFill>
                            <a:srgbClr val="B3261E"/>
                          </a:solidFill>
                          <a:latin typeface="Arial"/>
                        </a:rPr>
                        <a:t>Recomendar Líneas específicas de Crédito, para Saneamiento y Salvatajes.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l) </a:t>
                      </a:r>
                      <a:r>
                        <a:rPr sz="1200" b="1" i="0" u="sng">
                          <a:solidFill>
                            <a:srgbClr val="00376E"/>
                          </a:solidFill>
                          <a:latin typeface="Arial"/>
                        </a:rPr>
                        <a:t>Evaluar Estudios de Factibilidad para crear Agencias, ampliar servicios financieros o de inversiones.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67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m) </a:t>
                      </a:r>
                      <a:r>
                        <a:rPr sz="1200" b="0" i="0" strike="sngStrike">
                          <a:solidFill>
                            <a:srgbClr val="B3261E"/>
                          </a:solidFill>
                          <a:latin typeface="Arial"/>
                        </a:rPr>
                        <a:t>Definir políticas para el cumplimiento de las reservas de Liquidez.</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m) </a:t>
                      </a:r>
                      <a:r>
                        <a:rPr sz="1200" b="1" i="0" u="sng">
                          <a:solidFill>
                            <a:srgbClr val="00376E"/>
                          </a:solidFill>
                          <a:latin typeface="Arial"/>
                        </a:rPr>
                        <a:t>Proponer planes contingentes por liquidez o rentabilidad.</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Finanzas (2 de 7)</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99339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68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n) Evaluar </a:t>
                      </a:r>
                      <a:r>
                        <a:rPr sz="1200" b="0" i="0" strike="sngStrike">
                          <a:solidFill>
                            <a:srgbClr val="B3261E"/>
                          </a:solidFill>
                          <a:latin typeface="Arial"/>
                        </a:rPr>
                        <a:t>Estudios de Factibilidad para crear Agencias, ampliar servicios financieros o de inversiones.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n) Evaluar </a:t>
                      </a:r>
                      <a:r>
                        <a:rPr sz="1200" b="1" i="0" u="sng">
                          <a:solidFill>
                            <a:srgbClr val="00376E"/>
                          </a:solidFill>
                          <a:latin typeface="Arial"/>
                        </a:rPr>
                        <a:t>Planes Contingentes para prevenir Fraudes en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69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o) </a:t>
                      </a:r>
                      <a:r>
                        <a:rPr sz="1200" b="0" i="0" strike="sngStrike">
                          <a:solidFill>
                            <a:srgbClr val="B3261E"/>
                          </a:solidFill>
                          <a:latin typeface="Arial"/>
                        </a:rPr>
                        <a:t>Proponer planes contingentes por liquidez o rentabilidad.</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o) </a:t>
                      </a:r>
                      <a:r>
                        <a:rPr sz="1200" b="1" i="0" u="sng">
                          <a:solidFill>
                            <a:srgbClr val="00376E"/>
                          </a:solidFill>
                          <a:latin typeface="Arial"/>
                        </a:rPr>
                        <a:t>Verificar cumplimiento de límites de los niveles de concentración por tipos de fondeo y/o proveedores individuales.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70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p) Evaluar </a:t>
                      </a:r>
                      <a:r>
                        <a:rPr sz="1200" b="0" i="0" strike="sngStrike">
                          <a:solidFill>
                            <a:srgbClr val="B3261E"/>
                          </a:solidFill>
                          <a:latin typeface="Arial"/>
                        </a:rPr>
                        <a:t>Planes Contingentes para prevenir Fraudes en</a:t>
                      </a:r>
                      <a:r>
                        <a:rPr sz="1200" b="0" i="0">
                          <a:solidFill>
                            <a:srgbClr val="1B2333"/>
                          </a:solidFill>
                          <a:latin typeface="Arial"/>
                        </a:rPr>
                        <a:t>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p) Evaluar </a:t>
                      </a:r>
                      <a:r>
                        <a:rPr sz="1200" b="1" i="0" u="sng">
                          <a:solidFill>
                            <a:srgbClr val="00376E"/>
                          </a:solidFill>
                          <a:latin typeface="Arial"/>
                        </a:rPr>
                        <a:t>políticas para minimizar los riesgos de</a:t>
                      </a:r>
                      <a:r>
                        <a:rPr sz="1200" b="0" i="0">
                          <a:solidFill>
                            <a:srgbClr val="1B2333"/>
                          </a:solidFill>
                          <a:latin typeface="Arial"/>
                        </a:rPr>
                        <a:t>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71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q) </a:t>
                      </a:r>
                      <a:r>
                        <a:rPr sz="1200" b="0" i="0" strike="sngStrike">
                          <a:solidFill>
                            <a:srgbClr val="B3261E"/>
                          </a:solidFill>
                          <a:latin typeface="Arial"/>
                        </a:rPr>
                        <a:t>Verificar cumplimiento de límites de los niveles de concentración por tipos de fondeo y/o proveedores individuales.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q) </a:t>
                      </a:r>
                      <a:r>
                        <a:rPr sz="1200" b="1" i="0" u="sng">
                          <a:solidFill>
                            <a:srgbClr val="00376E"/>
                          </a:solidFill>
                          <a:latin typeface="Arial"/>
                        </a:rPr>
                        <a:t>Evaluar, revisar y proponer al Consejo de Administración, el Plan de Recuperación y sus mejoras futuras;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72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r) </a:t>
                      </a:r>
                      <a:r>
                        <a:rPr sz="1200" b="0" i="0" strike="sngStrike">
                          <a:solidFill>
                            <a:srgbClr val="B3261E"/>
                          </a:solidFill>
                          <a:latin typeface="Arial"/>
                        </a:rPr>
                        <a:t>Evaluar políticas para minimizar los</a:t>
                      </a:r>
                      <a:r>
                        <a:rPr sz="1200" b="0" i="0">
                          <a:solidFill>
                            <a:srgbClr val="1B2333"/>
                          </a:solidFill>
                          <a:latin typeface="Arial"/>
                        </a:rPr>
                        <a:t> riesgos de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r) </a:t>
                      </a:r>
                      <a:r>
                        <a:rPr sz="1200" b="1" i="0" u="sng">
                          <a:solidFill>
                            <a:srgbClr val="00376E"/>
                          </a:solidFill>
                          <a:latin typeface="Arial"/>
                        </a:rPr>
                        <a:t>Proponer con fundamento razonado los ajustes necesarios al Plan de Recuperación o a los planes estratégicos y de negocio, según corresponda, a efecto de adecuarlos a la real situación económica y financiera y al perfil de</a:t>
                      </a:r>
                      <a:r>
                        <a:rPr sz="1200" b="0" i="0">
                          <a:solidFill>
                            <a:srgbClr val="1B2333"/>
                          </a:solidFill>
                          <a:latin typeface="Arial"/>
                        </a:rPr>
                        <a:t> riesgos de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73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s) </a:t>
                      </a:r>
                      <a:r>
                        <a:rPr sz="1200" b="0" i="0" strike="sngStrike">
                          <a:solidFill>
                            <a:srgbClr val="B3261E"/>
                          </a:solidFill>
                          <a:latin typeface="Arial"/>
                        </a:rPr>
                        <a:t>Informar al Consejo de Administración de los puntos tratados y Acuerdos en cada reunión.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s) </a:t>
                      </a:r>
                      <a:r>
                        <a:rPr sz="1200" b="1" i="0" u="sng">
                          <a:solidFill>
                            <a:srgbClr val="00376E"/>
                          </a:solidFill>
                          <a:latin typeface="Arial"/>
                        </a:rPr>
                        <a:t>Definir los indicadores cuantitativos y cualitativos objeto de seguimiento del Plan de Recuperación;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Finanzas (3 de 7)</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71907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74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t) </a:t>
                      </a:r>
                      <a:r>
                        <a:rPr sz="1200" b="0" i="0" strike="sngStrike">
                          <a:solidFill>
                            <a:srgbClr val="B3261E"/>
                          </a:solidFill>
                          <a:latin typeface="Arial"/>
                        </a:rPr>
                        <a:t>Otras funciones y responsabilidad que le sean delegadas por 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t) </a:t>
                      </a:r>
                      <a:r>
                        <a:rPr sz="1200" b="1" i="0" u="sng">
                          <a:solidFill>
                            <a:srgbClr val="00376E"/>
                          </a:solidFill>
                          <a:latin typeface="Arial"/>
                        </a:rPr>
                        <a:t>Asegurar que se implementen las acciones correctivas requeridas en caso de que exista incumplimiento a los límites establecidos, con respecto al nivel de tolerancia al riesgo de liquidez asumido.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75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u) </a:t>
                      </a:r>
                      <a:r>
                        <a:rPr sz="1200" b="1" i="0" u="sng">
                          <a:solidFill>
                            <a:srgbClr val="00376E"/>
                          </a:solidFill>
                          <a:latin typeface="Arial"/>
                        </a:rPr>
                        <a:t>Velar por el cumplimiento de los requerimientos regulatorios en materia de planes de recuperación y atender los requerimientos de información por parte de la Superintendencia;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76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v) </a:t>
                      </a:r>
                      <a:r>
                        <a:rPr sz="1200" b="1" i="0" u="sng">
                          <a:solidFill>
                            <a:srgbClr val="00376E"/>
                          </a:solidFill>
                          <a:latin typeface="Arial"/>
                        </a:rPr>
                        <a:t>Evaluar la crisis de liquidez que se está implementando, decidir las acciones a seguir y monitorear los cambios en los escenarios para tomar acciones correctivas cuando sea necesario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77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w) </a:t>
                      </a:r>
                      <a:r>
                        <a:rPr sz="1200" b="1" i="0" u="sng">
                          <a:solidFill>
                            <a:srgbClr val="00376E"/>
                          </a:solidFill>
                          <a:latin typeface="Arial"/>
                        </a:rPr>
                        <a:t>Dar seguimiento al cumplimiento de algunas de las medidas del Plan de Recuperación de acuerdo al requerimiento de la Superintendencia;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78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x) </a:t>
                      </a:r>
                      <a:r>
                        <a:rPr sz="1200" b="1" i="0" u="sng">
                          <a:solidFill>
                            <a:srgbClr val="00376E"/>
                          </a:solidFill>
                          <a:latin typeface="Arial"/>
                        </a:rPr>
                        <a:t>Recomendar al Consejo de Administración, la activación o modificación de los mecanismos de atención de la contingencia de liquidez;</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Finanzas (4 de 7)</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79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y) </a:t>
                      </a:r>
                      <a:r>
                        <a:rPr sz="1200" b="1" i="0" u="sng">
                          <a:solidFill>
                            <a:srgbClr val="00376E"/>
                          </a:solidFill>
                          <a:latin typeface="Arial"/>
                        </a:rPr>
                        <a:t>Informar al Consejo de Administración de los puntos tratados y Acuerdos en cada reunión.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80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z) </a:t>
                      </a:r>
                      <a:r>
                        <a:rPr sz="1200" b="1" i="0" u="sng">
                          <a:solidFill>
                            <a:srgbClr val="00376E"/>
                          </a:solidFill>
                          <a:latin typeface="Arial"/>
                        </a:rPr>
                        <a:t>Otras funciones y responsabilidad que le sean delegadas por 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81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El comité estará integrado por los siguientes cargos: del Consejo de Administración, Presidente, Tesorero, Vocal y director que se desempeñe como presidente del Comité de Créditos; de la Junta de Vigilancia, Presidente y Secretario; Gerente General o su delegado, el Gerente de Finanzas y Planificación y el Gerente de Operaciones.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El Comité estará integrado por los siguientes cargos: del Consejo de Administración, Presidente, Tesorero, Vocal y Director que se desempeñe como Presidente del Comité de Créditos; de la Junta de Vigilancia, Presidente y Secretario; Gerente General o su delegado, el Gerente de Finanzas y Planificación, </a:t>
                      </a:r>
                      <a:r>
                        <a:rPr sz="1200" b="1" i="0" u="sng">
                          <a:solidFill>
                            <a:srgbClr val="00376E"/>
                          </a:solidFill>
                          <a:latin typeface="Arial"/>
                        </a:rPr>
                        <a:t>Gerente de Negocios</a:t>
                      </a:r>
                      <a:r>
                        <a:rPr sz="1200" b="0" i="0">
                          <a:solidFill>
                            <a:srgbClr val="1B2333"/>
                          </a:solidFill>
                          <a:latin typeface="Arial"/>
                        </a:rPr>
                        <a:t> y el Gerente de Operaciones.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Finanzas (5 de 7)</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82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El Comité será presidido por el Presidente del Consejo de Administración y en su ausencia por el Tesorero, las actas serán levantadas por el Gerente de Finanzas y Planificación. El plazo del ejercicio para miembros directivos será de tres años, o por el período que se encuentren desempeñando dichos cargos en los respectivos Cuerpos Directivos y para miembros del personal administrativo el periodo que se encuentren fungiendo como responsables de los puestos señalados.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83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Los requisitos para ser miembro del Comité de Finanzas y de Recuperación Financiera se detallan en Anexo 6 del Código de Gobierno Corporativo.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84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a) El Comité de Finanzas, </a:t>
                      </a:r>
                      <a:r>
                        <a:rPr sz="1200" b="0" i="0" strike="sngStrike">
                          <a:solidFill>
                            <a:srgbClr val="B3261E"/>
                          </a:solidFill>
                          <a:latin typeface="Arial"/>
                        </a:rPr>
                        <a:t>se reunirá al menos</a:t>
                      </a:r>
                      <a:r>
                        <a:rPr sz="1200" b="0" i="0">
                          <a:solidFill>
                            <a:srgbClr val="1B2333"/>
                          </a:solidFill>
                          <a:latin typeface="Arial"/>
                        </a:rPr>
                        <a:t> una vez al mes para dar seguimiento a las actividades relacionadas con la gestión financiera.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a) El Comité de Finanzas </a:t>
                      </a:r>
                      <a:r>
                        <a:rPr sz="1200" b="1" i="0" u="sng">
                          <a:solidFill>
                            <a:srgbClr val="00376E"/>
                          </a:solidFill>
                          <a:latin typeface="Arial"/>
                        </a:rPr>
                        <a:t>y de Recuperación Financiera, se reunirá</a:t>
                      </a:r>
                      <a:r>
                        <a:rPr sz="1200" b="0" i="0">
                          <a:solidFill>
                            <a:srgbClr val="1B2333"/>
                          </a:solidFill>
                          <a:latin typeface="Arial"/>
                        </a:rPr>
                        <a:t> una vez al mes </a:t>
                      </a:r>
                      <a:r>
                        <a:rPr sz="1200" b="1" i="0" u="sng">
                          <a:solidFill>
                            <a:srgbClr val="00376E"/>
                          </a:solidFill>
                          <a:latin typeface="Arial"/>
                        </a:rPr>
                        <a:t>o por lo menos una vez cada trimestre</a:t>
                      </a:r>
                      <a:r>
                        <a:rPr sz="1200" b="0" i="0">
                          <a:solidFill>
                            <a:srgbClr val="1B2333"/>
                          </a:solidFill>
                          <a:latin typeface="Arial"/>
                        </a:rPr>
                        <a:t> para dar seguimiento a las actividades relacionadas con la gestión financiera. </a:t>
                      </a:r>
                      <a:r>
                        <a:rPr sz="1200" b="1" i="0" u="sng">
                          <a:solidFill>
                            <a:srgbClr val="00376E"/>
                          </a:solidFill>
                          <a:latin typeface="Arial"/>
                        </a:rPr>
                        <a:t>Reportará directamente al Consejo de Administración, con copia a la Junta de Vigilancia y Gerente General.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Finanzas (6 de 7)</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85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b) </a:t>
                      </a:r>
                      <a:r>
                        <a:rPr sz="1200" b="1" i="0" u="sng">
                          <a:solidFill>
                            <a:srgbClr val="00376E"/>
                          </a:solidFill>
                          <a:latin typeface="Arial"/>
                        </a:rPr>
                        <a:t>Para las reuniones ordinarias, el Gerente de Finanzas y Planificación a requerimiento del Presidente del Consejo de Administración o en su defecto por el Tesorero, convocará por medio escrito, electrónico o llamada telefónica a cada uno de los miembros del Comité con al menos dos días hábiles de anticipación, salvo excepciones que ameriten reunión de carácter urgente.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86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 </a:t>
                      </a:r>
                      <a:r>
                        <a:rPr sz="1200" b="1" i="0" u="sng">
                          <a:solidFill>
                            <a:srgbClr val="00376E"/>
                          </a:solidFill>
                          <a:latin typeface="Arial"/>
                        </a:rPr>
                        <a:t>Los Acuerdos que se tomen serán presentados por el Tesorero al Consejo de Administración, para su aprobación; y el Gerente General comunicará a Gerentes de Área los acuerdos aprobados para su conocimiento y/o cumplimiento.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87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 </a:t>
                      </a:r>
                      <a:r>
                        <a:rPr sz="1200" b="1" i="0" u="sng">
                          <a:solidFill>
                            <a:srgbClr val="00376E"/>
                          </a:solidFill>
                          <a:latin typeface="Arial"/>
                        </a:rPr>
                        <a:t>El día, hora y lugar de la reunión se establecerá por el Presidente del Consejo de Administración y en su ausencia por el Tesorero del mismo cuerpo directivo.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88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 </a:t>
                      </a:r>
                      <a:r>
                        <a:rPr sz="1200" b="1" i="0" u="sng">
                          <a:solidFill>
                            <a:srgbClr val="00376E"/>
                          </a:solidFill>
                          <a:latin typeface="Arial"/>
                        </a:rPr>
                        <a:t>La agenda será propuesta por el Gerente de Finanzas y Planificación, Gerente General o a quien éste delegue; la cual será aprobada por el Comité de Finanzas y de Recuperación Financiera.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Finanzas (7 de 7)</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89611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89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f) </a:t>
                      </a:r>
                      <a:r>
                        <a:rPr sz="1200" b="1" i="0" u="sng">
                          <a:solidFill>
                            <a:srgbClr val="00376E"/>
                          </a:solidFill>
                          <a:latin typeface="Arial"/>
                        </a:rPr>
                        <a:t>Los informes de las reuniones realizadas deberán ser firmados por los miembros que participaron en la reunión, dejando constancia de las razones de sus desacuerdos en caso que los haya.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90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g) </a:t>
                      </a:r>
                      <a:r>
                        <a:rPr sz="1200" b="1" i="0" u="sng">
                          <a:solidFill>
                            <a:srgbClr val="00376E"/>
                          </a:solidFill>
                          <a:latin typeface="Arial"/>
                        </a:rPr>
                        <a:t>Para las reuniones del Comité, se establecerá quórum con la presencia del Presidente o Tesorero del Consejo de Administración, tres miembros directivos más Gerente de Finanzas y Planificación y el Gerente General o su delegado. Los acuerdos se tomarán por consenso o mayoría.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Auditoría (1 de 3)</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91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 Supervisar la eficiencia de la función de cumplimiento regulatorio de </a:t>
                      </a:r>
                      <a:r>
                        <a:rPr sz="1200" b="0" i="0" strike="sngStrike">
                          <a:solidFill>
                            <a:srgbClr val="B3261E"/>
                          </a:solidFill>
                          <a:latin typeface="Arial"/>
                        </a:rPr>
                        <a:t>lavado de activos, y</a:t>
                      </a:r>
                      <a:r>
                        <a:rPr sz="1200" b="0" i="0">
                          <a:solidFill>
                            <a:srgbClr val="1B2333"/>
                          </a:solidFill>
                          <a:latin typeface="Arial"/>
                        </a:rPr>
                        <a:t> financiación del terrorismo </a:t>
                      </a:r>
                      <a:r>
                        <a:rPr sz="1200" b="0" i="0" strike="sngStrike">
                          <a:solidFill>
                            <a:srgbClr val="B3261E"/>
                          </a:solidFill>
                          <a:latin typeface="Arial"/>
                        </a:rPr>
                        <a:t>( LAFT),</a:t>
                      </a:r>
                      <a:r>
                        <a:rPr sz="1200" b="0" i="0">
                          <a:solidFill>
                            <a:srgbClr val="1B2333"/>
                          </a:solidFill>
                          <a:latin typeface="Arial"/>
                        </a:rPr>
                        <a:t> para asegurarse que existan los controles internos necesarios para evitar que la institución sea utilizada como instrumento para la realización de actividades ilícitas.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 Supervisar la eficiencia de la función de cumplimiento regulatorio de </a:t>
                      </a:r>
                      <a:r>
                        <a:rPr sz="1200" b="1" i="0" u="sng">
                          <a:solidFill>
                            <a:srgbClr val="00376E"/>
                          </a:solidFill>
                          <a:latin typeface="Arial"/>
                        </a:rPr>
                        <a:t>prevención del lavado de dinero y activos,</a:t>
                      </a:r>
                      <a:r>
                        <a:rPr sz="1200" b="0" i="0">
                          <a:solidFill>
                            <a:srgbClr val="1B2333"/>
                          </a:solidFill>
                          <a:latin typeface="Arial"/>
                        </a:rPr>
                        <a:t> financiación del terrorismo </a:t>
                      </a:r>
                      <a:r>
                        <a:rPr sz="1200" b="1" i="0" u="sng">
                          <a:solidFill>
                            <a:srgbClr val="00376E"/>
                          </a:solidFill>
                          <a:latin typeface="Arial"/>
                        </a:rPr>
                        <a:t>y la Financiación de la Proliferación de Armas de Destrucción Masiva, (PLDA/FT/FPADM ),</a:t>
                      </a:r>
                      <a:r>
                        <a:rPr sz="1200" b="0" i="0">
                          <a:solidFill>
                            <a:srgbClr val="1B2333"/>
                          </a:solidFill>
                          <a:latin typeface="Arial"/>
                        </a:rPr>
                        <a:t> para asegurarse que existan los controles internos necesarios para evitar que la institución sea utilizada como instrumento para la realización de actividades ilícitas.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92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n) </a:t>
                      </a:r>
                      <a:r>
                        <a:rPr sz="1200" b="1" i="0" u="sng">
                          <a:solidFill>
                            <a:srgbClr val="00376E"/>
                          </a:solidFill>
                          <a:latin typeface="Arial"/>
                        </a:rPr>
                        <a:t>Evaluar de forma independiente la efectividad de los controles implementados con el Plan de Recuperación.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93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o) </a:t>
                      </a:r>
                      <a:r>
                        <a:rPr sz="1200" b="1" i="0" u="sng">
                          <a:solidFill>
                            <a:srgbClr val="00376E"/>
                          </a:solidFill>
                          <a:latin typeface="Arial"/>
                        </a:rPr>
                        <a:t>Emitir recomendaciones al Consejo de Administración para fortalecer el proceso de recuperación.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94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p) </a:t>
                      </a:r>
                      <a:r>
                        <a:rPr sz="1200" b="1" i="0" u="sng">
                          <a:solidFill>
                            <a:srgbClr val="00376E"/>
                          </a:solidFill>
                          <a:latin typeface="Arial"/>
                        </a:rPr>
                        <a:t>Informar al Consejo de Administración y al Comité de Auditoría y Finanzas sobre hallazgos relevantes.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Auditoría (2 de 3)</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95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strike="sngStrike">
                          <a:solidFill>
                            <a:srgbClr val="B3261E"/>
                          </a:solidFill>
                          <a:latin typeface="Arial"/>
                        </a:rPr>
                        <a:t>El Comité está integrado por los siguientes miembros: por tres miembros independientes: El presidente del Consejo de Administración, quien preside el comité, un segundo Directivo del Consejo de Administración y un miembro de la Junta de Vigilancia; Gerente General, Gerente de Finanzas y Planificación y Auditor Interno. Este último tendrá el cargo de Secretario.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Los Miembros del Comité, podrán delegar sustituto en caso de que ocurra ausencia justificada.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96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Los requisitos para ser miembro del Comité de Auditoría se detallan en Anexo 4 del Código de Gobierno Corporativo.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97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a) </a:t>
                      </a:r>
                      <a:r>
                        <a:rPr sz="1200" b="0" i="0" strike="sngStrike">
                          <a:solidFill>
                            <a:srgbClr val="B3261E"/>
                          </a:solidFill>
                          <a:latin typeface="Arial"/>
                        </a:rPr>
                        <a:t>El Comité se reúne como mínimo una vez al mes y los acuerdos, recomendaciones e informes que se produzcan deberán quedar consignados en sus actas.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B3261E"/>
                          </a:solidFill>
                          <a:latin typeface="Arial"/>
                        </a:rPr>
                        <a:t>Se elimina.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B3261E"/>
                          </a:solidFill>
                          <a:latin typeface="Arial"/>
                        </a:rPr>
                        <a:t>Eliminado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98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b) </a:t>
                      </a:r>
                      <a:r>
                        <a:rPr sz="1200" b="1" i="0" u="sng">
                          <a:solidFill>
                            <a:srgbClr val="00376E"/>
                          </a:solidFill>
                          <a:latin typeface="Arial"/>
                        </a:rPr>
                        <a:t>El Auditor Interno será el secretario del Comité, y levantará el acta de cada una de las sesiones mantenidas, que será aprobada en la sesión inmediatamente posterior. Las actas del Comité deberán estar a disposición de todos los directores del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Auditoría (3 de 3)</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99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 </a:t>
                      </a:r>
                      <a:r>
                        <a:rPr sz="1200" b="1" i="0" u="sng">
                          <a:solidFill>
                            <a:srgbClr val="00376E"/>
                          </a:solidFill>
                          <a:latin typeface="Arial"/>
                        </a:rPr>
                        <a:t>A las reuniones del Comité pueden ser citados con la frecuencia necesaria y con el fin de requerir explicaciones pertinentes acerca de asuntos de control interno, Gerentes de Área, jefes de Departamentos, Auditor Externo, Auditor Fiscal, así como cualquier otro funcionario que el Comité considere conveniente.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100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d) </a:t>
                      </a:r>
                      <a:r>
                        <a:rPr sz="1200" b="1" i="0" u="sng">
                          <a:solidFill>
                            <a:srgbClr val="00376E"/>
                          </a:solidFill>
                          <a:latin typeface="Arial"/>
                        </a:rPr>
                        <a:t>Cuando algún miembro del Comité tuviese interés personal en cualquier asunto que debe discutirse en el Comité, deberá ausentarse de la reunión hasta que la decisión se adopte.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101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 </a:t>
                      </a:r>
                      <a:r>
                        <a:rPr sz="1200" b="1" i="0" u="sng">
                          <a:solidFill>
                            <a:srgbClr val="00376E"/>
                          </a:solidFill>
                          <a:latin typeface="Arial"/>
                        </a:rPr>
                        <a:t>Los miembros del Comité que tengan conocimiento de algún potencial conflicto de interés (directo o indirecto), de cualquiera que los otros miembros, deberán manifestarlo a fin de que se delibere si procede o no el retiro del miembro de la sesión. Dicha deliberación quedará asentada en el acta de la mencionada Sesión.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Riesgos (1 de 11)</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102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Objetivos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strike="sngStrike">
                          <a:solidFill>
                            <a:srgbClr val="B3261E"/>
                          </a:solidFill>
                          <a:latin typeface="Arial"/>
                        </a:rPr>
                        <a:t>Asesorar y apoyar</a:t>
                      </a:r>
                      <a:r>
                        <a:rPr sz="1200" b="0" i="0">
                          <a:solidFill>
                            <a:srgbClr val="1B2333"/>
                          </a:solidFill>
                          <a:latin typeface="Arial"/>
                        </a:rPr>
                        <a:t> al Consejo de Administración, </a:t>
                      </a:r>
                      <a:r>
                        <a:rPr sz="1200" b="0" i="0" strike="sngStrike">
                          <a:solidFill>
                            <a:srgbClr val="B3261E"/>
                          </a:solidFill>
                          <a:latin typeface="Arial"/>
                        </a:rPr>
                        <a:t>actuando</a:t>
                      </a:r>
                      <a:r>
                        <a:rPr sz="1200" b="0" i="0">
                          <a:solidFill>
                            <a:srgbClr val="1B2333"/>
                          </a:solidFill>
                          <a:latin typeface="Arial"/>
                        </a:rPr>
                        <a:t> con criterio de independencia, confidencialidad y objetividad en el cumplimiento de sus responsabilidades de seguimiento de la gestión de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El Comité de Riesgos es una instancia asesora y de apoyo</a:t>
                      </a:r>
                      <a:r>
                        <a:rPr sz="1200" b="0" i="0">
                          <a:solidFill>
                            <a:srgbClr val="1B2333"/>
                          </a:solidFill>
                          <a:latin typeface="Arial"/>
                        </a:rPr>
                        <a:t> al Consejo de Administración, </a:t>
                      </a:r>
                      <a:r>
                        <a:rPr sz="1200" b="1" i="0" u="sng">
                          <a:solidFill>
                            <a:srgbClr val="00376E"/>
                          </a:solidFill>
                          <a:latin typeface="Arial"/>
                        </a:rPr>
                        <a:t>actuará</a:t>
                      </a:r>
                      <a:r>
                        <a:rPr sz="1200" b="0" i="0">
                          <a:solidFill>
                            <a:srgbClr val="1B2333"/>
                          </a:solidFill>
                          <a:latin typeface="Arial"/>
                        </a:rPr>
                        <a:t> con criterio de independencia, confidencialidad y objetividad en el cumplimiento de sus responsabilidades de seguimiento de la gestión de riesgos, </a:t>
                      </a:r>
                      <a:r>
                        <a:rPr sz="1200" b="1" i="0" u="sng">
                          <a:solidFill>
                            <a:srgbClr val="00376E"/>
                          </a:solidFill>
                          <a:latin typeface="Arial"/>
                        </a:rPr>
                        <a:t>asimismo es el enlance con 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103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 </a:t>
                      </a:r>
                      <a:r>
                        <a:rPr sz="1200" b="0" i="0" strike="sngStrike">
                          <a:solidFill>
                            <a:srgbClr val="B3261E"/>
                          </a:solidFill>
                          <a:latin typeface="Arial"/>
                        </a:rPr>
                        <a:t>Validar y presentar al</a:t>
                      </a:r>
                      <a:r>
                        <a:rPr sz="1200" b="0" i="0">
                          <a:solidFill>
                            <a:srgbClr val="1B2333"/>
                          </a:solidFill>
                          <a:latin typeface="Arial"/>
                        </a:rPr>
                        <a:t> Consejo de Administración las metodologías </a:t>
                      </a:r>
                      <a:r>
                        <a:rPr sz="1200" b="0" i="0" strike="sngStrike">
                          <a:solidFill>
                            <a:srgbClr val="B3261E"/>
                          </a:solidFill>
                          <a:latin typeface="Arial"/>
                        </a:rPr>
                        <a:t>de gestión de cada uno de los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 </a:t>
                      </a:r>
                      <a:r>
                        <a:rPr sz="1200" b="1" i="0" u="sng">
                          <a:solidFill>
                            <a:srgbClr val="00376E"/>
                          </a:solidFill>
                          <a:latin typeface="Arial"/>
                        </a:rPr>
                        <a:t>Evaluar, revisar y proponer para aprobación del</a:t>
                      </a:r>
                      <a:r>
                        <a:rPr sz="1200" b="0" i="0">
                          <a:solidFill>
                            <a:srgbClr val="1B2333"/>
                          </a:solidFill>
                          <a:latin typeface="Arial"/>
                        </a:rPr>
                        <a:t> Consejo de Administración las metodologías, </a:t>
                      </a:r>
                      <a:r>
                        <a:rPr sz="1200" b="1" i="0" u="sng">
                          <a:solidFill>
                            <a:srgbClr val="00376E"/>
                          </a:solidFill>
                          <a:latin typeface="Arial"/>
                        </a:rPr>
                        <a:t>estrategias, políticas y manuales para la gestión integral de riesgos y continuidad del negocio.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104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b) Informar al Consejo de Administración, sobre los riesgos asumidos por la Cooperativa, su evolución, sus efectos y las necesidades adicionales de mitigación.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b) Informar al Consejo de Administración, sobre los riesgos asumidos por la Cooperativa, su evolución, sus efectos </a:t>
                      </a:r>
                      <a:r>
                        <a:rPr sz="1200" b="1" i="0" u="sng">
                          <a:solidFill>
                            <a:srgbClr val="00376E"/>
                          </a:solidFill>
                          <a:latin typeface="Arial"/>
                        </a:rPr>
                        <a:t>en especial en los niveles patrimoniales</a:t>
                      </a:r>
                      <a:r>
                        <a:rPr sz="1200" b="0" i="0">
                          <a:solidFill>
                            <a:srgbClr val="1B2333"/>
                          </a:solidFill>
                          <a:latin typeface="Arial"/>
                        </a:rPr>
                        <a:t> y las necesidades adicionales de mitigación, </a:t>
                      </a:r>
                      <a:r>
                        <a:rPr sz="1200" b="1" i="0" u="sng">
                          <a:solidFill>
                            <a:srgbClr val="00376E"/>
                          </a:solidFill>
                          <a:latin typeface="Arial"/>
                        </a:rPr>
                        <a:t>así como sus acciones correctivas.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105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 </a:t>
                      </a:r>
                      <a:r>
                        <a:rPr sz="1200" b="0" i="0" strike="sngStrike">
                          <a:solidFill>
                            <a:srgbClr val="B3261E"/>
                          </a:solidFill>
                          <a:latin typeface="Arial"/>
                        </a:rPr>
                        <a:t>Velar por que la Cooperativa cuente con la adecuada estructura organizacional, estrategias, políticas y recursos para la gestión integral de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 </a:t>
                      </a:r>
                      <a:r>
                        <a:rPr sz="1200" b="1" i="0" u="sng">
                          <a:solidFill>
                            <a:srgbClr val="00376E"/>
                          </a:solidFill>
                          <a:latin typeface="Arial"/>
                        </a:rPr>
                        <a:t>Informar al Consejo de Administración sobre las exposiciones, desviaciones y excepciones de los riesgos que son gestionados en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Riesgos (2 de 11)</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106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 </a:t>
                      </a:r>
                      <a:r>
                        <a:rPr sz="1200" b="0" i="0" strike="sngStrike">
                          <a:solidFill>
                            <a:srgbClr val="B3261E"/>
                          </a:solidFill>
                          <a:latin typeface="Arial"/>
                        </a:rPr>
                        <a:t>Asegurar e informar al Consejo de Administración la correcta ejecución de las estrategias y políticas aprobadas.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 </a:t>
                      </a:r>
                      <a:r>
                        <a:rPr sz="1200" b="1" i="0" u="sng">
                          <a:solidFill>
                            <a:srgbClr val="00376E"/>
                          </a:solidFill>
                          <a:latin typeface="Arial"/>
                        </a:rPr>
                        <a:t>Velar por que la Cooperativa cuente con la adecuada estructura organizacional, estrategias, políticas y recursos para la gestión integral de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107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 </a:t>
                      </a:r>
                      <a:r>
                        <a:rPr sz="1200" b="0" i="0" strike="sngStrike">
                          <a:solidFill>
                            <a:srgbClr val="B3261E"/>
                          </a:solidFill>
                          <a:latin typeface="Arial"/>
                        </a:rPr>
                        <a:t>Proponer</a:t>
                      </a:r>
                      <a:r>
                        <a:rPr sz="1200" b="0" i="0">
                          <a:solidFill>
                            <a:srgbClr val="1B2333"/>
                          </a:solidFill>
                          <a:latin typeface="Arial"/>
                        </a:rPr>
                        <a:t> al Consejo de Administración </a:t>
                      </a:r>
                      <a:r>
                        <a:rPr sz="1200" b="0" i="0" strike="sngStrike">
                          <a:solidFill>
                            <a:srgbClr val="B3261E"/>
                          </a:solidFill>
                          <a:latin typeface="Arial"/>
                        </a:rPr>
                        <a:t>los límites de tolerancia a la exposición para cada tipo de riesgo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 </a:t>
                      </a:r>
                      <a:r>
                        <a:rPr sz="1200" b="1" i="0" u="sng">
                          <a:solidFill>
                            <a:srgbClr val="00376E"/>
                          </a:solidFill>
                          <a:latin typeface="Arial"/>
                        </a:rPr>
                        <a:t>Asegurar e informar</a:t>
                      </a:r>
                      <a:r>
                        <a:rPr sz="1200" b="0" i="0">
                          <a:solidFill>
                            <a:srgbClr val="1B2333"/>
                          </a:solidFill>
                          <a:latin typeface="Arial"/>
                        </a:rPr>
                        <a:t> al Consejo de Administración </a:t>
                      </a:r>
                      <a:r>
                        <a:rPr sz="1200" b="1" i="0" u="sng">
                          <a:solidFill>
                            <a:srgbClr val="00376E"/>
                          </a:solidFill>
                          <a:latin typeface="Arial"/>
                        </a:rPr>
                        <a:t>la ejecución de las estrategias y políticas aprobadas.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108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f) </a:t>
                      </a:r>
                      <a:r>
                        <a:rPr sz="1200" b="0" i="0" strike="sngStrike">
                          <a:solidFill>
                            <a:srgbClr val="B3261E"/>
                          </a:solidFill>
                          <a:latin typeface="Arial"/>
                        </a:rPr>
                        <a:t>Requerir y dar seguimiento a los planes correctivos para normalizar incumplimientos a</a:t>
                      </a:r>
                      <a:r>
                        <a:rPr sz="1200" b="0" i="0">
                          <a:solidFill>
                            <a:srgbClr val="1B2333"/>
                          </a:solidFill>
                          <a:latin typeface="Arial"/>
                        </a:rPr>
                        <a:t> los límites de exposición </a:t>
                      </a:r>
                      <a:r>
                        <a:rPr sz="1200" b="0" i="0" strike="sngStrike">
                          <a:solidFill>
                            <a:srgbClr val="B3261E"/>
                          </a:solidFill>
                          <a:latin typeface="Arial"/>
                        </a:rPr>
                        <a:t>o deficiencias reportadas.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f) </a:t>
                      </a:r>
                      <a:r>
                        <a:rPr sz="1200" b="1" i="0" u="sng">
                          <a:solidFill>
                            <a:srgbClr val="00376E"/>
                          </a:solidFill>
                          <a:latin typeface="Arial"/>
                        </a:rPr>
                        <a:t>Proponer al Consejo de Administración los límites de tolerancia a la exposición para cada tipo de riesgo, los casos o circunstancias especiales en los cuales se puedan exceder</a:t>
                      </a:r>
                      <a:r>
                        <a:rPr sz="1200" b="0" i="0">
                          <a:solidFill>
                            <a:srgbClr val="1B2333"/>
                          </a:solidFill>
                          <a:latin typeface="Arial"/>
                        </a:rPr>
                        <a:t> los límites de exposición, </a:t>
                      </a:r>
                      <a:r>
                        <a:rPr sz="1200" b="1" i="0" u="sng">
                          <a:solidFill>
                            <a:srgbClr val="00376E"/>
                          </a:solidFill>
                          <a:latin typeface="Arial"/>
                        </a:rPr>
                        <a:t>así como los controles especiales sobre dichas circunstancias.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109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g) </a:t>
                      </a:r>
                      <a:r>
                        <a:rPr sz="1200" b="0" i="0" strike="sngStrike">
                          <a:solidFill>
                            <a:srgbClr val="B3261E"/>
                          </a:solidFill>
                          <a:latin typeface="Arial"/>
                        </a:rPr>
                        <a:t>Dar seguimiento a los informes emitidos por la Superintendencia del Sistema Financiero, Auditoría Interna y Externa, para atender las observaciones y recomendaciones que formulen sobre la gestión de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g) </a:t>
                      </a:r>
                      <a:r>
                        <a:rPr sz="1200" b="1" i="0" u="sng">
                          <a:solidFill>
                            <a:srgbClr val="00376E"/>
                          </a:solidFill>
                          <a:latin typeface="Arial"/>
                        </a:rPr>
                        <a:t>Aprobar las acciones correctivas propuestas por el Departamento de Administración de Riesgos y las áreas involucradas, así como los mecanismos para la implementación de las mismas, en el caso que exista desviación con respecto a los niveles o límites de exposición asumidos.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Riesgos (3 de 11)</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110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h) </a:t>
                      </a:r>
                      <a:r>
                        <a:rPr sz="1200" b="0" i="0" strike="sngStrike">
                          <a:solidFill>
                            <a:srgbClr val="B3261E"/>
                          </a:solidFill>
                          <a:latin typeface="Arial"/>
                        </a:rPr>
                        <a:t>Trabajar coordinadamente con los otros comités de la Cooperativa para fortalecer el funcionamiento de un sistema de control interno adecuado a la complejidad y riesgos inherentes a las actividades de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h) </a:t>
                      </a:r>
                      <a:r>
                        <a:rPr sz="1200" b="1" i="0" u="sng">
                          <a:solidFill>
                            <a:srgbClr val="00376E"/>
                          </a:solidFill>
                          <a:latin typeface="Arial"/>
                        </a:rPr>
                        <a:t>Requerir y dar seguimiento a los planes correctivos para normalizar incumplimientos a los límites de exposición o deficiencias reportadas.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111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i) </a:t>
                      </a:r>
                      <a:r>
                        <a:rPr sz="1200" b="0" i="0" strike="sngStrike">
                          <a:solidFill>
                            <a:srgbClr val="B3261E"/>
                          </a:solidFill>
                          <a:latin typeface="Arial"/>
                        </a:rPr>
                        <a:t>Validar el Plan anual de capacitaciones de Riesgo, para aprobación del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i) </a:t>
                      </a:r>
                      <a:r>
                        <a:rPr sz="1200" b="1" i="0" u="sng">
                          <a:solidFill>
                            <a:srgbClr val="00376E"/>
                          </a:solidFill>
                          <a:latin typeface="Arial"/>
                        </a:rPr>
                        <a:t>Dar seguimiento a los informes emitidos por la Superintendencia del Sistema Financiero, Auditoría Interna y Externa, para atender las observaciones y recomendaciones que formulen sobre la gestión de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112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j) </a:t>
                      </a:r>
                      <a:r>
                        <a:rPr sz="1200" b="0" i="0" strike="sngStrike">
                          <a:solidFill>
                            <a:srgbClr val="B3261E"/>
                          </a:solidFill>
                          <a:latin typeface="Arial"/>
                        </a:rPr>
                        <a:t>Desempeñar otras funciones que la Normativa Legal le atribuyan a este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j) </a:t>
                      </a:r>
                      <a:r>
                        <a:rPr sz="1200" b="1" i="0" u="sng">
                          <a:solidFill>
                            <a:srgbClr val="00376E"/>
                          </a:solidFill>
                          <a:latin typeface="Arial"/>
                        </a:rPr>
                        <a:t>Trabajar coordinadamente con los otros comités de la Cooperativa para fortalecer el funcionamiento de un sistema de control interno adecuado a la complejidad y riesgos inherentes a las actividades de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113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k) </a:t>
                      </a:r>
                      <a:r>
                        <a:rPr sz="1200" b="1" i="0" u="sng">
                          <a:solidFill>
                            <a:srgbClr val="00376E"/>
                          </a:solidFill>
                          <a:latin typeface="Arial"/>
                        </a:rPr>
                        <a:t>Informar al Consejo de Administración sobre el resultado de los informes elaborados por el Departamento de Administración de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Riesgos (4 de 11)</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71907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114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l) </a:t>
                      </a:r>
                      <a:r>
                        <a:rPr sz="1200" b="1" i="0" u="sng">
                          <a:solidFill>
                            <a:srgbClr val="00376E"/>
                          </a:solidFill>
                          <a:latin typeface="Arial"/>
                        </a:rPr>
                        <a:t>Validar el Plan anual de capacitaciones relacionadas a la Gestión Integral de Riesgos, Continuidad del Negocio y Seguridad de la Información para aprobación del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115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m) </a:t>
                      </a:r>
                      <a:r>
                        <a:rPr sz="1200" b="1" i="0" u="sng">
                          <a:solidFill>
                            <a:srgbClr val="00376E"/>
                          </a:solidFill>
                          <a:latin typeface="Arial"/>
                        </a:rPr>
                        <a:t>Validar el Plan de Continuidad del Negocio, planes de contingencia, programa de pruebas de Continuidad del Negocio, para aprobación del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116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n) </a:t>
                      </a:r>
                      <a:r>
                        <a:rPr sz="1200" b="1" i="0" u="sng">
                          <a:solidFill>
                            <a:srgbClr val="00376E"/>
                          </a:solidFill>
                          <a:latin typeface="Arial"/>
                        </a:rPr>
                        <a:t>Dar seguimiento a la ejecución de los programas de prueba de continuidad del negocio y a los planes de acción o mejora que resulten, recomendando acciones o mecanismos adicionales para la planificación y ejecución de las mismas.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117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o) </a:t>
                      </a:r>
                      <a:r>
                        <a:rPr sz="1200" b="1" i="0" u="sng">
                          <a:solidFill>
                            <a:srgbClr val="00376E"/>
                          </a:solidFill>
                          <a:latin typeface="Arial"/>
                        </a:rPr>
                        <a:t>Supervisar que la gestión de continuidad del negocio sea efectiva y que se realice el análisis de impacto al negocio, identificando y priorizando los procesos críticos de la entidad.</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118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p) </a:t>
                      </a:r>
                      <a:r>
                        <a:rPr sz="1200" b="1" i="0" u="sng">
                          <a:solidFill>
                            <a:srgbClr val="00376E"/>
                          </a:solidFill>
                          <a:latin typeface="Arial"/>
                        </a:rPr>
                        <a:t>Apoyar en la implementación de la Gestión de Continuidad del Negocio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Riesgos (5 de 11)</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99339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119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q) </a:t>
                      </a:r>
                      <a:r>
                        <a:rPr sz="1200" b="1" i="0" u="sng">
                          <a:solidFill>
                            <a:srgbClr val="00376E"/>
                          </a:solidFill>
                          <a:latin typeface="Arial"/>
                        </a:rPr>
                        <a:t>Proponer al Consejo de Administración la estructura del Sistema de Gestión de la Seguridad de la Información.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120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r) </a:t>
                      </a:r>
                      <a:r>
                        <a:rPr sz="1200" b="1" i="0" u="sng">
                          <a:solidFill>
                            <a:srgbClr val="00376E"/>
                          </a:solidFill>
                          <a:latin typeface="Arial"/>
                        </a:rPr>
                        <a:t>Revisar, evaluar y proponer para aprobación del Consejo de Administración el programa y recursos de seguridad de la información.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121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s) </a:t>
                      </a:r>
                      <a:r>
                        <a:rPr sz="1200" b="1" i="0" u="sng">
                          <a:solidFill>
                            <a:srgbClr val="00376E"/>
                          </a:solidFill>
                          <a:latin typeface="Arial"/>
                        </a:rPr>
                        <a:t>Validar las políticas, metodologías, manual de controles y métricas que permitan revisar y monitorear la seguridad de la información y posteriormente someterlo a aprobación del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122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t) </a:t>
                      </a:r>
                      <a:r>
                        <a:rPr sz="1200" b="1" i="0" u="sng">
                          <a:solidFill>
                            <a:srgbClr val="00376E"/>
                          </a:solidFill>
                          <a:latin typeface="Arial"/>
                        </a:rPr>
                        <a:t>Dar seguimiento de la Gestión de la Seguridad de la Información y Continuidad del Negocio.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123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u) </a:t>
                      </a:r>
                      <a:r>
                        <a:rPr sz="1200" b="1" i="0" u="sng">
                          <a:solidFill>
                            <a:srgbClr val="00376E"/>
                          </a:solidFill>
                          <a:latin typeface="Arial"/>
                        </a:rPr>
                        <a:t>Evaluar los riesgos que puedan afectar la capacidad financiera y operativa de la Cooperativa y contribuir a la definición de Planes de Acción para mitigarlos o prevenirlos.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124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v) </a:t>
                      </a:r>
                      <a:r>
                        <a:rPr sz="1200" b="1" i="0" u="sng">
                          <a:solidFill>
                            <a:srgbClr val="00376E"/>
                          </a:solidFill>
                          <a:latin typeface="Arial"/>
                        </a:rPr>
                        <a:t>Analizar los riesgos que puedan derivar en la activación del Plan de Recuperación de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Riesgos (6 de 11)</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71907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125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w) </a:t>
                      </a:r>
                      <a:r>
                        <a:rPr sz="1200" b="1" i="0" u="sng">
                          <a:solidFill>
                            <a:srgbClr val="00376E"/>
                          </a:solidFill>
                          <a:latin typeface="Arial"/>
                        </a:rPr>
                        <a:t>Evaluar los indicadores definidos para el seguimiento del Plan de Recuperación de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126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x) </a:t>
                      </a:r>
                      <a:r>
                        <a:rPr sz="1200" b="1" i="0" u="sng">
                          <a:solidFill>
                            <a:srgbClr val="00376E"/>
                          </a:solidFill>
                          <a:latin typeface="Arial"/>
                        </a:rPr>
                        <a:t>Apoyar la actualización de escenarios de estrés y medidas de recuperación.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127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y) </a:t>
                      </a:r>
                      <a:r>
                        <a:rPr sz="1200" b="1" i="0" u="sng">
                          <a:solidFill>
                            <a:srgbClr val="00376E"/>
                          </a:solidFill>
                          <a:latin typeface="Arial"/>
                        </a:rPr>
                        <a:t>Emitir recomendaciones al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128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El Comité </a:t>
                      </a:r>
                      <a:r>
                        <a:rPr sz="1200" b="0" i="0" strike="sngStrike">
                          <a:solidFill>
                            <a:srgbClr val="B3261E"/>
                          </a:solidFill>
                          <a:latin typeface="Arial"/>
                        </a:rPr>
                        <a:t>de Administración</a:t>
                      </a:r>
                      <a:r>
                        <a:rPr sz="1200" b="0" i="0">
                          <a:solidFill>
                            <a:srgbClr val="1B2333"/>
                          </a:solidFill>
                          <a:latin typeface="Arial"/>
                        </a:rPr>
                        <a:t> de Riesgos está integrado por un número impar de Miembros con los siguientes cargos: Directivos del Consejo de Administración: Presidente o su delegado, quien presidirá como Presidente del Comité, Tesorero y Vocal; Presidente de la Junta de Vigilancia o su delegado, Gerente General o su delegado, Auditor Interno, </a:t>
                      </a:r>
                      <a:r>
                        <a:rPr sz="1200" b="0" i="0" strike="sngStrike">
                          <a:solidFill>
                            <a:srgbClr val="B3261E"/>
                          </a:solidFill>
                          <a:latin typeface="Arial"/>
                        </a:rPr>
                        <a:t>y Jefe de</a:t>
                      </a:r>
                      <a:r>
                        <a:rPr sz="1200" b="0" i="0">
                          <a:solidFill>
                            <a:srgbClr val="1B2333"/>
                          </a:solidFill>
                          <a:latin typeface="Arial"/>
                        </a:rPr>
                        <a:t> Administración de Riesgos quien ocupará el cargo de Secretario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El Comité de Riesgos está integrado por un número impar de Miembros con los siguientes cargos: Directivos del Consejo de Administración: Presidente o su delegado, quien presidirá como Presidente del Comité, Tesorero y Vocal; Presidente de la Junta de Vigilancia o su delegado, Gerente General o su delegado, Auditor Interno, </a:t>
                      </a:r>
                      <a:r>
                        <a:rPr sz="1200" b="1" i="0" u="sng">
                          <a:solidFill>
                            <a:srgbClr val="00376E"/>
                          </a:solidFill>
                          <a:latin typeface="Arial"/>
                        </a:rPr>
                        <a:t>Gerente Legal y de Cumplimiento Normativo, Jefe Departamento de Seguridad de la Información y Ciberseguridad y Jefe</a:t>
                      </a:r>
                      <a:r>
                        <a:rPr sz="1200" b="0" i="0">
                          <a:solidFill>
                            <a:srgbClr val="1B2333"/>
                          </a:solidFill>
                          <a:latin typeface="Arial"/>
                        </a:rPr>
                        <a:t> Administración de Riesgos quien ocupará el cargo de Secretario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129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El Comité de Riesgos será presidido por un director del Consejo de Administración con conocimiento en finanzas y en gestión de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Riesgos (7 de 11)</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130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Adicionalmente el Comité podrá extender la invitación con derecho a voz, pero sin derecho a voto, a otros directores del Consejo de Administración, Equipo Gerencial y Empleados de la Cooperativa que considere conveniente, que por su conocimiento y experiencia en los diferentes puntos que conocerá el Comité en sus sesiones, aportarán información relevante o apoyarán la gestión.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131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Los requisitos para ser miembro del Comité de Riesgos se detallan en Anexo 5 del Código de Gobierno Corporativo.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132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El Comité de Riesgos podrá reunirse, de acuerdo a como lo convengan de la siguiente forma: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133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 </a:t>
                      </a:r>
                      <a:r>
                        <a:rPr sz="1200" b="1" i="0" u="sng">
                          <a:solidFill>
                            <a:srgbClr val="00376E"/>
                          </a:solidFill>
                          <a:latin typeface="Arial"/>
                        </a:rPr>
                        <a:t>En reuniones presenciales en las instalaciones del Centro Financiero de la Cooperativa, en la hora y día designado por 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Riesgos (8 de 11)</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134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b) </a:t>
                      </a:r>
                      <a:r>
                        <a:rPr sz="1200" b="1" i="0" u="sng">
                          <a:solidFill>
                            <a:srgbClr val="00376E"/>
                          </a:solidFill>
                          <a:latin typeface="Arial"/>
                        </a:rPr>
                        <a:t>Reuniones a través de videoconferencias por diferentes medios tecnológicos que permitan la identificación y participación del miembro en la sesión, no obstante, los acuerdos y resoluciones que sean tomados deberán documentarse, de conformidad a lo establecido en el Art. 13 del Reglamento.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135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 </a:t>
                      </a:r>
                      <a:r>
                        <a:rPr sz="1200" b="1" i="0" u="sng">
                          <a:solidFill>
                            <a:srgbClr val="00376E"/>
                          </a:solidFill>
                          <a:latin typeface="Arial"/>
                        </a:rPr>
                        <a:t>No obstante, en las reuniones presenciales cuando alguno de los miembros del Comité se encontrare en lugares distintos o en situaciones que le imposibiliten reunirse en las instalaciones del Centro Financiero de la Cooperativa, podrá sesionar a través de videoconferencia con los medios tecnológicos disponibles.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136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 </a:t>
                      </a:r>
                      <a:r>
                        <a:rPr sz="1200" b="1" i="0" u="sng">
                          <a:solidFill>
                            <a:srgbClr val="00376E"/>
                          </a:solidFill>
                          <a:latin typeface="Arial"/>
                        </a:rPr>
                        <a:t>El Gerente General gestionará ante el Consejo de Administración la convocatoria a reunión ordinaria y extraordinaria del Comité de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Riesgos (9 de 11)</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137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 </a:t>
                      </a:r>
                      <a:r>
                        <a:rPr sz="1200" b="1" i="0" u="sng">
                          <a:solidFill>
                            <a:srgbClr val="00376E"/>
                          </a:solidFill>
                          <a:latin typeface="Arial"/>
                        </a:rPr>
                        <a:t>Para las reuniones del Comité se establecerá quórum con la asistencia mínima de tres de sus miembros, pero siempre deberá contar con la presencia de un Miembro del Consejo de Administración, Junta de Vigilancia, Gerente General o sus delegados.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138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f) </a:t>
                      </a:r>
                      <a:r>
                        <a:rPr sz="1200" b="1" i="0" u="sng">
                          <a:solidFill>
                            <a:srgbClr val="00376E"/>
                          </a:solidFill>
                          <a:latin typeface="Arial"/>
                        </a:rPr>
                        <a:t>El presidente del Consejo de Administración, presidente de Junta de Vigilancia o el Gerente General en caso de imposibilidad de asistencia, pueden informar por escrito o mediante correo electrónico a sus delegados, comunicando la designación al Gerente General o secretario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139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g) </a:t>
                      </a:r>
                      <a:r>
                        <a:rPr sz="1200" b="1" i="0" u="sng">
                          <a:solidFill>
                            <a:srgbClr val="00376E"/>
                          </a:solidFill>
                          <a:latin typeface="Arial"/>
                        </a:rPr>
                        <a:t>Los temas a tratar en el Comité de Riesgos deberán quedar asentados en una agenda propuesta por el jefe de Administración de Riesgos, la cual será aprobada por 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140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h) </a:t>
                      </a:r>
                      <a:r>
                        <a:rPr sz="1200" b="1" i="0" u="sng">
                          <a:solidFill>
                            <a:srgbClr val="00376E"/>
                          </a:solidFill>
                          <a:latin typeface="Arial"/>
                        </a:rPr>
                        <a:t>De las sesiones que celebre el Comité, se levantará acta y estará a disposición de los directores del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Riesgos (10 de 11)</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99339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141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i) </a:t>
                      </a:r>
                      <a:r>
                        <a:rPr sz="1200" b="1" i="0" u="sng">
                          <a:solidFill>
                            <a:srgbClr val="00376E"/>
                          </a:solidFill>
                          <a:latin typeface="Arial"/>
                        </a:rPr>
                        <a:t>Las actas serán suscritas por los miembros asistentes, las cuales deberán ser numeradas de forma secuencial y redactadas en forma clara y detallada para comprender los fundamentos de los acuerdos tomados y de los temas conocidos.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142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j) </a:t>
                      </a:r>
                      <a:r>
                        <a:rPr sz="1200" b="1" i="0" u="sng">
                          <a:solidFill>
                            <a:srgbClr val="00376E"/>
                          </a:solidFill>
                          <a:latin typeface="Arial"/>
                        </a:rPr>
                        <a:t>La elaboración, difusión y resguardo de las actas será llevada a cabo por el jefe de Administración de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143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k) </a:t>
                      </a:r>
                      <a:r>
                        <a:rPr sz="1200" b="1" i="0" u="sng">
                          <a:solidFill>
                            <a:srgbClr val="00376E"/>
                          </a:solidFill>
                          <a:latin typeface="Arial"/>
                        </a:rPr>
                        <a:t>El contenido del Acta debe ser aprobado en la sesión del Comité de Riesgos inmediata posterior.</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144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l) </a:t>
                      </a:r>
                      <a:r>
                        <a:rPr sz="1200" b="1" i="0" u="sng">
                          <a:solidFill>
                            <a:srgbClr val="00376E"/>
                          </a:solidFill>
                          <a:latin typeface="Arial"/>
                        </a:rPr>
                        <a:t>Los acuerdos se tomarán por consenso o mayoría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145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m) </a:t>
                      </a:r>
                      <a:r>
                        <a:rPr sz="1200" b="1" i="0" u="sng">
                          <a:solidFill>
                            <a:srgbClr val="00376E"/>
                          </a:solidFill>
                          <a:latin typeface="Arial"/>
                        </a:rPr>
                        <a:t>El presidente del Consejo de Administración tendrá doble voto en caso de empate.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146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n) </a:t>
                      </a:r>
                      <a:r>
                        <a:rPr sz="1200" b="1" i="0" u="sng">
                          <a:solidFill>
                            <a:srgbClr val="00376E"/>
                          </a:solidFill>
                          <a:latin typeface="Arial"/>
                        </a:rPr>
                        <a:t>El jefe de Administración de Riesgos llevará un control de los acuerdos adoptados por el Comité de Riesgos con las siguientes especificaciones: fecha y numero de sesión, acuerdo adoptado, responsables de su cumplimiento, gestión, fecha de gestión y estado.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 Riesgos (11 de 11)</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89611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147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o) </a:t>
                      </a:r>
                      <a:r>
                        <a:rPr sz="1200" b="1" i="0" u="sng">
                          <a:solidFill>
                            <a:srgbClr val="00376E"/>
                          </a:solidFill>
                          <a:latin typeface="Arial"/>
                        </a:rPr>
                        <a:t>En cada sesión se dará a conocer los avances que presenten los acuerdos pendientes.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148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p) </a:t>
                      </a:r>
                      <a:r>
                        <a:rPr sz="1200" b="1" i="0" u="sng">
                          <a:solidFill>
                            <a:srgbClr val="00376E"/>
                          </a:solidFill>
                          <a:latin typeface="Arial"/>
                        </a:rPr>
                        <a:t>Se informará semestralmente al Consejo de Administración un resumen de los aspectos más importantes sobre los cuales ha conocido y tomado decisión el Comité y deberá quedar asentado en el acta de la sesión que celebre 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Comité de Junta de Prevención LDA/FT/FPADM (1 de 5)</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149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Objetivos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El objetivo de este Comité es servir de </a:t>
                      </a:r>
                      <a:r>
                        <a:rPr sz="1200" b="0" i="0" strike="sngStrike">
                          <a:solidFill>
                            <a:srgbClr val="B3261E"/>
                          </a:solidFill>
                          <a:latin typeface="Arial"/>
                        </a:rPr>
                        <a:t>enlace entre</a:t>
                      </a:r>
                      <a:r>
                        <a:rPr sz="1200" b="0" i="0">
                          <a:solidFill>
                            <a:srgbClr val="1B2333"/>
                          </a:solidFill>
                          <a:latin typeface="Arial"/>
                        </a:rPr>
                        <a:t> Oficialía de Cumplimiento </a:t>
                      </a:r>
                      <a:r>
                        <a:rPr sz="1200" b="0" i="0" strike="sngStrike">
                          <a:solidFill>
                            <a:srgbClr val="B3261E"/>
                          </a:solidFill>
                          <a:latin typeface="Arial"/>
                        </a:rPr>
                        <a:t>y el Consejo de Administración.</a:t>
                      </a:r>
                      <a:r>
                        <a:rPr sz="1200" b="0" i="0">
                          <a:solidFill>
                            <a:srgbClr val="1B2333"/>
                          </a:solidFill>
                          <a:latin typeface="Arial"/>
                        </a:rPr>
                        <a:t> en materia de prevención del lavado de dinero y </a:t>
                      </a:r>
                      <a:r>
                        <a:rPr sz="1200" b="0" i="0" strike="sngStrike">
                          <a:solidFill>
                            <a:srgbClr val="B3261E"/>
                          </a:solidFill>
                          <a:latin typeface="Arial"/>
                        </a:rPr>
                        <a:t>financiamiento al terrorismo.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El objetivo de este Comité es servir de </a:t>
                      </a:r>
                      <a:r>
                        <a:rPr sz="1200" b="1" i="0" u="sng">
                          <a:solidFill>
                            <a:srgbClr val="00376E"/>
                          </a:solidFill>
                          <a:latin typeface="Arial"/>
                        </a:rPr>
                        <a:t>apoyo a la Gerencia de</a:t>
                      </a:r>
                      <a:r>
                        <a:rPr sz="1200" b="0" i="0">
                          <a:solidFill>
                            <a:srgbClr val="1B2333"/>
                          </a:solidFill>
                          <a:latin typeface="Arial"/>
                        </a:rPr>
                        <a:t> Oficialía de Cumplimiento, en materia de prevención del Lavado de Dinero y </a:t>
                      </a:r>
                      <a:r>
                        <a:rPr sz="1200" b="1" i="0" u="sng">
                          <a:solidFill>
                            <a:srgbClr val="00376E"/>
                          </a:solidFill>
                          <a:latin typeface="Arial"/>
                        </a:rPr>
                        <a:t>Activos, Financiamiento del Terrorismo y la Financiación de la Proliferación de Armas de Destrucción Masiva, y servir de enlace entre la Gerencia de Oficialía de Cumplimiento y 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150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 </a:t>
                      </a:r>
                      <a:r>
                        <a:rPr sz="1200" b="0" i="0" strike="sngStrike">
                          <a:solidFill>
                            <a:srgbClr val="B3261E"/>
                          </a:solidFill>
                          <a:latin typeface="Arial"/>
                        </a:rPr>
                        <a:t>Revisar y proponer</a:t>
                      </a:r>
                      <a:r>
                        <a:rPr sz="1200" b="0" i="0">
                          <a:solidFill>
                            <a:srgbClr val="1B2333"/>
                          </a:solidFill>
                          <a:latin typeface="Arial"/>
                        </a:rPr>
                        <a:t> mejoras a la política </a:t>
                      </a:r>
                      <a:r>
                        <a:rPr sz="1200" b="0" i="0" strike="sngStrike">
                          <a:solidFill>
                            <a:srgbClr val="B3261E"/>
                          </a:solidFill>
                          <a:latin typeface="Arial"/>
                        </a:rPr>
                        <a:t>institucional</a:t>
                      </a:r>
                      <a:r>
                        <a:rPr sz="1200" b="0" i="0">
                          <a:solidFill>
                            <a:srgbClr val="1B2333"/>
                          </a:solidFill>
                          <a:latin typeface="Arial"/>
                        </a:rPr>
                        <a:t> de prevención del </a:t>
                      </a:r>
                      <a:r>
                        <a:rPr sz="1200" b="0" i="0" strike="sngStrike">
                          <a:solidFill>
                            <a:srgbClr val="B3261E"/>
                          </a:solidFill>
                          <a:latin typeface="Arial"/>
                        </a:rPr>
                        <a:t>lavado de dinero y financiamiento al terrorismo,</a:t>
                      </a:r>
                      <a:r>
                        <a:rPr sz="1200" b="0" i="0">
                          <a:solidFill>
                            <a:srgbClr val="1B2333"/>
                          </a:solidFill>
                          <a:latin typeface="Arial"/>
                        </a:rPr>
                        <a:t> con apego al marco legal nacional e internacional.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 </a:t>
                      </a:r>
                      <a:r>
                        <a:rPr sz="1200" b="1" i="0" u="sng">
                          <a:solidFill>
                            <a:srgbClr val="00376E"/>
                          </a:solidFill>
                          <a:latin typeface="Arial"/>
                        </a:rPr>
                        <a:t>Instruir</a:t>
                      </a:r>
                      <a:r>
                        <a:rPr sz="1200" b="0" i="0">
                          <a:solidFill>
                            <a:srgbClr val="1B2333"/>
                          </a:solidFill>
                          <a:latin typeface="Arial"/>
                        </a:rPr>
                        <a:t> mejoras a la política </a:t>
                      </a:r>
                      <a:r>
                        <a:rPr sz="1200" b="1" i="0" u="sng">
                          <a:solidFill>
                            <a:srgbClr val="00376E"/>
                          </a:solidFill>
                          <a:latin typeface="Arial"/>
                        </a:rPr>
                        <a:t>de la Cooperativa en materia</a:t>
                      </a:r>
                      <a:r>
                        <a:rPr sz="1200" b="0" i="0">
                          <a:solidFill>
                            <a:srgbClr val="1B2333"/>
                          </a:solidFill>
                          <a:latin typeface="Arial"/>
                        </a:rPr>
                        <a:t> de prevención del </a:t>
                      </a:r>
                      <a:r>
                        <a:rPr sz="1200" b="1" i="0" u="sng">
                          <a:solidFill>
                            <a:srgbClr val="00376E"/>
                          </a:solidFill>
                          <a:latin typeface="Arial"/>
                        </a:rPr>
                        <a:t>LDA/FT/FPADM, mediante acuerdos o modificaciones</a:t>
                      </a:r>
                      <a:r>
                        <a:rPr sz="1200" b="0" i="0">
                          <a:solidFill>
                            <a:srgbClr val="1B2333"/>
                          </a:solidFill>
                          <a:latin typeface="Arial"/>
                        </a:rPr>
                        <a:t> con apego al marco legal nacional e internacional.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151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b) </a:t>
                      </a:r>
                      <a:r>
                        <a:rPr sz="1200" b="0" i="0" strike="sngStrike">
                          <a:solidFill>
                            <a:srgbClr val="B3261E"/>
                          </a:solidFill>
                          <a:latin typeface="Arial"/>
                        </a:rPr>
                        <a:t>Revisar y recomendar la aprobación del plan de trabajo anual</a:t>
                      </a:r>
                      <a:r>
                        <a:rPr sz="1200" b="0" i="0">
                          <a:solidFill>
                            <a:srgbClr val="1B2333"/>
                          </a:solidFill>
                          <a:latin typeface="Arial"/>
                        </a:rPr>
                        <a:t> de Oficialía de Cumplimiento </a:t>
                      </a:r>
                      <a:r>
                        <a:rPr sz="1200" b="0" i="0" strike="sngStrike">
                          <a:solidFill>
                            <a:srgbClr val="B3261E"/>
                          </a:solidFill>
                          <a:latin typeface="Arial"/>
                        </a:rPr>
                        <a:t>ante Junta Directiva u Órgano equivalente.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b) </a:t>
                      </a:r>
                      <a:r>
                        <a:rPr sz="1200" b="1" i="0" u="sng">
                          <a:solidFill>
                            <a:srgbClr val="00376E"/>
                          </a:solidFill>
                          <a:latin typeface="Arial"/>
                        </a:rPr>
                        <a:t>Dar seguimiento a la gestión que realiza la Gerencia</a:t>
                      </a:r>
                      <a:r>
                        <a:rPr sz="1200" b="0" i="0">
                          <a:solidFill>
                            <a:srgbClr val="1B2333"/>
                          </a:solidFill>
                          <a:latin typeface="Arial"/>
                        </a:rPr>
                        <a:t> de Oficialía de Cumplimiento.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152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 </a:t>
                      </a:r>
                      <a:r>
                        <a:rPr sz="1200" b="0" i="0" strike="sngStrike">
                          <a:solidFill>
                            <a:srgbClr val="B3261E"/>
                          </a:solidFill>
                          <a:latin typeface="Arial"/>
                        </a:rPr>
                        <a:t>Analizar y recomendar la aprobación del presupuesto de funcionamiento de la</a:t>
                      </a:r>
                      <a:r>
                        <a:rPr sz="1200" b="0" i="0">
                          <a:solidFill>
                            <a:srgbClr val="1B2333"/>
                          </a:solidFill>
                          <a:latin typeface="Arial"/>
                        </a:rPr>
                        <a:t> Oficialía de Cumplimiento.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c) </a:t>
                      </a:r>
                      <a:r>
                        <a:rPr sz="1200" b="1" i="0" u="sng">
                          <a:solidFill>
                            <a:srgbClr val="00376E"/>
                          </a:solidFill>
                          <a:latin typeface="Arial"/>
                        </a:rPr>
                        <a:t>Conocer las deficiencias al programa de prevención, detectadas por la Gerencia de</a:t>
                      </a:r>
                      <a:r>
                        <a:rPr sz="1200" b="0" i="0">
                          <a:solidFill>
                            <a:srgbClr val="1B2333"/>
                          </a:solidFill>
                          <a:latin typeface="Arial"/>
                        </a:rPr>
                        <a:t> Oficialía de Cumplimiento; </a:t>
                      </a:r>
                      <a:r>
                        <a:rPr sz="1200" b="1" i="0" u="sng">
                          <a:solidFill>
                            <a:srgbClr val="00376E"/>
                          </a:solidFill>
                          <a:latin typeface="Arial"/>
                        </a:rPr>
                        <a:t>así como las acciones o medidas correctivas que se hayan implementado para tales efectos.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Comité de Junta de Prevención LDA/FT/FPADM (2 de 5)</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153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 </a:t>
                      </a:r>
                      <a:r>
                        <a:rPr sz="1200" b="0" i="0" strike="sngStrike">
                          <a:solidFill>
                            <a:srgbClr val="B3261E"/>
                          </a:solidFill>
                          <a:latin typeface="Arial"/>
                        </a:rPr>
                        <a:t>Seguimiento de la gestión</a:t>
                      </a:r>
                      <a:r>
                        <a:rPr sz="1200" b="0" i="0">
                          <a:solidFill>
                            <a:srgbClr val="1B2333"/>
                          </a:solidFill>
                          <a:latin typeface="Arial"/>
                        </a:rPr>
                        <a:t> de la Oficialía de cumplimiento </a:t>
                      </a:r>
                      <a:r>
                        <a:rPr sz="1200" b="0" i="0" strike="sngStrike">
                          <a:solidFill>
                            <a:srgbClr val="B3261E"/>
                          </a:solidFill>
                          <a:latin typeface="Arial"/>
                        </a:rPr>
                        <a:t>conforme al Plan Anual de Trabajo.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d) </a:t>
                      </a:r>
                      <a:r>
                        <a:rPr sz="1200" b="1" i="0" u="sng">
                          <a:solidFill>
                            <a:srgbClr val="00376E"/>
                          </a:solidFill>
                          <a:latin typeface="Arial"/>
                        </a:rPr>
                        <a:t>Revisar la ejecución del Plan Anual de Capacitación, que involucre a todo el personal de la Cooperativa y que, además, incluya la capacitación especializada para el personal</a:t>
                      </a:r>
                      <a:r>
                        <a:rPr sz="1200" b="0" i="0">
                          <a:solidFill>
                            <a:srgbClr val="1B2333"/>
                          </a:solidFill>
                          <a:latin typeface="Arial"/>
                        </a:rPr>
                        <a:t> de la Oficialía de Cumplimiento </a:t>
                      </a:r>
                      <a:r>
                        <a:rPr sz="1200" b="1" i="0" u="sng">
                          <a:solidFill>
                            <a:srgbClr val="00376E"/>
                          </a:solidFill>
                          <a:latin typeface="Arial"/>
                        </a:rPr>
                        <a:t>en temas de LDA/FT/FPADM.</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154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 </a:t>
                      </a:r>
                      <a:r>
                        <a:rPr sz="1200" b="0" i="0" strike="sngStrike">
                          <a:solidFill>
                            <a:srgbClr val="B3261E"/>
                          </a:solidFill>
                          <a:latin typeface="Arial"/>
                        </a:rPr>
                        <a:t>Asegurarse que la Oficialía tenga acceso irrestricto a toda la información y documentación que maneja la Institución relacionada con el lavado de dinero y de activos.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e) </a:t>
                      </a:r>
                      <a:r>
                        <a:rPr sz="1200" b="1" i="0" u="sng">
                          <a:solidFill>
                            <a:srgbClr val="00376E"/>
                          </a:solidFill>
                          <a:latin typeface="Arial"/>
                        </a:rPr>
                        <a:t>Revisar que el enfoque de la Gerencia de Oficialía de Cumplimiento, además de fortalecer la estructura de control interno, esté orientado a la prevención y gestión de riesgos de LDA/FT/FPADM.</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155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Las funciones del presidente podrán ser ampliadas a solicitud del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156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El Gerente de Oficialía de Cumplimiento será el secretario del Comité de PLDA/FT/FPADM, y tendrá al menos las siguientes funciones: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Comité de Junta de Prevención LDA/FT/FPADM (3 de 5)</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157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f) </a:t>
                      </a:r>
                      <a:r>
                        <a:rPr sz="1200" b="0" i="0" strike="sngStrike">
                          <a:solidFill>
                            <a:srgbClr val="B3261E"/>
                          </a:solidFill>
                          <a:latin typeface="Arial"/>
                        </a:rPr>
                        <a:t>Promover y garantizar la independencia de la Oficialía de forma institucional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f) </a:t>
                      </a:r>
                      <a:r>
                        <a:rPr sz="1200" b="1" i="0" u="sng">
                          <a:solidFill>
                            <a:srgbClr val="00376E"/>
                          </a:solidFill>
                          <a:latin typeface="Arial"/>
                        </a:rPr>
                        <a:t>Revisar por lo menos cada tres años, la estructura organizativa de la Gerencia de Oficialía de Cumplimiento, en cuanto a recurso humano, en relación proporcional al tamaño de la Cooperativa, cantidad de clientes, productos y servicios, así como la operatividad que tenga la misma, para determinar la necesidad de mayores recursos a fin de mitigar los riesgos derivados de LDA/FT/FPADM.</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158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Cada miembro del Comité de PLDA/FT/FPADM, tendrá los siguientes deberes y obligaciones: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159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g) </a:t>
                      </a:r>
                      <a:r>
                        <a:rPr sz="1200" b="1" i="0" u="sng">
                          <a:solidFill>
                            <a:srgbClr val="00376E"/>
                          </a:solidFill>
                          <a:latin typeface="Arial"/>
                        </a:rPr>
                        <a:t>Promover y garantizar la independencia y autonomía de la Gerencia de Oficialía de Cumplimiento dentro de la Cooperativa.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160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h) </a:t>
                      </a:r>
                      <a:r>
                        <a:rPr sz="1200" b="1" i="0" u="sng">
                          <a:solidFill>
                            <a:srgbClr val="00376E"/>
                          </a:solidFill>
                          <a:latin typeface="Arial"/>
                        </a:rPr>
                        <a:t>Asegurarse que la Gerencia de Oficialía de Cumplimiento tenga acceso irrestricto a toda la información y documentación que maneja la Cooperativa relacionada con el LDA/FT/FPADM.</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Comité de Junta de Prevención LDA/FT/FPADM (4 de 5)</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161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i) </a:t>
                      </a:r>
                      <a:r>
                        <a:rPr sz="1200" b="1" i="0" u="sng">
                          <a:solidFill>
                            <a:srgbClr val="00376E"/>
                          </a:solidFill>
                          <a:latin typeface="Arial"/>
                        </a:rPr>
                        <a:t>Conocer las revisiones de auditoría interna, externa y entes reguladores realizadas a la Gerencia de Oficialía de Cumplimiento, así como de los hallazgos señalados para su debida atención y seguimiento hasta su finalización.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162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El presidente del Comité de PLDA/FT/FPADM tendrá las siguientes funciones: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163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strike="sngStrike">
                          <a:solidFill>
                            <a:srgbClr val="B3261E"/>
                          </a:solidFill>
                          <a:latin typeface="Arial"/>
                        </a:rPr>
                        <a:t>Está integrado</a:t>
                      </a:r>
                      <a:r>
                        <a:rPr sz="1200" b="0" i="0">
                          <a:solidFill>
                            <a:srgbClr val="1B2333"/>
                          </a:solidFill>
                          <a:latin typeface="Arial"/>
                        </a:rPr>
                        <a:t> por los siguientes miembros: </a:t>
                      </a:r>
                      <a:r>
                        <a:rPr sz="1200" b="0" i="0" strike="sngStrike">
                          <a:solidFill>
                            <a:srgbClr val="B3261E"/>
                          </a:solidFill>
                          <a:latin typeface="Arial"/>
                        </a:rPr>
                        <a:t>un Representante</a:t>
                      </a:r>
                      <a:r>
                        <a:rPr sz="1200" b="0" i="0">
                          <a:solidFill>
                            <a:srgbClr val="1B2333"/>
                          </a:solidFill>
                          <a:latin typeface="Arial"/>
                        </a:rPr>
                        <a:t> del Consejo de Administración, un Representante de la Junta de Vigilancia, Gerente General, Gerente </a:t>
                      </a:r>
                      <a:r>
                        <a:rPr sz="1200" b="0" i="0" strike="sngStrike">
                          <a:solidFill>
                            <a:srgbClr val="B3261E"/>
                          </a:solidFill>
                          <a:latin typeface="Arial"/>
                        </a:rPr>
                        <a:t>de Operaciones,</a:t>
                      </a:r>
                      <a:r>
                        <a:rPr sz="1200" b="0" i="0">
                          <a:solidFill>
                            <a:srgbClr val="1B2333"/>
                          </a:solidFill>
                          <a:latin typeface="Arial"/>
                        </a:rPr>
                        <a:t> Jefe de Administración de Riesgos, </a:t>
                      </a:r>
                      <a:r>
                        <a:rPr sz="1200" b="0" i="0" strike="sngStrike">
                          <a:solidFill>
                            <a:srgbClr val="B3261E"/>
                          </a:solidFill>
                          <a:latin typeface="Arial"/>
                        </a:rPr>
                        <a:t>Oficial</a:t>
                      </a:r>
                      <a:r>
                        <a:rPr sz="1200" b="0" i="0">
                          <a:solidFill>
                            <a:srgbClr val="1B2333"/>
                          </a:solidFill>
                          <a:latin typeface="Arial"/>
                        </a:rPr>
                        <a:t> de Cumplimiento y Auditor Interno.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El Comité estará conformado</a:t>
                      </a:r>
                      <a:r>
                        <a:rPr sz="1200" b="0" i="0">
                          <a:solidFill>
                            <a:srgbClr val="1B2333"/>
                          </a:solidFill>
                          <a:latin typeface="Arial"/>
                        </a:rPr>
                        <a:t> por los siguientes miembros </a:t>
                      </a:r>
                      <a:r>
                        <a:rPr sz="1200" b="1" i="0" u="sng">
                          <a:solidFill>
                            <a:srgbClr val="00376E"/>
                          </a:solidFill>
                          <a:latin typeface="Arial"/>
                        </a:rPr>
                        <a:t>propietarios: el director presidente del Consejo de Administración, el Tesorero</a:t>
                      </a:r>
                      <a:r>
                        <a:rPr sz="1200" b="0" i="0">
                          <a:solidFill>
                            <a:srgbClr val="1B2333"/>
                          </a:solidFill>
                          <a:latin typeface="Arial"/>
                        </a:rPr>
                        <a:t> del Consejo de Administración, un Representante de la Junta de Vigilancia, Gerente General, Gerente </a:t>
                      </a:r>
                      <a:r>
                        <a:rPr sz="1200" b="1" i="0" u="sng">
                          <a:solidFill>
                            <a:srgbClr val="00376E"/>
                          </a:solidFill>
                          <a:latin typeface="Arial"/>
                        </a:rPr>
                        <a:t>Legal y Cumplimiento Normativo, Gerente de Operaciones, Gerente de Negocios,</a:t>
                      </a:r>
                      <a:r>
                        <a:rPr sz="1200" b="0" i="0">
                          <a:solidFill>
                            <a:srgbClr val="1B2333"/>
                          </a:solidFill>
                          <a:latin typeface="Arial"/>
                        </a:rPr>
                        <a:t> jefe de Administración de Riesgos, </a:t>
                      </a:r>
                      <a:r>
                        <a:rPr sz="1200" b="1" i="0" u="sng">
                          <a:solidFill>
                            <a:srgbClr val="00376E"/>
                          </a:solidFill>
                          <a:latin typeface="Arial"/>
                        </a:rPr>
                        <a:t>Gerente de Oficialía</a:t>
                      </a:r>
                      <a:r>
                        <a:rPr sz="1200" b="0" i="0">
                          <a:solidFill>
                            <a:srgbClr val="1B2333"/>
                          </a:solidFill>
                          <a:latin typeface="Arial"/>
                        </a:rPr>
                        <a:t> de Cumplimiento y Auditor Interno.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164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Se designa como presidente del Comité, al director presidente del Consejo de Administración y con el rol de secretario al Oficial de Cumplimiento.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Comité de Junta de Prevención LDA/FT/FPADM (5 de 5)</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89611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165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Los requisitos para ser miembro del Comité de Junta de Prevención del LDA/FT/FPADM se detallan en Anexo 6 del Código de Gobierno Corporativo.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166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strike="sngStrike">
                          <a:solidFill>
                            <a:srgbClr val="B3261E"/>
                          </a:solidFill>
                          <a:latin typeface="Arial"/>
                        </a:rPr>
                        <a:t>Los miembros del Comité de Prevención de Lavado de Dinero y Financiamiento al Terrorismodeben reunirse al menos una vez al mes, o cuando el Oficial de cumplimiento determine necesario convocar a sus miembros.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El Comité de PLDA/FT/FPADM, se reunirá ordinariamente al menos de manera trimestral y extraordinariamente cuando sea requerido por cualquier miembro del referido Comité, en ambos casos, puede sesionar de forma presencial o virtual.</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del Fondo de Solidaridad (1 de 3)</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167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Son atribuciones del Comité </a:t>
                      </a:r>
                      <a:r>
                        <a:rPr sz="1200" b="0" i="0" strike="sngStrike">
                          <a:solidFill>
                            <a:srgbClr val="B3261E"/>
                          </a:solidFill>
                          <a:latin typeface="Arial"/>
                        </a:rPr>
                        <a:t>de Gestión del Fondo,</a:t>
                      </a:r>
                      <a:r>
                        <a:rPr sz="1200" b="0" i="0">
                          <a:solidFill>
                            <a:srgbClr val="1B2333"/>
                          </a:solidFill>
                          <a:latin typeface="Arial"/>
                        </a:rPr>
                        <a:t> las siguientes: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Son atribuciones del Comité </a:t>
                      </a:r>
                      <a:r>
                        <a:rPr sz="1200" b="1" i="0" u="sng">
                          <a:solidFill>
                            <a:srgbClr val="00376E"/>
                          </a:solidFill>
                          <a:latin typeface="Arial"/>
                        </a:rPr>
                        <a:t>del Fondo de Solidaridad,</a:t>
                      </a:r>
                      <a:r>
                        <a:rPr sz="1200" b="0" i="0">
                          <a:solidFill>
                            <a:srgbClr val="1B2333"/>
                          </a:solidFill>
                          <a:latin typeface="Arial"/>
                        </a:rPr>
                        <a:t> las siguientes: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168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k) Autorizar el retiro anticipado de los miembros, de acuerdo a lo estipulado en el </a:t>
                      </a:r>
                      <a:r>
                        <a:rPr sz="1200" b="0" i="0" strike="sngStrike">
                          <a:solidFill>
                            <a:srgbClr val="B3261E"/>
                          </a:solidFill>
                          <a:latin typeface="Arial"/>
                        </a:rPr>
                        <a:t>presente reglamento.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k) Autorizar el retiro anticipado de los miembros, de acuerdo a lo estipulado en el </a:t>
                      </a:r>
                      <a:r>
                        <a:rPr sz="1200" b="1" i="0" u="sng">
                          <a:solidFill>
                            <a:srgbClr val="00376E"/>
                          </a:solidFill>
                          <a:latin typeface="Arial"/>
                        </a:rPr>
                        <a:t>reglamento del Fondo de Solidaridad.</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169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Responsabilidades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n) Ratificar el ingreso de los miembros que han sido aprobados por los ejecutivos autorizados por COMEDICA Analizar, y emitir opinión a las solicitudes de los Asociados que en principio no reúnen los requisitos y que el Asociado solicita revisión.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n) Ratificar el ingreso de los miembros </a:t>
                      </a:r>
                      <a:r>
                        <a:rPr sz="1200" b="1" i="0" u="sng">
                          <a:solidFill>
                            <a:srgbClr val="00376E"/>
                          </a:solidFill>
                          <a:latin typeface="Arial"/>
                        </a:rPr>
                        <a:t>que reúnen los requisitos establecidos en el Art. 6 del reglamento, y</a:t>
                      </a:r>
                      <a:r>
                        <a:rPr sz="1200" b="0" i="0">
                          <a:solidFill>
                            <a:srgbClr val="1B2333"/>
                          </a:solidFill>
                          <a:latin typeface="Arial"/>
                        </a:rPr>
                        <a:t> que han sido aprobados por los ejecutivos autorizados por COMEDICA </a:t>
                      </a:r>
                      <a:r>
                        <a:rPr sz="1200" b="1" i="0" u="sng">
                          <a:solidFill>
                            <a:srgbClr val="00376E"/>
                          </a:solidFill>
                          <a:latin typeface="Arial"/>
                        </a:rPr>
                        <a:t>de R.L.;</a:t>
                      </a:r>
                      <a:r>
                        <a:rPr sz="1200" b="0" i="0">
                          <a:solidFill>
                            <a:srgbClr val="1B2333"/>
                          </a:solidFill>
                          <a:latin typeface="Arial"/>
                        </a:rPr>
                        <a:t> Analizar, y emitir opinión a las solicitudes de los Asociados que en principio no reúnen los requisitos </a:t>
                      </a:r>
                      <a:r>
                        <a:rPr sz="1200" b="1" i="0" u="sng">
                          <a:solidFill>
                            <a:srgbClr val="00376E"/>
                          </a:solidFill>
                          <a:latin typeface="Arial"/>
                        </a:rPr>
                        <a:t>en el Art. 6</a:t>
                      </a:r>
                      <a:r>
                        <a:rPr sz="1200" b="0" i="0">
                          <a:solidFill>
                            <a:srgbClr val="1B2333"/>
                          </a:solidFill>
                          <a:latin typeface="Arial"/>
                        </a:rPr>
                        <a:t> y que el Asociado solicita revisión.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del Fondo de Solidaridad (2 de 3)</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71907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170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strike="sngStrike">
                          <a:solidFill>
                            <a:srgbClr val="B3261E"/>
                          </a:solidFill>
                          <a:latin typeface="Arial"/>
                        </a:rPr>
                        <a:t>Está integrado</a:t>
                      </a:r>
                      <a:r>
                        <a:rPr sz="1200" b="0" i="0">
                          <a:solidFill>
                            <a:srgbClr val="1B2333"/>
                          </a:solidFill>
                          <a:latin typeface="Arial"/>
                        </a:rPr>
                        <a:t> por el Presidente y Secretario del Consejo de Administración </a:t>
                      </a:r>
                      <a:r>
                        <a:rPr sz="1200" b="0" i="0" strike="sngStrike">
                          <a:solidFill>
                            <a:srgbClr val="B3261E"/>
                          </a:solidFill>
                          <a:latin typeface="Arial"/>
                        </a:rPr>
                        <a:t>con los cargos de Presidente y Secretario respectivamente,</a:t>
                      </a:r>
                      <a:r>
                        <a:rPr sz="1200" b="0" i="0">
                          <a:solidFill>
                            <a:srgbClr val="1B2333"/>
                          </a:solidFill>
                          <a:latin typeface="Arial"/>
                        </a:rPr>
                        <a:t> Presidente de la Junta de Vigilancia </a:t>
                      </a:r>
                      <a:r>
                        <a:rPr sz="1200" b="0" i="0" strike="sngStrike">
                          <a:solidFill>
                            <a:srgbClr val="B3261E"/>
                          </a:solidFill>
                          <a:latin typeface="Arial"/>
                        </a:rPr>
                        <a:t>con el cargo de Vocal, un Primer Suplente nombrado por</a:t>
                      </a:r>
                      <a:r>
                        <a:rPr sz="1200" b="0" i="0">
                          <a:solidFill>
                            <a:srgbClr val="1B2333"/>
                          </a:solidFill>
                          <a:latin typeface="Arial"/>
                        </a:rPr>
                        <a:t> el Consejo de Administración; </a:t>
                      </a:r>
                      <a:r>
                        <a:rPr sz="1200" b="0" i="0" strike="sngStrike">
                          <a:solidFill>
                            <a:srgbClr val="B3261E"/>
                          </a:solidFill>
                          <a:latin typeface="Arial"/>
                        </a:rPr>
                        <a:t>y el Jefe del Fondo de Solidaridad</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Los cargos de presidente y secretario de dicho Comité serán desempeñados</a:t>
                      </a:r>
                      <a:r>
                        <a:rPr sz="1200" b="0" i="0">
                          <a:solidFill>
                            <a:srgbClr val="1B2333"/>
                          </a:solidFill>
                          <a:latin typeface="Arial"/>
                        </a:rPr>
                        <a:t> por el presidente y secretario del Consejo de Administración, </a:t>
                      </a:r>
                      <a:r>
                        <a:rPr sz="1200" b="1" i="0" u="sng">
                          <a:solidFill>
                            <a:srgbClr val="00376E"/>
                          </a:solidFill>
                          <a:latin typeface="Arial"/>
                        </a:rPr>
                        <a:t>en vigencia respectivamente; el cargo de vocal será desempeñado por el</a:t>
                      </a:r>
                      <a:r>
                        <a:rPr sz="1200" b="0" i="0">
                          <a:solidFill>
                            <a:srgbClr val="1B2333"/>
                          </a:solidFill>
                          <a:latin typeface="Arial"/>
                        </a:rPr>
                        <a:t> presidente de la Junta de Vigilancia </a:t>
                      </a:r>
                      <a:r>
                        <a:rPr sz="1200" b="1" i="0" u="sng">
                          <a:solidFill>
                            <a:srgbClr val="00376E"/>
                          </a:solidFill>
                          <a:latin typeface="Arial"/>
                        </a:rPr>
                        <a:t>en vigencia. Asimismo,</a:t>
                      </a:r>
                      <a:r>
                        <a:rPr sz="1200" b="0" i="0">
                          <a:solidFill>
                            <a:srgbClr val="1B2333"/>
                          </a:solidFill>
                          <a:latin typeface="Arial"/>
                        </a:rPr>
                        <a:t> el Consejo de Administración </a:t>
                      </a:r>
                      <a:r>
                        <a:rPr sz="1200" b="1" i="0" u="sng">
                          <a:solidFill>
                            <a:srgbClr val="00376E"/>
                          </a:solidFill>
                          <a:latin typeface="Arial"/>
                        </a:rPr>
                        <a:t>nombrará a un Primer Suplente, para un período de tres años, para llenar las vacantes que ocurran; y como asesor administrativo, el jefe de Atención al Asociado y Clientes.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00376E"/>
                          </a:solidFill>
                          <a:latin typeface="Arial"/>
                        </a:rPr>
                        <a:t>Modificado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171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u="sng">
                          <a:solidFill>
                            <a:srgbClr val="00376E"/>
                          </a:solidFill>
                          <a:latin typeface="Arial"/>
                        </a:rPr>
                        <a:t>Los suplentes concurrirán a las sesiones del Comité únicamente con voz, excepto cuando suplan a los propietarios en cuyo caso tendrán voto.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172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Conformación del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u="sng">
                          <a:solidFill>
                            <a:srgbClr val="00376E"/>
                          </a:solidFill>
                          <a:latin typeface="Arial"/>
                        </a:rPr>
                        <a:t>Los requisitos para ser miembro del Comité de Fondo de Solidaridad se detallan en Anexo 6 del Código de Gobierno Corporativo.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173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a) </a:t>
                      </a:r>
                      <a:r>
                        <a:rPr sz="1200" b="0" i="0" strike="sngStrike">
                          <a:solidFill>
                            <a:srgbClr val="B3261E"/>
                          </a:solidFill>
                          <a:latin typeface="Arial"/>
                        </a:rPr>
                        <a:t>El Comité de Gestión sesionará al menos una vez al mes y extraordinariamente cuando las circunstancias lo exijan.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B3261E"/>
                          </a:solidFill>
                          <a:latin typeface="Arial"/>
                        </a:rPr>
                        <a:t>Se elimina.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B3261E"/>
                          </a:solidFill>
                          <a:latin typeface="Arial"/>
                        </a:rPr>
                        <a:t>Eliminado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174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b) </a:t>
                      </a:r>
                      <a:r>
                        <a:rPr sz="1200" b="1" i="0" u="sng">
                          <a:solidFill>
                            <a:srgbClr val="00376E"/>
                          </a:solidFill>
                          <a:latin typeface="Arial"/>
                        </a:rPr>
                        <a:t>Sus resoluciones se tomarán por mayoría de votos.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Comité del Fondo de Solidaridad (3 de 3)</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17043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175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 </a:t>
                      </a:r>
                      <a:r>
                        <a:rPr sz="1200" b="1" i="0" u="sng">
                          <a:solidFill>
                            <a:srgbClr val="00376E"/>
                          </a:solidFill>
                          <a:latin typeface="Arial"/>
                        </a:rPr>
                        <a:t>En caso de empate el presidente o quien haga sus veces tendrá voto de calidad.</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176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d) </a:t>
                      </a:r>
                      <a:r>
                        <a:rPr sz="1200" b="1" i="0" u="sng">
                          <a:solidFill>
                            <a:srgbClr val="00376E"/>
                          </a:solidFill>
                          <a:latin typeface="Arial"/>
                        </a:rPr>
                        <a:t>La presencia de dos de sus miembros constituirá quórum, ya sean propietarios o suplentes.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177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Frecuencia de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 </a:t>
                      </a:r>
                      <a:r>
                        <a:rPr sz="1200" b="1" i="0" u="sng">
                          <a:solidFill>
                            <a:srgbClr val="00376E"/>
                          </a:solidFill>
                          <a:latin typeface="Arial"/>
                        </a:rPr>
                        <a:t>El secretario del Comité o quien haga sus veces, llevará el libro de Actas respectivo.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Normas generales de aplicación para todos los Comités (1 de 3)</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71907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178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Normas generales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a) </a:t>
                      </a:r>
                      <a:r>
                        <a:rPr sz="1200" b="1" i="0" u="sng">
                          <a:solidFill>
                            <a:srgbClr val="00376E"/>
                          </a:solidFill>
                          <a:latin typeface="Arial"/>
                        </a:rPr>
                        <a:t>La convocatoria a participar en los Comités se comunicará al menos con un día de anticipación, ya sea vía escrita, correo electrónico o cualquier otro medio que la tecnología lo permita.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179</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Normas generales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b) </a:t>
                      </a:r>
                      <a:r>
                        <a:rPr sz="1200" b="1" i="0" u="sng">
                          <a:solidFill>
                            <a:srgbClr val="00376E"/>
                          </a:solidFill>
                          <a:latin typeface="Arial"/>
                        </a:rPr>
                        <a:t>Confirmar vía telefónica, por escrito, correo electrónico o cualquier otro medio que la tecnología permita, la confirmación de asistencia o ausencia a la sesión de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180</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Normas generales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c) </a:t>
                      </a:r>
                      <a:r>
                        <a:rPr sz="1200" b="1" i="0" u="sng">
                          <a:solidFill>
                            <a:srgbClr val="00376E"/>
                          </a:solidFill>
                          <a:latin typeface="Arial"/>
                        </a:rPr>
                        <a:t>Al inicio de la reunión, la agenda será leída obligatoriamente y sometida a aprobación del Comité con el quórum obligatorio para llevar a cabo la sesión.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181</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Normas generales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d) </a:t>
                      </a:r>
                      <a:r>
                        <a:rPr sz="1200" b="1" i="0" u="sng">
                          <a:solidFill>
                            <a:srgbClr val="00376E"/>
                          </a:solidFill>
                          <a:latin typeface="Arial"/>
                        </a:rPr>
                        <a:t>El Secretario del Comité dará lectura al acta anterior para su ratificación y aprobación.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182</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Normas generales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e) </a:t>
                      </a:r>
                      <a:r>
                        <a:rPr sz="1200" b="1" i="0" u="sng">
                          <a:solidFill>
                            <a:srgbClr val="00376E"/>
                          </a:solidFill>
                          <a:latin typeface="Arial"/>
                        </a:rPr>
                        <a:t>Las actas deberán ser redactadas en forma clara y detallada para comprender los fundamentos de los acuerdos tomados y de los temas conocidos, debiendo implementar un sistema de numeración secuencial de las actas de las reuniones.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Normas generales de aplicación para todos los Comités (2 de 3)</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183</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Normas generales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f) </a:t>
                      </a:r>
                      <a:r>
                        <a:rPr sz="1200" b="1" i="0" u="sng">
                          <a:solidFill>
                            <a:srgbClr val="00376E"/>
                          </a:solidFill>
                          <a:latin typeface="Arial"/>
                        </a:rPr>
                        <a:t>Las actas de los comités estarán a disposición de los Directores del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184</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Normas generales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g) </a:t>
                      </a:r>
                      <a:r>
                        <a:rPr sz="1200" b="1" i="0" u="sng">
                          <a:solidFill>
                            <a:srgbClr val="00376E"/>
                          </a:solidFill>
                          <a:latin typeface="Arial"/>
                        </a:rPr>
                        <a:t>Un resumen de los aspectos más importantes sobre los cuales ha conocido y tomado decisión cada Comité deberá quedar asentado en el acta de la sesión que celebre el Consejo de Administración en el semestre posterior.</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200" b="1" i="0">
                          <a:solidFill>
                            <a:srgbClr val="00376E"/>
                          </a:solidFill>
                          <a:latin typeface="Arial"/>
                        </a:rPr>
                        <a:t>185</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Normas generales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h) </a:t>
                      </a:r>
                      <a:r>
                        <a:rPr sz="1200" b="1" i="0" u="sng">
                          <a:solidFill>
                            <a:srgbClr val="00376E"/>
                          </a:solidFill>
                          <a:latin typeface="Arial"/>
                        </a:rPr>
                        <a:t>De existir hechos relevantes que el Consejo de Administración debe conocer, éste deberá ser presentado por los referidos Comités en la sesión más próxima que celebre el Consejo de Administración.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200" b="1" i="0">
                          <a:solidFill>
                            <a:srgbClr val="00376E"/>
                          </a:solidFill>
                          <a:latin typeface="Arial"/>
                        </a:rPr>
                        <a:t>186</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5B6578"/>
                          </a:solidFill>
                          <a:latin typeface="Arial"/>
                        </a:rPr>
                        <a:t>Normas generales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0" i="0">
                          <a:solidFill>
                            <a:srgbClr val="1B2333"/>
                          </a:solidFill>
                          <a:latin typeface="Arial"/>
                        </a:rPr>
                        <a:t>i) </a:t>
                      </a:r>
                      <a:r>
                        <a:rPr sz="1200" b="1" i="0" u="sng">
                          <a:solidFill>
                            <a:srgbClr val="00376E"/>
                          </a:solidFill>
                          <a:latin typeface="Arial"/>
                        </a:rPr>
                        <a:t>El Secretario del Comité deberá verificar y dar seguimiento al cumplimiento de los acuerdos adoptados por el Comité.</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Información de Comités · 2024 vigente → 2026 propuesto</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100" b="1" i="0">
                <a:solidFill>
                  <a:srgbClr val="00376E"/>
                </a:solidFill>
                <a:latin typeface="Century Gothic"/>
              </a:rPr>
              <a:t>Normas generales de aplicación para todos los Comités (3 de 3)</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621792"/>
        </p:xfrm>
        <a:graphic>
          <a:graphicData uri="http://schemas.openxmlformats.org/drawingml/2006/table">
            <a:tbl>
              <a:tblPr firstRow="0" bandRow="0">
                <a:tableStyleId>{2D5ABB26-0587-4C30-8999-92F81FD0307C}</a:tableStyleId>
              </a:tblPr>
              <a:tblGrid>
                <a:gridCol w="457200"/>
                <a:gridCol w="1600200"/>
                <a:gridCol w="3794760"/>
                <a:gridCol w="4069080"/>
                <a:gridCol w="1170432"/>
              </a:tblGrid>
              <a:tr h="347472">
                <a:tc>
                  <a:txBody>
                    <a:bodyPr wrap="square"/>
                    <a:lstStyle/>
                    <a:p>
                      <a:pPr/>
                      <a:r>
                        <a:rPr sz="1200" b="1" i="0">
                          <a:solidFill>
                            <a:srgbClr val="FFFFFF"/>
                          </a:solidFill>
                          <a:latin typeface="Arial"/>
                        </a:rPr>
                        <a:t>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Apartado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Dice (2024 vigente)</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Debe decir (2026 propuesto)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Tipo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200" b="1" i="0">
                          <a:solidFill>
                            <a:srgbClr val="00376E"/>
                          </a:solidFill>
                          <a:latin typeface="Arial"/>
                        </a:rPr>
                        <a:t>187</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5B6578"/>
                          </a:solidFill>
                          <a:latin typeface="Arial"/>
                        </a:rPr>
                        <a:t>Normas generales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1">
                          <a:solidFill>
                            <a:srgbClr val="5B6578"/>
                          </a:solidFill>
                          <a:latin typeface="Arial"/>
                        </a:rPr>
                        <a:t>No existía.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0" i="0">
                          <a:solidFill>
                            <a:srgbClr val="1B2333"/>
                          </a:solidFill>
                          <a:latin typeface="Arial"/>
                        </a:rPr>
                        <a:t>j) </a:t>
                      </a:r>
                      <a:r>
                        <a:rPr sz="1200" b="1" i="0" u="sng">
                          <a:solidFill>
                            <a:srgbClr val="00376E"/>
                          </a:solidFill>
                          <a:latin typeface="Arial"/>
                        </a:rPr>
                        <a:t>Los integrantes del Comité no podrán solicitar, invitar o permitir a otros Asociados no autorizados por el Consejo de Administración a que participen en las sesiones, para analizar y discutir puntos específicos. Lo anterior no es aplicable a otros Directores del Consejo de Administración, Equipo Gerencial y Empleados de la Cooperativa que por su conocimiento y experiencia en los diferentes puntos que conocerá el Comité en sus sesiones, aportarán información relevante o apoyarán la gestión, por lo que el Comité podrá extender la invitación con derecho a voz, pero sin derecho a voto.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200" b="1" i="0">
                          <a:solidFill>
                            <a:srgbClr val="1E8E5A"/>
                          </a:solidFill>
                          <a:latin typeface="Arial"/>
                        </a:rPr>
                        <a:t>Nuevo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bl>
          </a:graphicData>
        </a:graphic>
      </p:graphicFrame>
      <p:sp>
        <p:nvSpPr>
          <p:cNvPr id="17" name="TextBox 16"/>
          <p:cNvSpPr txBox="1"/>
          <p:nvPr/>
        </p:nvSpPr>
        <p:spPr>
          <a:xfrm>
            <a:off x="548640" y="6355080"/>
            <a:ext cx="9875520" cy="274320"/>
          </a:xfrm>
          <a:prstGeom prst="rect">
            <a:avLst/>
          </a:prstGeom>
          <a:noFill/>
        </p:spPr>
        <p:txBody>
          <a:bodyPr wrap="square" lIns="0" rIns="0" tIns="0" bIns="0" anchor="t">
            <a:spAutoFit/>
          </a:bodyPr>
          <a:lstStyle/>
          <a:p>
            <a:pPr algn="l"/>
            <a:r>
              <a:rPr sz="1000" b="1" i="0" u="sng">
                <a:solidFill>
                  <a:srgbClr val="00376E"/>
                </a:solidFill>
                <a:latin typeface="Arial"/>
              </a:rPr>
              <a:t>Subrayado en azul</a:t>
            </a:r>
            <a:r>
              <a:rPr sz="1000" b="0" i="0">
                <a:solidFill>
                  <a:srgbClr val="5B6578"/>
                </a:solidFill>
                <a:latin typeface="Arial"/>
              </a:rPr>
              <a:t> = texto nuevo en 2026 · </a:t>
            </a:r>
            <a:r>
              <a:rPr sz="1000" b="1" i="0" strike="sngStrike">
                <a:solidFill>
                  <a:srgbClr val="B3261E"/>
                </a:solidFill>
                <a:latin typeface="Arial"/>
              </a:rPr>
              <a:t>Tachado en rojo</a:t>
            </a:r>
            <a:r>
              <a:rPr sz="1000" b="0" i="0">
                <a:solidFill>
                  <a:srgbClr val="5B6578"/>
                </a:solidFill>
                <a:latin typeface="Arial"/>
              </a:rPr>
              <a:t> = texto que se elimina de 2024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rIns="0" tIns="0" bIns="0" anchor="t">
            <a:spAutoFit/>
          </a:bodyPr>
          <a:lstStyle/>
          <a:p>
            <a:pPr algn="l"/>
            <a:r>
              <a:rPr sz="1100" b="1" i="0">
                <a:solidFill>
                  <a:srgbClr val="5B6578"/>
                </a:solidFill>
                <a:latin typeface="Arial"/>
              </a:rPr>
              <a:t>Cierre</a:t>
            </a:r>
          </a:p>
        </p:txBody>
      </p:sp>
      <p:sp>
        <p:nvSpPr>
          <p:cNvPr id="15" name="TextBox 14"/>
          <p:cNvSpPr txBox="1"/>
          <p:nvPr/>
        </p:nvSpPr>
        <p:spPr>
          <a:xfrm>
            <a:off x="804672" y="457200"/>
            <a:ext cx="9966960" cy="685800"/>
          </a:xfrm>
          <a:prstGeom prst="rect">
            <a:avLst/>
          </a:prstGeom>
          <a:noFill/>
        </p:spPr>
        <p:txBody>
          <a:bodyPr wrap="square" lIns="0" rIns="0" tIns="0" bIns="0" anchor="ctr">
            <a:spAutoFit/>
          </a:bodyPr>
          <a:lstStyle/>
          <a:p>
            <a:pPr algn="l"/>
            <a:r>
              <a:rPr sz="2600" b="1" i="0">
                <a:solidFill>
                  <a:srgbClr val="00376E"/>
                </a:solidFill>
                <a:latin typeface="Century Gothic"/>
              </a:rPr>
              <a:t>Solicitud al Comité de Riesgos</a:t>
            </a:r>
          </a:p>
        </p:txBody>
      </p:sp>
      <p:pic>
        <p:nvPicPr>
          <p:cNvPr id="8" name="Imagen 7">
            <a:extLst>
              <a:ext uri="{FF2B5EF4-FFF2-40B4-BE49-F238E27FC236}">
                <a16:creationId xmlns:a16="http://schemas.microsoft.com/office/drawing/2014/main" id="{2953162C-79D4-7E8E-0BB7-A7CC2EE7C17A}"/>
              </a:ext>
            </a:extLst>
          </p:cNvPr>
          <p:cNvPicPr>
            <a:picLocks noChangeAspect="1"/>
          </p:cNvPicPr>
          <p:nvPr/>
        </p:nvPicPr>
        <p:blipFill>
          <a:blip r:embed="rId2"/>
          <a:stretch>
            <a:fillRect/>
          </a:stretch>
        </p:blipFill>
        <p:spPr>
          <a:xfrm>
            <a:off x="10881360" y="5989320"/>
            <a:ext cx="1097280" cy="786384"/>
          </a:xfrm>
          <a:prstGeom prst="rect">
            <a:avLst/>
          </a:prstGeom>
        </p:spPr>
      </p:pic>
      <p:graphicFrame>
        <p:nvGraphicFramePr>
          <p:cNvPr id="16" name="Table 15"/>
          <p:cNvGraphicFramePr>
            <a:graphicFrameLocks noGrp="1"/>
          </p:cNvGraphicFramePr>
          <p:nvPr/>
        </p:nvGraphicFramePr>
        <p:xfrm>
          <a:off x="548640" y="1325880"/>
          <a:ext cx="11091672" cy="1444752"/>
        </p:xfrm>
        <a:graphic>
          <a:graphicData uri="http://schemas.openxmlformats.org/drawingml/2006/table">
            <a:tbl>
              <a:tblPr firstRow="0" bandRow="0">
                <a:tableStyleId>{2D5ABB26-0587-4C30-8999-92F81FD0307C}</a:tableStyleId>
              </a:tblPr>
              <a:tblGrid>
                <a:gridCol w="7680960"/>
                <a:gridCol w="3410712"/>
              </a:tblGrid>
              <a:tr h="347472">
                <a:tc>
                  <a:txBody>
                    <a:bodyPr wrap="square"/>
                    <a:lstStyle/>
                    <a:p>
                      <a:pPr/>
                      <a:r>
                        <a:rPr sz="1200" b="1" i="0">
                          <a:solidFill>
                            <a:srgbClr val="FFFFFF"/>
                          </a:solidFill>
                          <a:latin typeface="Arial"/>
                        </a:rPr>
                        <a:t>Se solicita al Comité de Riesgos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wrap="square"/>
                    <a:lstStyle/>
                    <a:p>
                      <a:pPr/>
                      <a:r>
                        <a:rPr sz="1200" b="1" i="0">
                          <a:solidFill>
                            <a:srgbClr val="FFFFFF"/>
                          </a:solidFill>
                          <a:latin typeface="Arial"/>
                        </a:rPr>
                        <a:t>Fundamento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r>
              <a:tr h="274320">
                <a:tc>
                  <a:txBody>
                    <a:bodyPr wrap="square"/>
                    <a:lstStyle/>
                    <a:p>
                      <a:pPr/>
                      <a:r>
                        <a:rPr sz="1400" b="0" i="0">
                          <a:solidFill>
                            <a:srgbClr val="1B2333"/>
                          </a:solidFill>
                          <a:latin typeface="Arial"/>
                        </a:rPr>
                        <a:t>Validar la versión 04 de la Política de Contratación de Servicios Críticos Tercerizados (RP-GG-PL-003) y proponerla al Consejo de Administración para su aprobación.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400" b="1" i="0">
                          <a:solidFill>
                            <a:srgbClr val="00376E"/>
                          </a:solidFill>
                          <a:latin typeface="Arial"/>
                        </a:rPr>
                        <a:t>NRP-20, art. 10, lit. c · NRP-42, art. 12, lit. a</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400" b="0" i="0">
                          <a:solidFill>
                            <a:srgbClr val="1B2333"/>
                          </a:solidFill>
                          <a:latin typeface="Arial"/>
                        </a:rPr>
                        <a:t>Validar la versión 04 del Manual de Gestión del Riesgo Reputacional (MA-GG-M-004) y proponerlo al Consejo de Administración para su aprobación.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400" b="1" i="0">
                          <a:solidFill>
                            <a:srgbClr val="00376E"/>
                          </a:solidFill>
                          <a:latin typeface="Arial"/>
                        </a:rPr>
                        <a:t>NRP-20, art. 10, lit. c</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r h="274320">
                <a:tc>
                  <a:txBody>
                    <a:bodyPr wrap="square"/>
                    <a:lstStyle/>
                    <a:p>
                      <a:pPr/>
                      <a:r>
                        <a:rPr sz="1400" b="0" i="0">
                          <a:solidFill>
                            <a:srgbClr val="1B2333"/>
                          </a:solidFill>
                          <a:latin typeface="Arial"/>
                        </a:rPr>
                        <a:t>Conocer la Información de Comités 2026 y proponerla al Consejo de Administración para su incorporación al Código de Gobierno Corporativo.</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wrap="square"/>
                    <a:lstStyle/>
                    <a:p>
                      <a:pPr/>
                      <a:r>
                        <a:rPr sz="1400" b="1" i="0">
                          <a:solidFill>
                            <a:srgbClr val="00376E"/>
                          </a:solidFill>
                          <a:latin typeface="Arial"/>
                        </a:rPr>
                        <a:t>NRP-17, arts. 20 y 29, lit. n</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r>
              <a:tr h="274320">
                <a:tc>
                  <a:txBody>
                    <a:bodyPr wrap="square"/>
                    <a:lstStyle/>
                    <a:p>
                      <a:pPr/>
                      <a:r>
                        <a:rPr sz="1400" b="0" i="0">
                          <a:solidFill>
                            <a:srgbClr val="1B2333"/>
                          </a:solidFill>
                          <a:latin typeface="Arial"/>
                        </a:rPr>
                        <a:t>Una vez aprobados, remitir la Política y el Manual a la Superintendencia del Sistema Financiero dentro de los diez días hábiles siguientes.</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wrap="square"/>
                    <a:lstStyle/>
                    <a:p>
                      <a:pPr/>
                      <a:r>
                        <a:rPr sz="1400" b="1" i="0">
                          <a:solidFill>
                            <a:srgbClr val="00376E"/>
                          </a:solidFill>
                          <a:latin typeface="Arial"/>
                        </a:rPr>
                        <a:t>NRP-20, art. 8</a:t>
                      </a:r>
                    </a:p>
                  </a:txBody>
                  <a:tcPr marL="64008" marR="64008" marT="45720" marB="45720" anchor="t">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r>
            </a:tbl>
          </a:graphicData>
        </a:graphic>
      </p:graphicFrame>
      <p:sp>
        <p:nvSpPr>
          <p:cNvPr id="17" name="TextBox 16"/>
          <p:cNvSpPr txBox="1"/>
          <p:nvPr/>
        </p:nvSpPr>
        <p:spPr>
          <a:xfrm>
            <a:off x="548640" y="5120640"/>
            <a:ext cx="10058400" cy="457200"/>
          </a:xfrm>
          <a:prstGeom prst="rect">
            <a:avLst/>
          </a:prstGeom>
          <a:noFill/>
        </p:spPr>
        <p:txBody>
          <a:bodyPr wrap="square" lIns="0" rIns="0" tIns="0" bIns="0" anchor="t">
            <a:spAutoFit/>
          </a:bodyPr>
          <a:lstStyle/>
          <a:p>
            <a:pPr algn="l"/>
            <a:r>
              <a:rPr sz="1600" b="1" i="0">
                <a:solidFill>
                  <a:srgbClr val="00376E"/>
                </a:solidFill>
                <a:latin typeface="Century Gothic"/>
              </a:rPr>
              <a:t>Total de cambios presentados: 60 en la Política, 22 en el Manual y 187 en la Información de Comités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 1">
            <a:extLst>
              <a:ext uri="{FF2B5EF4-FFF2-40B4-BE49-F238E27FC236}">
                <a16:creationId xmlns:a16="http://schemas.microsoft.com/office/drawing/2014/main" id="{581614C1-8597-C084-8870-3EA3BD6672B3}"/>
              </a:ext>
            </a:extLst>
          </p:cNvPr>
          <p:cNvPicPr>
            <a:picLocks noChangeAspect="1"/>
          </p:cNvPicPr>
          <p:nvPr/>
        </p:nvPicPr>
        <p:blipFill>
          <a:blip r:embed="rId2"/>
          <a:stretch>
            <a:fillRect/>
          </a:stretch>
        </p:blipFill>
        <p:spPr>
          <a:xfrm>
            <a:off x="214580" y="516412"/>
            <a:ext cx="12218275" cy="6858000"/>
          </a:xfrm>
          <a:prstGeom prst="rect">
            <a:avLst/>
          </a:prstGeom>
        </p:spPr>
      </p:pic>
      <p:grpSp>
        <p:nvGrpSpPr>
          <p:cNvPr id="13" name="Grupo 12">
            <a:extLst>
              <a:ext uri="{FF2B5EF4-FFF2-40B4-BE49-F238E27FC236}">
                <a16:creationId xmlns:a16="http://schemas.microsoft.com/office/drawing/2014/main" id="{9DFED50E-1D44-9011-DF94-E0B8D8A6CFAC}"/>
              </a:ext>
            </a:extLst>
          </p:cNvPr>
          <p:cNvGrpSpPr/>
          <p:nvPr/>
        </p:nvGrpSpPr>
        <p:grpSpPr>
          <a:xfrm>
            <a:off x="1344760" y="2745083"/>
            <a:ext cx="4389995" cy="1848402"/>
            <a:chOff x="1344760" y="2745083"/>
            <a:chExt cx="4389995" cy="1848402"/>
          </a:xfrm>
        </p:grpSpPr>
        <p:sp>
          <p:nvSpPr>
            <p:cNvPr id="8" name="Rectángulo 7">
              <a:extLst>
                <a:ext uri="{FF2B5EF4-FFF2-40B4-BE49-F238E27FC236}">
                  <a16:creationId xmlns:a16="http://schemas.microsoft.com/office/drawing/2014/main" id="{5AE4C532-FF73-3C58-13E5-F7328A86BCAF}"/>
                </a:ext>
              </a:extLst>
            </p:cNvPr>
            <p:cNvSpPr/>
            <p:nvPr/>
          </p:nvSpPr>
          <p:spPr>
            <a:xfrm>
              <a:off x="1371903" y="3485489"/>
              <a:ext cx="5825892" cy="1107996"/>
            </a:xfrm>
            <a:prstGeom prst="rect">
              <a:avLst/>
            </a:prstGeom>
            <a:noFill/>
          </p:spPr>
          <p:txBody>
            <a:bodyPr wrap="square" lIns="91440" tIns="45720" rIns="91440" bIns="45720">
              <a:spAutoFit/>
            </a:bodyPr>
            <a:lstStyle/>
            <a:p>
              <a:r>
                <a:rPr lang="es-SV" sz="6600" b="1" cap="none" spc="50" dirty="0">
                  <a:ln>
                    <a:solidFill>
                      <a:schemeClr val="bg1"/>
                    </a:solidFill>
                  </a:ln>
                  <a:solidFill>
                    <a:schemeClr val="bg1"/>
                  </a:solidFill>
                  <a:effectLst>
                    <a:innerShdw blurRad="63500" dist="50800" dir="13500000">
                      <a:srgbClr val="000000">
                        <a:alpha val="50000"/>
                      </a:srgbClr>
                    </a:innerShdw>
                  </a:effectLst>
                  <a:latin typeface="Century Gothic" panose="020B0502020202020204" pitchFamily="34" charset="0"/>
                </a:rPr>
                <a:t>preguntas</a:t>
              </a:r>
              <a:endParaRPr lang="es-MX" sz="6000" b="1" cap="none" spc="50" dirty="0">
                <a:ln w="0">
                  <a:solidFill>
                    <a:schemeClr val="bg1"/>
                  </a:solidFill>
                </a:ln>
                <a:solidFill>
                  <a:schemeClr val="bg1"/>
                </a:solidFill>
                <a:effectLst>
                  <a:innerShdw blurRad="63500" dist="50800" dir="13500000">
                    <a:srgbClr val="000000">
                      <a:alpha val="50000"/>
                    </a:srgbClr>
                  </a:innerShdw>
                </a:effectLst>
                <a:latin typeface="Century Gothic" panose="020B0502020202020204" pitchFamily="34" charset="0"/>
              </a:endParaRPr>
            </a:p>
          </p:txBody>
        </p:sp>
        <p:sp>
          <p:nvSpPr>
            <p:cNvPr id="10" name="CuadroTexto 9">
              <a:extLst>
                <a:ext uri="{FF2B5EF4-FFF2-40B4-BE49-F238E27FC236}">
                  <a16:creationId xmlns:a16="http://schemas.microsoft.com/office/drawing/2014/main" id="{4F32BD6A-44CB-036B-8C43-EF691DA46501}"/>
                </a:ext>
              </a:extLst>
            </p:cNvPr>
            <p:cNvSpPr txBox="1"/>
            <p:nvPr/>
          </p:nvSpPr>
          <p:spPr>
            <a:xfrm>
              <a:off x="1399046" y="2745083"/>
              <a:ext cx="2446638" cy="1200329"/>
            </a:xfrm>
            <a:prstGeom prst="rect">
              <a:avLst/>
            </a:prstGeom>
            <a:noFill/>
          </p:spPr>
          <p:txBody>
            <a:bodyPr wrap="square" rtlCol="0">
              <a:spAutoFit/>
            </a:bodyPr>
            <a:lstStyle/>
            <a:p>
              <a:r>
                <a:rPr lang="es-SV" sz="3600" dirty="0">
                  <a:solidFill>
                    <a:schemeClr val="bg1"/>
                  </a:solidFill>
                  <a:latin typeface="Century Gothic" panose="020B0502020202020204" pitchFamily="34" charset="0"/>
                </a:rPr>
                <a:t>Espacio de</a:t>
              </a:r>
            </a:p>
          </p:txBody>
        </p:sp>
        <p:sp>
          <p:nvSpPr>
            <p:cNvPr id="11" name="Rectángulo 10">
              <a:extLst>
                <a:ext uri="{FF2B5EF4-FFF2-40B4-BE49-F238E27FC236}">
                  <a16:creationId xmlns:a16="http://schemas.microsoft.com/office/drawing/2014/main" id="{81F0EEF9-9C8A-547A-F139-859C32634021}"/>
                </a:ext>
              </a:extLst>
            </p:cNvPr>
            <p:cNvSpPr/>
            <p:nvPr/>
          </p:nvSpPr>
          <p:spPr>
            <a:xfrm>
              <a:off x="1344760" y="2839158"/>
              <a:ext cx="54286" cy="408629"/>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grpSp>
      <p:pic>
        <p:nvPicPr>
          <p:cNvPr id="12" name="Imagen 11">
            <a:extLst>
              <a:ext uri="{FF2B5EF4-FFF2-40B4-BE49-F238E27FC236}">
                <a16:creationId xmlns:a16="http://schemas.microsoft.com/office/drawing/2014/main" id="{3F9F6F68-FE8F-EC7A-44CE-E43EF7DF895B}"/>
              </a:ext>
            </a:extLst>
          </p:cNvPr>
          <p:cNvPicPr>
            <a:picLocks noChangeAspect="1"/>
          </p:cNvPicPr>
          <p:nvPr/>
        </p:nvPicPr>
        <p:blipFill>
          <a:blip r:embed="rId3"/>
          <a:stretch>
            <a:fillRect/>
          </a:stretch>
        </p:blipFill>
        <p:spPr>
          <a:xfrm>
            <a:off x="6504818" y="2501900"/>
            <a:ext cx="1841500" cy="1854200"/>
          </a:xfrm>
          <a:prstGeom prst="rect">
            <a:avLst/>
          </a:prstGeom>
        </p:spPr>
      </p:pic>
      <p:pic>
        <p:nvPicPr>
          <p:cNvPr id="3" name="Imagen 2">
            <a:extLst>
              <a:ext uri="{FF2B5EF4-FFF2-40B4-BE49-F238E27FC236}">
                <a16:creationId xmlns:a16="http://schemas.microsoft.com/office/drawing/2014/main" id="{8D4401D9-4034-D9F6-1112-F32970D23DFF}"/>
              </a:ext>
            </a:extLst>
          </p:cNvPr>
          <p:cNvPicPr>
            <a:picLocks noChangeAspect="1"/>
          </p:cNvPicPr>
          <p:nvPr/>
        </p:nvPicPr>
        <p:blipFill>
          <a:blip r:embed="rId4"/>
          <a:stretch>
            <a:fillRect/>
          </a:stretch>
        </p:blipFill>
        <p:spPr>
          <a:xfrm>
            <a:off x="10261847" y="5372328"/>
            <a:ext cx="1715573" cy="1257033"/>
          </a:xfrm>
          <a:prstGeom prst="rect">
            <a:avLst/>
          </a:prstGeom>
        </p:spPr>
      </p:pic>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98dab1c-c8f3-4f9c-8270-c22a94ade099}" enabled="0" method="" siteId="{d98dab1c-c8f3-4f9c-8270-c22a94ade099}" removed="1"/>
</clbl:labelList>
</file>

<file path=docProps/app.xml><?xml version="1.0" encoding="utf-8"?>
<Properties xmlns="http://schemas.openxmlformats.org/officeDocument/2006/extended-properties" xmlns:vt="http://schemas.openxmlformats.org/officeDocument/2006/docPropsVTypes">
  <TotalTime>14</TotalTime>
  <Words>458</Words>
  <Application>Microsoft Office PowerPoint</Application>
  <PresentationFormat>Panorámica</PresentationFormat>
  <Paragraphs>39</Paragraphs>
  <Slides>10</Slides>
  <Notes>3</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10</vt:i4>
      </vt:variant>
    </vt:vector>
  </HeadingPairs>
  <TitlesOfParts>
    <vt:vector size="17" baseType="lpstr">
      <vt:lpstr>Aptos</vt:lpstr>
      <vt:lpstr>Aptos Display</vt:lpstr>
      <vt:lpstr>Arial</vt:lpstr>
      <vt:lpstr>Calibri</vt:lpstr>
      <vt:lpstr>Century Gothic</vt:lpstr>
      <vt:lpstr>Myriad Pro</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Alejandra Batres Alvarado</dc:creator>
  <cp:lastModifiedBy>Hector Jose Menjivar Somoza</cp:lastModifiedBy>
  <cp:revision>17</cp:revision>
  <dcterms:created xsi:type="dcterms:W3CDTF">2025-07-17T21:19:45Z</dcterms:created>
  <dcterms:modified xsi:type="dcterms:W3CDTF">2026-10-24T19:14:06Z</dcterms:modified>
</cp:coreProperties>
</file>