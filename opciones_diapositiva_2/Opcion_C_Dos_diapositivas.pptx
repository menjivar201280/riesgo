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6" r:id="rId13"/>
    <p:sldId id="263" r:id="rId4"/>
    <p:sldId id="264" r:id="rId5"/>
    <p:sldId id="257" r:id="rId6"/>
    <p:sldId id="262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FB"/>
    <a:srgbClr val="6CA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Cumplimiento</c:v>
          </c:tx>
          <c:spPr>
            <a:solidFill>
              <a:srgbClr val="2378AE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latin typeface="Nimbus Sans"/>
                    <a:ea typeface="Nimbus Sans"/>
                    <a:cs typeface="Nimbus San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Central</c:v>
                </c:pt>
                <c:pt idx="1">
                  <c:v>Colegio Médico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0.14940000000000001</c:v>
                </c:pt>
                <c:pt idx="1">
                  <c:v>0.60609999999999997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C-488D-8634-2EF8472B8F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50112"/>
        <c:crosses val="autoZero"/>
        <c:crossBetween val="between"/>
        <c:majorUnit val="0.25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1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cuadro fotografiado aportado por el usuario en esta conversación, image-1792520650622.jpg. Metas de desembolsos, desembolsos, amortización, cancelaciones, variación y metas de crecimiento transcritos de la imagen. Saldos de cierre tomados de la imagen image-1792520282772.jpg, visible en la conversación. Enero–septiembre confirmado por el usuario. Cálculos: cumplimiento desembolsos = desembolsos/meta; parcial = desembolsos - amortización - cancelaciones; cumplimiento crecimiento = variación reportada/meta crecimiento; brecha = variación reportada - meta. Diferencia pendiente = parcial - variación reportada. No se verificaron los datos de origen ni el saldo inicial. No se presenta el parcial como crecimiento neto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imagen del usuario, Comparativo_Agencias_Sep2026. Cifras transcritas de la captura. Los períodos y alcances de los flujos de préstamos requieren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cuadro fotografiado aportado por el usuario en esta conversación, image-1792520650622.jpg. Metas de desembolsos, desembolsos, amortización, cancelaciones, variación y metas de crecimiento transcritos de la imagen. Saldos de cierre tomados de la imagen image-1792520282772.jpg, visible en la conversación. Enero–septiembre confirmado por el usuario. Cálculos: cumplimiento desembolsos = desembolsos/meta; parcial = desembolsos - amortización - cancelaciones; cumplimiento crecimiento = variación reportada/meta crecimiento; brecha = variación reportada - meta. Diferencia pendiente = parcial - variación reportada. No se verificaron los datos de origen ni el saldo inicial. No se presenta el parcial como crecimiento neto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70E324-AED0-4BD4-9678-0B2DA828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D5DDEF0-4651-4F51-9B7E-A3E689C12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1D3488-11F4-4E61-B027-01CA2AAA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58D49E-1F86-425F-B8BB-6B5CC0D5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AD6BFDD-1937-43A7-984C-CB34B4A3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B86B36-442D-4171-8856-FA03D279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BCA25A-4613-47FB-9BB6-D35790AF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B64491B-5AC3-4F21-A5CD-EC9B2FE668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88E33B-C90E-4921-9B86-3FAD27A8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251978-F511-4513-A62E-ACF8B562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34DD9A1-67E2-4DDF-9F6C-A7430BA80A0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48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Gestión Comercial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98DF24-831B-49F8-A2B7-4D5B9301E620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7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Crecimiento de cartera y cumplimiento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426651-E443-4A21-BD68-A4E25C674417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F5FEC7-A556-4D84-AC0F-D4D2071C97AB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Cierre de septiembre de 2026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44C458-F555-F16F-2B84-F150DC070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89" y="2082913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1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445557-6FF1-4AFA-BC3E-04D35246FBC7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1123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800" noProof="0" dirty="0"/>
              <a:t>Crecimiento de cartera: monto y porcentaje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C81A80-2060-4098-81C6-B5AFC4668C1E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65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 y Colegio Médico · Acumulado enero–septiembre de 2026</a:t>
            </a:r>
          </a:p>
        </p:txBody>
      </p:sp>
      <p:graphicFrame>
        <p:nvGraphicFramePr>
          <p:cNvPr id="7" name="Tabla 2"/>
          <p:cNvGraphicFramePr>
            <a:graphicFrameLocks noGrp="1"/>
          </p:cNvGraphicFramePr>
          <p:nvPr/>
        </p:nvGraphicFramePr>
        <p:xfrm>
          <a:off x="476250" y="1600200"/>
          <a:ext cx="11247120" cy="4261104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</a:tr>
              <a:tr h="566928">
                <a:tc gridSpan="3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 DESEMBOLSOS</a:t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desembolsos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$8,100,000.00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$5,625,000.00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Desembolsos realizados (+)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$10,057,790.62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$3,792,046.74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Cumplimiento de desembolsos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124.17%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67.41%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566928">
                <a:tc gridSpan="3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 COLOCACIÓN NETA</a:t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Amortización natural (−)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$4,704,882.17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$2,587,564.25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Cancelaciones anticipadas (−)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Colocación Neta de desembolsos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$885,133.63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$763,405.55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9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445557-6FF1-4AFA-BC3E-04D35246FBC7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1123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800" noProof="0" dirty="0"/>
              <a:t>Crecimiento de cartera: monto y porcentaje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C81A80-2060-4098-81C6-B5AFC4668C1E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65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 y Colegio Médico · Acumulado enero–septiembre de 2026</a:t>
            </a:r>
          </a:p>
        </p:txBody>
      </p:sp>
      <p:graphicFrame>
        <p:nvGraphicFramePr>
          <p:cNvPr id="7" name="Tabla 2"/>
          <p:cNvGraphicFramePr>
            <a:graphicFrameLocks noGrp="1"/>
          </p:cNvGraphicFramePr>
          <p:nvPr/>
        </p:nvGraphicFramePr>
        <p:xfrm>
          <a:off x="476250" y="1600200"/>
          <a:ext cx="11247120" cy="3465576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</a:tr>
              <a:tr h="566928">
                <a:tc gridSpan="3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 CRECIMIENTO DE CARTERA</a:t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Saldo de cartera al cierre de septiembre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$80,151,314.67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$28,279,390.71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de cartera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−$845,243.40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−$84,530.22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 de cartera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$2,393,084.78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$867,493.23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Cumplimiento de la meta de crecimiento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-35.32%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-9.74%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Déficit de crecimiento de cartera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−$3,238,328.18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−$952,023.45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94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D1A72C2-D7AB-4281-B2C3-155B6A5E06DB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Central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B860BC-CC8C-4D14-B8DF-E304C7B3C790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D08209-48A1-4A68-9C91-AFB4B55C221A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Cinco principales causas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C48607-282A-442E-AB3E-40C813D44E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585360"/>
              </p:ext>
            </p:extLst>
          </p:nvPr>
        </p:nvGraphicFramePr>
        <p:xfrm>
          <a:off x="523875" y="2143125"/>
          <a:ext cx="11144250" cy="3291840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556287899"/>
                    </a:ext>
                  </a:extLst>
                </a:gridCol>
              </a:tblGrid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$1,044,715.59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 u otros activos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$850,775.12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19.04%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Fondos propios sin mayor detalle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$219,160.59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4.91%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$90,052.49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2.02%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$73,776.99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1.65%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Seguro por fallecimiento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$61,786.28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4311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 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$2,127,507.76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47.62%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44599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de las cinco causas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16F6CEFA-4A93-47EC-ADE7-2591FB7E4676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traslado de deuda concentra el mayor monto de las causas clasificadas.</a:t>
            </a:r>
          </a:p>
        </p:txBody>
      </p:sp>
    </p:spTree>
    <p:extLst>
      <p:ext uri="{BB962C8B-B14F-4D97-AF65-F5344CB8AC3E}">
        <p14:creationId xmlns:p14="http://schemas.microsoft.com/office/powerpoint/2010/main" val="208952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D9FA9CA-CB63-4679-8DF3-7D52B75A01BC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Colegio Médico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78F875A-377E-4785-B883-5DE1E62101BD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1C5394-264D-4BC0-9957-4BEF42EB07BB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Cuatro causas identificadas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FD9808-C527-4041-9398-81310010B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5448732"/>
              </p:ext>
            </p:extLst>
          </p:nvPr>
        </p:nvGraphicFramePr>
        <p:xfrm>
          <a:off x="523875" y="2143125"/>
          <a:ext cx="11144250" cy="3000375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810817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$189,938.06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43.06%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$63,442.76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$40,880.36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9.27%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$28,867.14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6.54%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$117,948.62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26.74%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8758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clasificable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CB8A32A-6C5B-4515-A944-3CB5C10A5DA5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uso de ahorros propios concentra el mayor monto clasificado.</a:t>
            </a:r>
          </a:p>
        </p:txBody>
      </p:sp>
    </p:spTree>
    <p:extLst>
      <p:ext uri="{BB962C8B-B14F-4D97-AF65-F5344CB8AC3E}">
        <p14:creationId xmlns:p14="http://schemas.microsoft.com/office/powerpoint/2010/main" val="87135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F95FFF4-A6A3-46A8-971F-A1299A50B326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144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Tarjetas de crédito: cumplimiento de meta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61FE14-996E-49BB-AF89-89CD160F3072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Comparativo de agencias · Septiembre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F9C0CD-CE58-4BDD-AE0E-A716C126968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2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2 / 7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D4E65C-32B6-458D-9B70-29F8543C2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936796"/>
              </p:ext>
            </p:extLst>
          </p:nvPr>
        </p:nvGraphicFramePr>
        <p:xfrm>
          <a:off x="523875" y="1571625"/>
          <a:ext cx="6477000" cy="31432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Tarjetas al cierre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3,994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1,980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Activadas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neto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6B40FFC2-6790-473C-854E-B193824EFB3F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Cumplimiento</a:t>
            </a:r>
          </a:p>
        </p:txBody>
      </p:sp>
      <p:graphicFrame>
        <p:nvGraphicFramePr>
          <p:cNvPr id="6" name="Chart" descr="Chart">
            <a:extLst>
              <a:ext uri="{FF2B5EF4-FFF2-40B4-BE49-F238E27FC236}">
                <a16:creationId xmlns:a16="http://schemas.microsoft.com/office/drawing/2014/main" id="{C916F47F-12B9-4C33-8119-F7CD93FBC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081412"/>
              </p:ext>
            </p:extLst>
          </p:nvPr>
        </p:nvGraphicFramePr>
        <p:xfrm>
          <a:off x="7334250" y="2143125"/>
          <a:ext cx="4333875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950E1A8-B526-4C53-88D7-547B99FA65BF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14.94%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18F647-A5DF-43EE-9D6F-DEA1300AB351}"/>
              </a:ext>
            </a:extLst>
          </p:cNvPr>
          <p:cNvSpPr>
            <a:spLocks noGrp="1"/>
          </p:cNvSpPr>
          <p:nvPr/>
        </p:nvSpPr>
        <p:spPr>
          <a:xfrm>
            <a:off x="9620250" y="48577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60.61%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2F1CD57-DA38-4C83-8E79-7DB282B341AE}"/>
              </a:ext>
            </a:extLst>
          </p:cNvPr>
          <p:cNvSpPr>
            <a:spLocks noGrp="1"/>
          </p:cNvSpPr>
          <p:nvPr/>
        </p:nvSpPr>
        <p:spPr>
          <a:xfrm>
            <a:off x="7477125" y="5410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F74B9A-FBE3-47C7-9BBB-D58BA8ED86E1}"/>
              </a:ext>
            </a:extLst>
          </p:cNvPr>
          <p:cNvSpPr>
            <a:spLocks noGrp="1"/>
          </p:cNvSpPr>
          <p:nvPr/>
        </p:nvSpPr>
        <p:spPr>
          <a:xfrm>
            <a:off x="96202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BCE95A-2A5A-4288-8509-F4CF8AB23A1A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95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Las cancelaciones reducen el crecimiento neto de ambas agencias.</a:t>
            </a:r>
          </a:p>
        </p:txBody>
      </p:sp>
    </p:spTree>
    <p:extLst>
      <p:ext uri="{BB962C8B-B14F-4D97-AF65-F5344CB8AC3E}">
        <p14:creationId xmlns:p14="http://schemas.microsoft.com/office/powerpoint/2010/main" val="1614363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093D963-04A9-4072-8BDD-D94032002F8E}"/>
              </a:ext>
            </a:extLst>
          </p:cNvPr>
          <p:cNvSpPr>
            <a:spLocks noGrp="1"/>
          </p:cNvSpPr>
          <p:nvPr/>
        </p:nvSpPr>
        <p:spPr>
          <a:xfrm>
            <a:off x="619125" y="2309812"/>
            <a:ext cx="3274449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54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Gracias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1588FB-DADF-46B6-A153-F287CF70DAE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Seguimiento al crecimiento de cartera y al cumplimiento de metas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94F02C-E8E6-493B-B70A-E03F51415F6F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725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3C7C80-9EC1-9D30-99F4-77F791CBE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64" y="498699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45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822</Words>
  <Application>Microsoft Office PowerPoint</Application>
  <DocSecurity>0</DocSecurity>
  <PresentationFormat>Panorámica</PresentationFormat>
  <Paragraphs>148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Nimbus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Edgardo Isaias Peñate Rivas</cp:lastModifiedBy>
  <cp:revision>14</cp:revision>
  <dcterms:created xsi:type="dcterms:W3CDTF">2026-10-16T14:40:37Z</dcterms:created>
  <dcterms:modified xsi:type="dcterms:W3CDTF">2026-10-20T21:26:26Z</dcterms:modified>
</cp:coreProperties>
</file>