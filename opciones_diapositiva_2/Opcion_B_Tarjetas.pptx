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56" r:id="rId2"/>
    <p:sldId id="265" r:id="rId3"/>
    <p:sldId id="263" r:id="rId4"/>
    <p:sldId id="264" r:id="rId5"/>
    <p:sldId id="257" r:id="rId6"/>
    <p:sldId id="262" r:id="rId7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0F7FB"/>
    <a:srgbClr val="6CAED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2" autoAdjust="0"/>
    <p:restoredTop sz="94660"/>
  </p:normalViewPr>
  <p:slideViewPr>
    <p:cSldViewPr snapToGrid="0">
      <p:cViewPr>
        <p:scale>
          <a:sx n="75" d="100"/>
          <a:sy n="75" d="100"/>
        </p:scale>
        <p:origin x="97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s-E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Cumplimiento</c:v>
          </c:tx>
          <c:spPr>
            <a:solidFill>
              <a:srgbClr val="2378AE"/>
            </a:solidFill>
          </c:spPr>
          <c:invertIfNegative val="0"/>
          <c:dLbls>
            <c:numFmt formatCode="0.00%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500" b="1">
                    <a:latin typeface="Nimbus Sans"/>
                    <a:ea typeface="Nimbus Sans"/>
                    <a:cs typeface="Nimbus Sans"/>
                  </a:defRPr>
                </a:pPr>
                <a:endParaRPr lang="es-MX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Data'!$A$2:$A$3</c:f>
              <c:strCache>
                <c:ptCount val="2"/>
                <c:pt idx="0">
                  <c:v>Central</c:v>
                </c:pt>
                <c:pt idx="1">
                  <c:v>Colegio Médico</c:v>
                </c:pt>
              </c:strCache>
            </c:strRef>
          </c:cat>
          <c:val>
            <c:numRef>
              <c:f>'Chart Data'!$B$2:$B$3</c:f>
              <c:numCache>
                <c:formatCode>0%</c:formatCode>
                <c:ptCount val="2"/>
                <c:pt idx="0">
                  <c:v>0.14940000000000001</c:v>
                </c:pt>
                <c:pt idx="1">
                  <c:v>0.60609999999999997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12C-488D-8634-2EF8472B8FA8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75">
                <a:solidFill>
                  <a:srgbClr val="666666"/>
                </a:solidFill>
                <a:latin typeface="Nimbus Sans"/>
                <a:ea typeface="Nimbus Sans"/>
                <a:cs typeface="Nimbus Sans"/>
              </a:defRPr>
            </a:pPr>
            <a:endParaRPr lang="es-MX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1"/>
          <c:min val="0"/>
        </c:scaling>
        <c:delete val="0"/>
        <c:axPos val="b"/>
        <c:numFmt formatCode="0%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00">
                <a:solidFill>
                  <a:srgbClr val="666666"/>
                </a:solidFill>
                <a:latin typeface="Nimbus Sans"/>
                <a:ea typeface="Nimbus Sans"/>
                <a:cs typeface="Nimbus Sans"/>
              </a:defRPr>
            </a:pPr>
            <a:endParaRPr lang="es-MX"/>
          </a:p>
        </c:txPr>
        <c:crossAx val="48650112"/>
        <c:crosses val="autoZero"/>
        <c:crossBetween val="between"/>
        <c:majorUnit val="0.25"/>
      </c:valAx>
    </c:plotArea>
    <c:plotVisOnly val="1"/>
    <c:dispBlanksAs val="zero"/>
    <c:showDLblsOverMax val="1"/>
  </c:chart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759155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Fuente: cuadro fotografiado aportado por el usuario en esta conversación, image-1792520650622.jpg. Metas de desembolsos, desembolsos, amortización, cancelaciones, variación y metas de crecimiento transcritos de la imagen. Saldos de cierre tomados de la imagen image-1792520282772.jpg, visible en la conversación. Enero–septiembre confirmado por el usuario. Cálculos: cumplimiento desembolsos = desembolsos/meta; parcial = desembolsos - amortización - cancelaciones; cumplimiento crecimiento = variación reportada/meta crecimiento; brecha = variación reportada - meta. Diferencia pendiente = parcial - variación reportada. No se verificaron los datos de origen ni el saldo inicial. No se presenta el parcial como crecimiento neto validado.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Fuente: ocho archivos mensuales de Cancelaciones Préstamos, febrero a septiembre de 2026, aportados por el usuario. Clasificación preliminar de comentarios. Umbral estricto &gt;15000, cantidad reportada igual a uno y sin abonos en el comentario. Se retuvo una ocurrencia de posibles duplicados. Los registros agrupados no están incluidos por falta de monto individual. Ranking por monto, no por cantidad. Central: 33 registros clasificables por $2364595.47; estas cinco categorías reúnen 30 registros por $2278480.78. Colegio Médico: nueve registros por $323128.32; solo cuatro categorías. Duplicado probable de Colegio Médico: 6 y 18 de abril, asociado 14234, $25142.89, se contó una vez.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Fuente: ocho archivos mensuales de Cancelaciones Préstamos, febrero a septiembre de 2026, aportados por el usuario. Clasificación preliminar de comentarios. Umbral estricto &gt;15000, cantidad reportada igual a uno y sin abonos en el comentario. Se retuvo una ocurrencia de posibles duplicados. Los registros agrupados no están incluidos por falta de monto individual. Ranking por monto, no por cantidad. Central: 33 registros clasificables por $2364595.47; estas cinco categorías reúnen 30 registros por $2278480.78. Colegio Médico: nueve registros por $323128.32; solo cuatro categorías. Duplicado probable de Colegio Médico: 6 y 18 de abril, asociado 14234, $25142.89, se contó una vez.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Fuente: imagen del usuario, Comparativo_Agencias_Sep2026. Cifras transcritas de la captura. Los períodos y alcances de los flujos de préstamos requieren confirmación.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3270E324-AED0-4BD4-9678-0B2DA828D5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8D5DDEF0-4651-4F51-9B7E-A3E689C127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A11D3488-11F4-4E61-B027-01CA2AAAD2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E058D49E-1F86-425F-B8BB-6B5CC0D528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DAD6BFDD-1937-43A7-984C-CB34B4A342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FAB86B36-442D-4171-8856-FA03D2791F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DDBCA25A-4613-47FB-9BB6-D35790AFF0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2B64491B-5AC3-4F21-A5CD-EC9B2FE668B0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FA88E33B-C90E-4921-9B86-3FAD27A823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E6251978-F511-4513-A62E-ACF8B562C5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30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B34DD9A1-67E2-4DDF-9F6C-A7430BA80A05}"/>
              </a:ext>
            </a:extLst>
          </p:cNvPr>
          <p:cNvSpPr>
            <a:spLocks noGrp="1"/>
          </p:cNvSpPr>
          <p:nvPr/>
        </p:nvSpPr>
        <p:spPr>
          <a:xfrm>
            <a:off x="619125" y="1619250"/>
            <a:ext cx="10668000" cy="809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480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defPPr>
          </a:lstStyle>
          <a:p>
            <a:pPr>
              <a:defRPr sz="480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lang="es-MX" sz="4800" b="1" noProof="0" dirty="0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Gestión Comercial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BB98DF24-831B-49F8-A2B7-4D5B9301E620}"/>
              </a:ext>
            </a:extLst>
          </p:cNvPr>
          <p:cNvSpPr>
            <a:spLocks noGrp="1"/>
          </p:cNvSpPr>
          <p:nvPr/>
        </p:nvSpPr>
        <p:spPr>
          <a:xfrm>
            <a:off x="647700" y="2619375"/>
            <a:ext cx="10477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700" b="0">
                <a:solidFill>
                  <a:srgbClr val="B8DDF2"/>
                </a:solidFill>
                <a:latin typeface="Nimbus Sans"/>
                <a:ea typeface="Nimbus Sans"/>
                <a:cs typeface="Nimbus Sans"/>
              </a:defRPr>
            </a:defPPr>
          </a:lstStyle>
          <a:p>
            <a:pPr>
              <a:defRPr sz="2700" b="0">
                <a:solidFill>
                  <a:srgbClr val="B8DDF2"/>
                </a:solidFill>
                <a:latin typeface="Nimbus Sans"/>
                <a:ea typeface="Nimbus Sans"/>
                <a:cs typeface="Nimbus Sans"/>
              </a:defRPr>
            </a:pPr>
            <a:r>
              <a:rPr lang="es-MX" sz="2700" b="0" noProof="0" dirty="0">
                <a:solidFill>
                  <a:srgbClr val="B8DDF2"/>
                </a:solidFill>
                <a:latin typeface="Nimbus Sans"/>
                <a:ea typeface="Nimbus Sans"/>
                <a:cs typeface="Nimbus Sans"/>
              </a:rPr>
              <a:t>Crecimiento de cartera y cumplimiento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2E426651-E443-4A21-BD68-A4E25C674417}"/>
              </a:ext>
            </a:extLst>
          </p:cNvPr>
          <p:cNvSpPr>
            <a:spLocks noGrp="1"/>
          </p:cNvSpPr>
          <p:nvPr/>
        </p:nvSpPr>
        <p:spPr>
          <a:xfrm>
            <a:off x="647700" y="3619500"/>
            <a:ext cx="10477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175" b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defPPr>
          </a:lstStyle>
          <a:p>
            <a:pPr>
              <a:defRPr sz="2175" b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lang="es-MX" sz="2175" b="0" noProof="0" dirty="0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Agencia Central y Colegio Médico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BAF5FEC7-A556-4D84-AC0F-D4D2071C97AB}"/>
              </a:ext>
            </a:extLst>
          </p:cNvPr>
          <p:cNvSpPr>
            <a:spLocks noGrp="1"/>
          </p:cNvSpPr>
          <p:nvPr/>
        </p:nvSpPr>
        <p:spPr>
          <a:xfrm>
            <a:off x="647700" y="5476875"/>
            <a:ext cx="9525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00" b="0">
                <a:solidFill>
                  <a:srgbClr val="B8DDF2"/>
                </a:solidFill>
                <a:latin typeface="Nimbus Sans"/>
                <a:ea typeface="Nimbus Sans"/>
                <a:cs typeface="Nimbus Sans"/>
              </a:defRPr>
            </a:defPPr>
          </a:lstStyle>
          <a:p>
            <a:pPr>
              <a:defRPr sz="1800" b="0">
                <a:solidFill>
                  <a:srgbClr val="B8DDF2"/>
                </a:solidFill>
                <a:latin typeface="Nimbus Sans"/>
                <a:ea typeface="Nimbus Sans"/>
                <a:cs typeface="Nimbus Sans"/>
              </a:defRPr>
            </a:pPr>
            <a:r>
              <a:rPr lang="es-MX" sz="1800" b="0" noProof="0" dirty="0">
                <a:solidFill>
                  <a:srgbClr val="B8DDF2"/>
                </a:solidFill>
                <a:latin typeface="Nimbus Sans"/>
                <a:ea typeface="Nimbus Sans"/>
                <a:cs typeface="Nimbus Sans"/>
              </a:rPr>
              <a:t>Cierre de septiembre de 2026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4E44C458-F555-F16F-2B84-F150DC0700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0389" y="2082913"/>
            <a:ext cx="4411486" cy="2977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82194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D7445557-6FF1-4AFA-BC3E-04D35246FBC7}"/>
              </a:ext>
            </a:extLst>
          </p:cNvPr>
          <p:cNvSpPr>
            <a:spLocks noGrp="1"/>
          </p:cNvSpPr>
          <p:nvPr/>
        </p:nvSpPr>
        <p:spPr>
          <a:xfrm>
            <a:off x="476250" y="285750"/>
            <a:ext cx="112395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925" b="1">
                <a:solidFill>
                  <a:srgbClr val="12304D"/>
                </a:solidFill>
                <a:latin typeface="Nimbus Sans"/>
                <a:ea typeface="Nimbus Sans"/>
                <a:cs typeface="Nimbus Sans"/>
              </a:defRPr>
            </a:defPPr>
            <a:lvl1pPr>
              <a:defRPr sz="2925" b="1">
                <a:solidFill>
                  <a:srgbClr val="12304D"/>
                </a:solidFill>
                <a:latin typeface="Nimbus Sans"/>
                <a:ea typeface="Nimbus Sans"/>
                <a:cs typeface="Nimbus Sans"/>
              </a:defRPr>
            </a:lvl1pPr>
            <a:lvl2pPr>
              <a:defRPr sz="2925" b="1">
                <a:solidFill>
                  <a:srgbClr val="12304D"/>
                </a:solidFill>
                <a:latin typeface="Nimbus Sans"/>
                <a:ea typeface="Nimbus Sans"/>
                <a:cs typeface="Nimbus Sans"/>
              </a:defRPr>
            </a:lvl2pPr>
            <a:lvl3pPr>
              <a:defRPr sz="2925" b="1">
                <a:solidFill>
                  <a:srgbClr val="12304D"/>
                </a:solidFill>
                <a:latin typeface="Nimbus Sans"/>
                <a:ea typeface="Nimbus Sans"/>
                <a:cs typeface="Nimbus Sans"/>
              </a:defRPr>
            </a:lvl3pPr>
            <a:lvl4pPr>
              <a:defRPr sz="2925" b="1">
                <a:solidFill>
                  <a:srgbClr val="12304D"/>
                </a:solidFill>
                <a:latin typeface="Nimbus Sans"/>
                <a:ea typeface="Nimbus Sans"/>
                <a:cs typeface="Nimbus Sans"/>
              </a:defRPr>
            </a:lvl4pPr>
            <a:lvl5pPr>
              <a:defRPr sz="2925" b="1">
                <a:solidFill>
                  <a:srgbClr val="12304D"/>
                </a:solidFill>
                <a:latin typeface="Nimbus Sans"/>
                <a:ea typeface="Nimbus Sans"/>
                <a:cs typeface="Nimbus Sans"/>
              </a:defRPr>
            </a:lvl5pPr>
            <a:lvl6pPr>
              <a:defRPr sz="2925" b="1">
                <a:solidFill>
                  <a:srgbClr val="12304D"/>
                </a:solidFill>
                <a:latin typeface="Nimbus Sans"/>
                <a:ea typeface="Nimbus Sans"/>
                <a:cs typeface="Nimbus Sans"/>
              </a:defRPr>
            </a:lvl6pPr>
            <a:lvl7pPr>
              <a:defRPr sz="2925" b="1">
                <a:solidFill>
                  <a:srgbClr val="12304D"/>
                </a:solidFill>
                <a:latin typeface="Nimbus Sans"/>
                <a:ea typeface="Nimbus Sans"/>
                <a:cs typeface="Nimbus Sans"/>
              </a:defRPr>
            </a:lvl7pPr>
            <a:lvl8pPr>
              <a:defRPr sz="2925" b="1">
                <a:solidFill>
                  <a:srgbClr val="12304D"/>
                </a:solidFill>
                <a:latin typeface="Nimbus Sans"/>
                <a:ea typeface="Nimbus Sans"/>
                <a:cs typeface="Nimbus Sans"/>
              </a:defRPr>
            </a:lvl8pPr>
            <a:lvl9pPr>
              <a:defRPr sz="2925" b="1">
                <a:solidFill>
                  <a:srgbClr val="12304D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defRPr sz="3000" b="1">
                <a:solidFill>
                  <a:srgbClr val="12304D"/>
                </a:solidFill>
                <a:latin typeface="Nimbus Sans"/>
                <a:ea typeface="Nimbus Sans"/>
                <a:cs typeface="Nimbus Sans"/>
              </a:defRPr>
            </a:pPr>
            <a:r>
              <a:rPr lang="es-MX" sz="2800" noProof="0" dirty="0"/>
              <a:t>Crecimiento de cartera: monto y porcentaje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56C81A80-2060-4098-81C6-B5AFC4668C1E}"/>
              </a:ext>
            </a:extLst>
          </p:cNvPr>
          <p:cNvSpPr>
            <a:spLocks noGrp="1"/>
          </p:cNvSpPr>
          <p:nvPr/>
        </p:nvSpPr>
        <p:spPr>
          <a:xfrm>
            <a:off x="495300" y="895350"/>
            <a:ext cx="110490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650" b="0">
                <a:solidFill>
                  <a:srgbClr val="526577"/>
                </a:solidFill>
                <a:latin typeface="Nimbus Sans"/>
                <a:ea typeface="Nimbus Sans"/>
                <a:cs typeface="Nimbus Sans"/>
              </a:defRPr>
            </a:defPPr>
            <a:lvl1pPr>
              <a:defRPr sz="1650" b="0">
                <a:solidFill>
                  <a:srgbClr val="526577"/>
                </a:solidFill>
                <a:latin typeface="Nimbus Sans"/>
                <a:ea typeface="Nimbus Sans"/>
                <a:cs typeface="Nimbus Sans"/>
              </a:defRPr>
            </a:lvl1pPr>
            <a:lvl2pPr>
              <a:defRPr sz="1650" b="0">
                <a:solidFill>
                  <a:srgbClr val="526577"/>
                </a:solidFill>
                <a:latin typeface="Nimbus Sans"/>
                <a:ea typeface="Nimbus Sans"/>
                <a:cs typeface="Nimbus Sans"/>
              </a:defRPr>
            </a:lvl2pPr>
            <a:lvl3pPr>
              <a:defRPr sz="1650" b="0">
                <a:solidFill>
                  <a:srgbClr val="526577"/>
                </a:solidFill>
                <a:latin typeface="Nimbus Sans"/>
                <a:ea typeface="Nimbus Sans"/>
                <a:cs typeface="Nimbus Sans"/>
              </a:defRPr>
            </a:lvl3pPr>
            <a:lvl4pPr>
              <a:defRPr sz="1650" b="0">
                <a:solidFill>
                  <a:srgbClr val="526577"/>
                </a:solidFill>
                <a:latin typeface="Nimbus Sans"/>
                <a:ea typeface="Nimbus Sans"/>
                <a:cs typeface="Nimbus Sans"/>
              </a:defRPr>
            </a:lvl4pPr>
            <a:lvl5pPr>
              <a:defRPr sz="1650" b="0">
                <a:solidFill>
                  <a:srgbClr val="526577"/>
                </a:solidFill>
                <a:latin typeface="Nimbus Sans"/>
                <a:ea typeface="Nimbus Sans"/>
                <a:cs typeface="Nimbus Sans"/>
              </a:defRPr>
            </a:lvl5pPr>
            <a:lvl6pPr>
              <a:defRPr sz="1650" b="0">
                <a:solidFill>
                  <a:srgbClr val="526577"/>
                </a:solidFill>
                <a:latin typeface="Nimbus Sans"/>
                <a:ea typeface="Nimbus Sans"/>
                <a:cs typeface="Nimbus Sans"/>
              </a:defRPr>
            </a:lvl6pPr>
            <a:lvl7pPr>
              <a:defRPr sz="1650" b="0">
                <a:solidFill>
                  <a:srgbClr val="526577"/>
                </a:solidFill>
                <a:latin typeface="Nimbus Sans"/>
                <a:ea typeface="Nimbus Sans"/>
                <a:cs typeface="Nimbus Sans"/>
              </a:defRPr>
            </a:lvl7pPr>
            <a:lvl8pPr>
              <a:defRPr sz="1650" b="0">
                <a:solidFill>
                  <a:srgbClr val="526577"/>
                </a:solidFill>
                <a:latin typeface="Nimbus Sans"/>
                <a:ea typeface="Nimbus Sans"/>
                <a:cs typeface="Nimbus Sans"/>
              </a:defRPr>
            </a:lvl8pPr>
            <a:lvl9pPr>
              <a:defRPr sz="1650" b="0">
                <a:solidFill>
                  <a:srgbClr val="526577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defRPr sz="1650" b="0">
                <a:solidFill>
                  <a:srgbClr val="526577"/>
                </a:solidFill>
                <a:latin typeface="Nimbus Sans"/>
                <a:ea typeface="Nimbus Sans"/>
                <a:cs typeface="Nimbus Sans"/>
              </a:defRPr>
            </a:pPr>
            <a:r>
              <a:rPr lang="es-MX" sz="1650" b="0" noProof="0" dirty="0">
                <a:solidFill>
                  <a:srgbClr val="526577"/>
                </a:solidFill>
                <a:latin typeface="Nimbus Sans"/>
                <a:ea typeface="Nimbus Sans"/>
                <a:cs typeface="Nimbus Sans"/>
              </a:rPr>
              <a:t>Central y Colegio Médico · Acumulado enero–septiembre de 2026</a:t>
            </a:r>
          </a:p>
        </p:txBody>
      </p:sp>
      <p:sp>
        <p:nvSpPr>
          <p:cNvPr id="7" name="Tarjeta 1"/>
          <p:cNvSpPr/>
          <p:nvPr/>
        </p:nvSpPr>
        <p:spPr>
          <a:xfrm>
            <a:off x="475488" y="1463040"/>
            <a:ext cx="3520440" cy="4846320"/>
          </a:xfrm>
          <a:prstGeom prst="roundRect">
            <a:avLst>
              <a:gd name="adj" fmla="val 4000"/>
            </a:avLst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04088" y="1691640"/>
            <a:ext cx="384048" cy="384048"/>
          </a:xfrm>
          <a:prstGeom prst="ellipse">
            <a:avLst/>
          </a:prstGeom>
          <a:solidFill>
            <a:srgbClr val="12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7008" y="1691640"/>
            <a:ext cx="26060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12304D"/>
                </a:solidFill>
                <a:latin typeface="Nimbus Sans"/>
                <a:ea typeface="Nimbus Sans"/>
                <a:cs typeface="Nimbus Sans"/>
              </a:rPr>
              <a:t>Desembolsos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2267712"/>
            <a:ext cx="15316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2C79A8"/>
                </a:solidFill>
                <a:latin typeface="Nimbus Sans"/>
                <a:ea typeface="Nimbus Sans"/>
                <a:cs typeface="Nimbus Sans"/>
              </a:rPr>
              <a:t>Central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35708" y="2267712"/>
            <a:ext cx="15316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>
                <a:solidFill>
                  <a:srgbClr val="2C79A8"/>
                </a:solidFill>
                <a:latin typeface="Nimbus Sans"/>
                <a:ea typeface="Nimbus Sans"/>
                <a:cs typeface="Nimbus Sans"/>
              </a:rPr>
              <a:t>Colegio Médico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606040"/>
            <a:ext cx="30632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A6878"/>
                </a:solidFill>
                <a:latin typeface="Nimbus Sans"/>
                <a:ea typeface="Nimbus Sans"/>
                <a:cs typeface="Nimbus Sans"/>
              </a:rPr>
              <a:t>Meta de desembolsos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2852928"/>
            <a:ext cx="15316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5A6878"/>
                </a:solidFill>
                <a:latin typeface="Nimbus Sans"/>
                <a:ea typeface="Nimbus Sans"/>
                <a:cs typeface="Nimbus Sans"/>
              </a:rPr>
              <a:t>$8,100,000.00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35708" y="2852928"/>
            <a:ext cx="15316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500" b="0">
                <a:solidFill>
                  <a:srgbClr val="5A6878"/>
                </a:solidFill>
                <a:latin typeface="Nimbus Sans"/>
                <a:ea typeface="Nimbus Sans"/>
                <a:cs typeface="Nimbus Sans"/>
              </a:rPr>
              <a:t>$5,625,000.00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" y="3319272"/>
            <a:ext cx="30632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A6878"/>
                </a:solidFill>
                <a:latin typeface="Nimbus Sans"/>
                <a:ea typeface="Nimbus Sans"/>
                <a:cs typeface="Nimbus Sans"/>
              </a:rPr>
              <a:t>Desembolsos realizados (+)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" y="3566160"/>
            <a:ext cx="15316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5A6878"/>
                </a:solidFill>
                <a:latin typeface="Nimbus Sans"/>
                <a:ea typeface="Nimbus Sans"/>
                <a:cs typeface="Nimbus Sans"/>
              </a:rPr>
              <a:t>$10,057,790.62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35708" y="3566160"/>
            <a:ext cx="15316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500" b="0">
                <a:solidFill>
                  <a:srgbClr val="5A6878"/>
                </a:solidFill>
                <a:latin typeface="Nimbus Sans"/>
                <a:ea typeface="Nimbus Sans"/>
                <a:cs typeface="Nimbus Sans"/>
              </a:rPr>
              <a:t>$3,792,046.74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" y="4032504"/>
            <a:ext cx="30632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2304D"/>
                </a:solidFill>
                <a:latin typeface="Nimbus Sans"/>
                <a:ea typeface="Nimbus Sans"/>
                <a:cs typeface="Nimbus Sans"/>
              </a:rPr>
              <a:t>Cumplimiento de desembolsos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" y="4279392"/>
            <a:ext cx="15316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6B4A"/>
                </a:solidFill>
                <a:latin typeface="Nimbus Sans"/>
                <a:ea typeface="Nimbus Sans"/>
                <a:cs typeface="Nimbus Sans"/>
              </a:rPr>
              <a:t>124.17%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35708" y="4279392"/>
            <a:ext cx="15316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500" b="1">
                <a:solidFill>
                  <a:srgbClr val="B83B48"/>
                </a:solidFill>
                <a:latin typeface="Nimbus Sans"/>
                <a:ea typeface="Nimbus Sans"/>
                <a:cs typeface="Nimbus Sans"/>
              </a:rPr>
              <a:t>67.41%</a:t>
            </a:r>
          </a:p>
        </p:txBody>
      </p:sp>
      <p:sp>
        <p:nvSpPr>
          <p:cNvPr id="21" name="Chevron 20"/>
          <p:cNvSpPr/>
          <p:nvPr/>
        </p:nvSpPr>
        <p:spPr>
          <a:xfrm>
            <a:off x="4078224" y="3749039"/>
            <a:ext cx="173736" cy="274320"/>
          </a:xfrm>
          <a:prstGeom prst="chevron">
            <a:avLst/>
          </a:prstGeom>
          <a:solidFill>
            <a:srgbClr val="2C7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arjeta 2"/>
          <p:cNvSpPr/>
          <p:nvPr/>
        </p:nvSpPr>
        <p:spPr>
          <a:xfrm>
            <a:off x="4334256" y="1463040"/>
            <a:ext cx="3520440" cy="4846320"/>
          </a:xfrm>
          <a:prstGeom prst="roundRect">
            <a:avLst>
              <a:gd name="adj" fmla="val 4000"/>
            </a:avLst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562856" y="1691640"/>
            <a:ext cx="384048" cy="384048"/>
          </a:xfrm>
          <a:prstGeom prst="ellipse">
            <a:avLst/>
          </a:prstGeom>
          <a:solidFill>
            <a:srgbClr val="12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65776" y="1691640"/>
            <a:ext cx="26060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12304D"/>
                </a:solidFill>
                <a:latin typeface="Nimbus Sans"/>
                <a:ea typeface="Nimbus Sans"/>
                <a:cs typeface="Nimbus Sans"/>
              </a:rPr>
              <a:t>Colocación neta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62856" y="2267712"/>
            <a:ext cx="15316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2C79A8"/>
                </a:solidFill>
                <a:latin typeface="Nimbus Sans"/>
                <a:ea typeface="Nimbus Sans"/>
                <a:cs typeface="Nimbus Sans"/>
              </a:rPr>
              <a:t>Central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94476" y="2267712"/>
            <a:ext cx="15316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>
                <a:solidFill>
                  <a:srgbClr val="2C79A8"/>
                </a:solidFill>
                <a:latin typeface="Nimbus Sans"/>
                <a:ea typeface="Nimbus Sans"/>
                <a:cs typeface="Nimbus Sans"/>
              </a:rPr>
              <a:t>Colegio Médico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62856" y="2606040"/>
            <a:ext cx="30632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A6878"/>
                </a:solidFill>
                <a:latin typeface="Nimbus Sans"/>
                <a:ea typeface="Nimbus Sans"/>
                <a:cs typeface="Nimbus Sans"/>
              </a:rPr>
              <a:t>Amortización natural (−)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62856" y="2852928"/>
            <a:ext cx="15316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5A6878"/>
                </a:solidFill>
                <a:latin typeface="Nimbus Sans"/>
                <a:ea typeface="Nimbus Sans"/>
                <a:cs typeface="Nimbus Sans"/>
              </a:rPr>
              <a:t>$4,704,882.17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94476" y="2852928"/>
            <a:ext cx="15316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500" b="0">
                <a:solidFill>
                  <a:srgbClr val="5A6878"/>
                </a:solidFill>
                <a:latin typeface="Nimbus Sans"/>
                <a:ea typeface="Nimbus Sans"/>
                <a:cs typeface="Nimbus Sans"/>
              </a:rPr>
              <a:t>$2,587,564.25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62856" y="3319272"/>
            <a:ext cx="30632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A6878"/>
                </a:solidFill>
                <a:latin typeface="Nimbus Sans"/>
                <a:ea typeface="Nimbus Sans"/>
                <a:cs typeface="Nimbus Sans"/>
              </a:rPr>
              <a:t>Cancelaciones anticipadas (−)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62856" y="3566160"/>
            <a:ext cx="15316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5A6878"/>
                </a:solidFill>
                <a:latin typeface="Nimbus Sans"/>
                <a:ea typeface="Nimbus Sans"/>
                <a:cs typeface="Nimbus Sans"/>
              </a:rPr>
              <a:t>$4,467,774.82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94476" y="3566160"/>
            <a:ext cx="15316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500" b="0">
                <a:solidFill>
                  <a:srgbClr val="5A6878"/>
                </a:solidFill>
                <a:latin typeface="Nimbus Sans"/>
                <a:ea typeface="Nimbus Sans"/>
                <a:cs typeface="Nimbus Sans"/>
              </a:rPr>
              <a:t>$441,076.94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62856" y="4032504"/>
            <a:ext cx="30632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2304D"/>
                </a:solidFill>
                <a:latin typeface="Nimbus Sans"/>
                <a:ea typeface="Nimbus Sans"/>
                <a:cs typeface="Nimbus Sans"/>
              </a:rPr>
              <a:t>Colocación Neta de desembolsos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62856" y="4279392"/>
            <a:ext cx="15316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6B4A"/>
                </a:solidFill>
                <a:latin typeface="Nimbus Sans"/>
                <a:ea typeface="Nimbus Sans"/>
                <a:cs typeface="Nimbus Sans"/>
              </a:rPr>
              <a:t>$885,133.63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94476" y="4279392"/>
            <a:ext cx="15316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500" b="1">
                <a:solidFill>
                  <a:srgbClr val="1F6B4A"/>
                </a:solidFill>
                <a:latin typeface="Nimbus Sans"/>
                <a:ea typeface="Nimbus Sans"/>
                <a:cs typeface="Nimbus Sans"/>
              </a:rPr>
              <a:t>$763,405.55</a:t>
            </a:r>
          </a:p>
        </p:txBody>
      </p:sp>
      <p:sp>
        <p:nvSpPr>
          <p:cNvPr id="36" name="Chevron 35"/>
          <p:cNvSpPr/>
          <p:nvPr/>
        </p:nvSpPr>
        <p:spPr>
          <a:xfrm>
            <a:off x="7936992" y="3749039"/>
            <a:ext cx="173736" cy="274320"/>
          </a:xfrm>
          <a:prstGeom prst="chevron">
            <a:avLst/>
          </a:prstGeom>
          <a:solidFill>
            <a:srgbClr val="2C7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arjeta 3"/>
          <p:cNvSpPr/>
          <p:nvPr/>
        </p:nvSpPr>
        <p:spPr>
          <a:xfrm>
            <a:off x="8193023" y="1463040"/>
            <a:ext cx="3520440" cy="4846320"/>
          </a:xfrm>
          <a:prstGeom prst="roundRect">
            <a:avLst>
              <a:gd name="adj" fmla="val 4000"/>
            </a:avLst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421624" y="1691640"/>
            <a:ext cx="384048" cy="384048"/>
          </a:xfrm>
          <a:prstGeom prst="ellipse">
            <a:avLst/>
          </a:prstGeom>
          <a:solidFill>
            <a:srgbClr val="12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24544" y="1691640"/>
            <a:ext cx="26060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12304D"/>
                </a:solidFill>
                <a:latin typeface="Nimbus Sans"/>
                <a:ea typeface="Nimbus Sans"/>
                <a:cs typeface="Nimbus Sans"/>
              </a:rPr>
              <a:t>Crecimiento de cartera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21624" y="2267712"/>
            <a:ext cx="15316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2C79A8"/>
                </a:solidFill>
                <a:latin typeface="Nimbus Sans"/>
                <a:ea typeface="Nimbus Sans"/>
                <a:cs typeface="Nimbus Sans"/>
              </a:rPr>
              <a:t>Central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953244" y="2267712"/>
            <a:ext cx="15316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>
                <a:solidFill>
                  <a:srgbClr val="2C79A8"/>
                </a:solidFill>
                <a:latin typeface="Nimbus Sans"/>
                <a:ea typeface="Nimbus Sans"/>
                <a:cs typeface="Nimbus Sans"/>
              </a:rPr>
              <a:t>Colegio Médico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21624" y="2606040"/>
            <a:ext cx="30632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A6878"/>
                </a:solidFill>
                <a:latin typeface="Nimbus Sans"/>
                <a:ea typeface="Nimbus Sans"/>
                <a:cs typeface="Nimbus Sans"/>
              </a:rPr>
              <a:t>Saldo de cartera al cierre de septiembre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21624" y="2852928"/>
            <a:ext cx="15316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5A6878"/>
                </a:solidFill>
                <a:latin typeface="Nimbus Sans"/>
                <a:ea typeface="Nimbus Sans"/>
                <a:cs typeface="Nimbus Sans"/>
              </a:rPr>
              <a:t>$80,151,314.67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953244" y="2852928"/>
            <a:ext cx="15316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500" b="0">
                <a:solidFill>
                  <a:srgbClr val="5A6878"/>
                </a:solidFill>
                <a:latin typeface="Nimbus Sans"/>
                <a:ea typeface="Nimbus Sans"/>
                <a:cs typeface="Nimbus Sans"/>
              </a:rPr>
              <a:t>$28,279,390.71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21624" y="3319272"/>
            <a:ext cx="30632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2304D"/>
                </a:solidFill>
                <a:latin typeface="Nimbus Sans"/>
                <a:ea typeface="Nimbus Sans"/>
                <a:cs typeface="Nimbus Sans"/>
              </a:rPr>
              <a:t>Crecimiento de cartera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21624" y="3566160"/>
            <a:ext cx="15316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B83B48"/>
                </a:solidFill>
                <a:latin typeface="Nimbus Sans"/>
                <a:ea typeface="Nimbus Sans"/>
                <a:cs typeface="Nimbus Sans"/>
              </a:rPr>
              <a:t>−$845,243.40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953244" y="3566160"/>
            <a:ext cx="15316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500" b="1">
                <a:solidFill>
                  <a:srgbClr val="B83B48"/>
                </a:solidFill>
                <a:latin typeface="Nimbus Sans"/>
                <a:ea typeface="Nimbus Sans"/>
                <a:cs typeface="Nimbus Sans"/>
              </a:rPr>
              <a:t>−$84,530.22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421624" y="4032504"/>
            <a:ext cx="30632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A6878"/>
                </a:solidFill>
                <a:latin typeface="Nimbus Sans"/>
                <a:ea typeface="Nimbus Sans"/>
                <a:cs typeface="Nimbus Sans"/>
              </a:rPr>
              <a:t>Meta de crecimiento de cartera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21624" y="4279392"/>
            <a:ext cx="15316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5A6878"/>
                </a:solidFill>
                <a:latin typeface="Nimbus Sans"/>
                <a:ea typeface="Nimbus Sans"/>
                <a:cs typeface="Nimbus Sans"/>
              </a:rPr>
              <a:t>$2,393,084.78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953244" y="4279392"/>
            <a:ext cx="15316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500" b="0">
                <a:solidFill>
                  <a:srgbClr val="5A6878"/>
                </a:solidFill>
                <a:latin typeface="Nimbus Sans"/>
                <a:ea typeface="Nimbus Sans"/>
                <a:cs typeface="Nimbus Sans"/>
              </a:rPr>
              <a:t>$867,493.23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421624" y="4745736"/>
            <a:ext cx="30632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2304D"/>
                </a:solidFill>
                <a:latin typeface="Nimbus Sans"/>
                <a:ea typeface="Nimbus Sans"/>
                <a:cs typeface="Nimbus Sans"/>
              </a:rPr>
              <a:t>Cumplimiento de la meta de crecimiento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421624" y="4992624"/>
            <a:ext cx="15316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B83B48"/>
                </a:solidFill>
                <a:latin typeface="Nimbus Sans"/>
                <a:ea typeface="Nimbus Sans"/>
                <a:cs typeface="Nimbus Sans"/>
              </a:rPr>
              <a:t>-35.32%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953244" y="4992624"/>
            <a:ext cx="15316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500" b="1">
                <a:solidFill>
                  <a:srgbClr val="B83B48"/>
                </a:solidFill>
                <a:latin typeface="Nimbus Sans"/>
                <a:ea typeface="Nimbus Sans"/>
                <a:cs typeface="Nimbus Sans"/>
              </a:rPr>
              <a:t>-9.74%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421624" y="5458968"/>
            <a:ext cx="30632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2304D"/>
                </a:solidFill>
                <a:latin typeface="Nimbus Sans"/>
                <a:ea typeface="Nimbus Sans"/>
                <a:cs typeface="Nimbus Sans"/>
              </a:rPr>
              <a:t>Déficit de crecimiento de cartera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421624" y="5705856"/>
            <a:ext cx="15316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B83B48"/>
                </a:solidFill>
                <a:latin typeface="Nimbus Sans"/>
                <a:ea typeface="Nimbus Sans"/>
                <a:cs typeface="Nimbus Sans"/>
              </a:rPr>
              <a:t>−$3,238,328.18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953244" y="5705856"/>
            <a:ext cx="15316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500" b="1">
                <a:solidFill>
                  <a:srgbClr val="B83B48"/>
                </a:solidFill>
                <a:latin typeface="Nimbus Sans"/>
                <a:ea typeface="Nimbus Sans"/>
                <a:cs typeface="Nimbus Sans"/>
              </a:rPr>
              <a:t>−$952,023.45</a:t>
            </a:r>
          </a:p>
        </p:txBody>
      </p:sp>
    </p:spTree>
    <p:extLst>
      <p:ext uri="{BB962C8B-B14F-4D97-AF65-F5344CB8AC3E}">
        <p14:creationId xmlns:p14="http://schemas.microsoft.com/office/powerpoint/2010/main" val="15679452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8">
            <a:extLst>
              <a:ext uri="{FF2B5EF4-FFF2-40B4-BE49-F238E27FC236}">
                <a16:creationId xmlns:a16="http://schemas.microsoft.com/office/drawing/2014/main" id="{3D1A72C2-D7AB-4281-B2C3-155B6A5E06DB}"/>
              </a:ext>
            </a:extLst>
          </p:cNvPr>
          <p:cNvSpPr>
            <a:spLocks noGrp="1"/>
          </p:cNvSpPr>
          <p:nvPr/>
        </p:nvSpPr>
        <p:spPr>
          <a:xfrm>
            <a:off x="523875" y="381000"/>
            <a:ext cx="94297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3000" b="1">
                <a:solidFill>
                  <a:srgbClr val="12304D"/>
                </a:solidFill>
                <a:latin typeface="Nimbus Sans"/>
                <a:ea typeface="Nimbus Sans"/>
                <a:cs typeface="Nimbus Sans"/>
              </a:defRPr>
            </a:defPPr>
          </a:lstStyle>
          <a:p>
            <a:pPr>
              <a:defRPr sz="3000" b="1">
                <a:solidFill>
                  <a:srgbClr val="12304D"/>
                </a:solidFill>
                <a:latin typeface="Nimbus Sans"/>
                <a:ea typeface="Nimbus Sans"/>
                <a:cs typeface="Nimbus Sans"/>
              </a:defRPr>
            </a:pPr>
            <a:r>
              <a:rPr lang="es-MX" sz="3000" b="1" noProof="0" dirty="0">
                <a:solidFill>
                  <a:srgbClr val="12304D"/>
                </a:solidFill>
                <a:latin typeface="Nimbus Sans"/>
                <a:ea typeface="Nimbus Sans"/>
                <a:cs typeface="Nimbus Sans"/>
              </a:rPr>
              <a:t>Agencia Central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19B860BC-CC8C-4D14-B8DF-E304C7B3C790}"/>
              </a:ext>
            </a:extLst>
          </p:cNvPr>
          <p:cNvSpPr>
            <a:spLocks noGrp="1"/>
          </p:cNvSpPr>
          <p:nvPr/>
        </p:nvSpPr>
        <p:spPr>
          <a:xfrm>
            <a:off x="552450" y="1028700"/>
            <a:ext cx="109537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75" b="0">
                <a:solidFill>
                  <a:srgbClr val="526577"/>
                </a:solidFill>
                <a:latin typeface="Nimbus Sans"/>
                <a:ea typeface="Nimbus Sans"/>
                <a:cs typeface="Nimbus Sans"/>
              </a:defRPr>
            </a:defPPr>
          </a:lstStyle>
          <a:p>
            <a:pPr>
              <a:defRPr sz="1575" b="0">
                <a:solidFill>
                  <a:srgbClr val="526577"/>
                </a:solidFill>
                <a:latin typeface="Nimbus Sans"/>
                <a:ea typeface="Nimbus Sans"/>
                <a:cs typeface="Nimbus Sans"/>
              </a:defRPr>
            </a:pPr>
            <a:r>
              <a:rPr lang="es-MX" sz="1575" b="0" noProof="0" dirty="0">
                <a:solidFill>
                  <a:srgbClr val="526577"/>
                </a:solidFill>
                <a:latin typeface="Nimbus Sans"/>
                <a:ea typeface="Nimbus Sans"/>
                <a:cs typeface="Nimbus Sans"/>
              </a:rPr>
              <a:t>Cancelaciones individuales mayores a $15,000 · Febrero–septiembre 2026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0D08209-48A1-4A68-9C91-AFB4B55C221A}"/>
              </a:ext>
            </a:extLst>
          </p:cNvPr>
          <p:cNvSpPr>
            <a:spLocks noGrp="1"/>
          </p:cNvSpPr>
          <p:nvPr/>
        </p:nvSpPr>
        <p:spPr>
          <a:xfrm>
            <a:off x="523875" y="1571625"/>
            <a:ext cx="11144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175" b="1">
                <a:solidFill>
                  <a:srgbClr val="2378AE"/>
                </a:solidFill>
                <a:latin typeface="Nimbus Sans"/>
                <a:ea typeface="Nimbus Sans"/>
                <a:cs typeface="Nimbus Sans"/>
              </a:defRPr>
            </a:defPPr>
          </a:lstStyle>
          <a:p>
            <a:pPr>
              <a:defRPr sz="2175" b="1">
                <a:solidFill>
                  <a:srgbClr val="2378AE"/>
                </a:solidFill>
                <a:latin typeface="Nimbus Sans"/>
                <a:ea typeface="Nimbus Sans"/>
                <a:cs typeface="Nimbus Sans"/>
              </a:defRPr>
            </a:pPr>
            <a:r>
              <a:rPr lang="es-MX" sz="2175" b="1" noProof="0" dirty="0">
                <a:solidFill>
                  <a:srgbClr val="2378AE"/>
                </a:solidFill>
                <a:latin typeface="Nimbus Sans"/>
                <a:ea typeface="Nimbus Sans"/>
                <a:cs typeface="Nimbus Sans"/>
              </a:rPr>
              <a:t>Cinco principales causas por monto</a:t>
            </a:r>
          </a:p>
        </p:txBody>
      </p:sp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5CC48607-282A-442E-AB3E-40C813D44EF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42585360"/>
              </p:ext>
            </p:extLst>
          </p:nvPr>
        </p:nvGraphicFramePr>
        <p:xfrm>
          <a:off x="523875" y="2143125"/>
          <a:ext cx="11144250" cy="3291840"/>
        </p:xfrm>
        <a:graphic>
          <a:graphicData uri="http://schemas.openxmlformats.org/drawingml/2006/table">
            <a:tbl>
              <a:tblPr/>
              <a:tblGrid>
                <a:gridCol w="6172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677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9898">
                  <a:extLst>
                    <a:ext uri="{9D8B030D-6E8A-4147-A177-3AD203B41FA5}">
                      <a16:colId xmlns:a16="http://schemas.microsoft.com/office/drawing/2014/main" val="556287899"/>
                    </a:ext>
                  </a:extLst>
                </a:gridCol>
              </a:tblGrid>
              <a:tr h="346982">
                <a:tc>
                  <a:txBody>
                    <a:bodyPr/>
                    <a:lstStyle/>
                    <a:p>
                      <a:r>
                        <a:rPr lang="es-MX" sz="1800" b="1" noProof="0" dirty="0">
                          <a:solidFill>
                            <a:srgbClr val="FFFFFF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Causa / origen de fondos</a:t>
                      </a:r>
                    </a:p>
                  </a:txBody>
                  <a:tcPr>
                    <a:lnL w="9525">
                      <a:solidFill>
                        <a:srgbClr val="DDE7EF"/>
                      </a:solidFill>
                      <a:prstDash val="soli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>
                      <a:solidFill>
                        <a:srgbClr val="DDE7EF"/>
                      </a:solidFill>
                      <a:prstDash val="solid"/>
                    </a:lnT>
                    <a:lnB w="9525">
                      <a:solidFill>
                        <a:srgbClr val="DDE7EF"/>
                      </a:solidFill>
                      <a:prstDash val="solid"/>
                    </a:lnB>
                    <a:solidFill>
                      <a:srgbClr val="1230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800" b="1" noProof="0" dirty="0">
                          <a:solidFill>
                            <a:srgbClr val="FFFFFF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Cantidad</a:t>
                      </a:r>
                    </a:p>
                  </a:txBody>
                  <a:tcPr>
                    <a:lnL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>
                      <a:solidFill>
                        <a:srgbClr val="DDE7EF"/>
                      </a:solidFill>
                      <a:prstDash val="solid"/>
                    </a:lnT>
                    <a:lnB w="9525">
                      <a:solidFill>
                        <a:srgbClr val="DDE7EF"/>
                      </a:solidFill>
                      <a:prstDash val="solid"/>
                    </a:lnB>
                    <a:solidFill>
                      <a:srgbClr val="1230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800" b="1" noProof="0" dirty="0">
                          <a:solidFill>
                            <a:srgbClr val="FFFFFF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Monto</a:t>
                      </a:r>
                    </a:p>
                  </a:txBody>
                  <a:tcPr>
                    <a:lnL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>
                      <a:solidFill>
                        <a:srgbClr val="DDE7EF"/>
                      </a:solidFill>
                      <a:prstDash val="solid"/>
                    </a:lnT>
                    <a:lnB w="9525">
                      <a:solidFill>
                        <a:srgbClr val="DDE7EF"/>
                      </a:solidFill>
                      <a:prstDash val="solid"/>
                    </a:lnB>
                    <a:solidFill>
                      <a:srgbClr val="1230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800" b="1" noProof="0">
                          <a:solidFill>
                            <a:srgbClr val="FFFFFF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% del total</a:t>
                      </a:r>
                    </a:p>
                  </a:txBody>
                  <a:tcPr>
                    <a:lnL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>
                      <a:solidFill>
                        <a:srgbClr val="DDE7EF"/>
                      </a:solidFill>
                      <a:prstDash val="solid"/>
                    </a:lnT>
                    <a:lnB w="9525">
                      <a:solidFill>
                        <a:srgbClr val="DDE7EF"/>
                      </a:solidFill>
                      <a:prstDash val="solid"/>
                    </a:lnB>
                    <a:solidFill>
                      <a:srgbClr val="1230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6982">
                <a:tc>
                  <a:txBody>
                    <a:bodyPr/>
                    <a:lstStyle/>
                    <a:p>
                      <a:r>
                        <a:rPr lang="es-MX" sz="1800" b="0" noProof="0" dirty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Traslado o refinanciamiento externo</a:t>
                      </a:r>
                    </a:p>
                  </a:txBody>
                  <a:tcPr>
                    <a:lnL w="9525">
                      <a:solidFill>
                        <a:srgbClr val="DDE7EF"/>
                      </a:solidFill>
                      <a:prstDash val="soli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E7EF"/>
                      </a:solidFill>
                      <a:prstDash val="solid"/>
                    </a:lnB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800" b="0" noProof="0" dirty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15</a:t>
                      </a:r>
                    </a:p>
                  </a:txBody>
                  <a:tcPr>
                    <a:lnL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E7EF"/>
                      </a:solidFill>
                      <a:prstDash val="solid"/>
                    </a:lnB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800" b="0" noProof="0" dirty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$1,044,715.59</a:t>
                      </a:r>
                    </a:p>
                  </a:txBody>
                  <a:tcPr>
                    <a:lnL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E7EF"/>
                      </a:solidFill>
                      <a:prstDash val="solid"/>
                    </a:lnB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800" b="0" noProof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23.38%</a:t>
                      </a:r>
                    </a:p>
                  </a:txBody>
                  <a:tcPr>
                    <a:lnL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E7EF"/>
                      </a:solidFill>
                      <a:prstDash val="solid"/>
                    </a:lnB>
                    <a:solidFill>
                      <a:srgbClr val="F0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6982">
                <a:tc>
                  <a:txBody>
                    <a:bodyPr/>
                    <a:lstStyle/>
                    <a:p>
                      <a:r>
                        <a:rPr lang="es-MX" sz="1800" b="0" noProof="0" dirty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Venta de inmueble u otros activos</a:t>
                      </a:r>
                    </a:p>
                  </a:txBody>
                  <a:tcPr>
                    <a:lnL w="9525">
                      <a:solidFill>
                        <a:srgbClr val="DDE7EF"/>
                      </a:solidFill>
                      <a:prstDash val="soli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E7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800" b="0" noProof="0" dirty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8</a:t>
                      </a:r>
                    </a:p>
                  </a:txBody>
                  <a:tcPr>
                    <a:lnL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E7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800" b="0" noProof="0" dirty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$850,775.12</a:t>
                      </a:r>
                    </a:p>
                  </a:txBody>
                  <a:tcPr>
                    <a:lnL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E7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800" b="0" noProof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19.04%</a:t>
                      </a:r>
                    </a:p>
                  </a:txBody>
                  <a:tcPr>
                    <a:lnL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E7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6982">
                <a:tc>
                  <a:txBody>
                    <a:bodyPr/>
                    <a:lstStyle/>
                    <a:p>
                      <a:r>
                        <a:rPr lang="es-MX" sz="1800" b="0" noProof="0" dirty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Fondos propios sin mayor detalle</a:t>
                      </a:r>
                    </a:p>
                  </a:txBody>
                  <a:tcPr>
                    <a:lnL w="9525">
                      <a:solidFill>
                        <a:srgbClr val="DDE7EF"/>
                      </a:solidFill>
                      <a:prstDash val="soli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E7EF"/>
                      </a:solidFill>
                      <a:prstDash val="solid"/>
                    </a:lnB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800" b="0" noProof="0" dirty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2</a:t>
                      </a:r>
                    </a:p>
                  </a:txBody>
                  <a:tcPr>
                    <a:lnL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E7EF"/>
                      </a:solidFill>
                      <a:prstDash val="solid"/>
                    </a:lnB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800" b="0" noProof="0" dirty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$219,160.59</a:t>
                      </a:r>
                    </a:p>
                  </a:txBody>
                  <a:tcPr>
                    <a:lnL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E7EF"/>
                      </a:solidFill>
                      <a:prstDash val="solid"/>
                    </a:lnB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800" b="0" noProof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4.91%</a:t>
                      </a:r>
                    </a:p>
                  </a:txBody>
                  <a:tcPr>
                    <a:lnL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E7EF"/>
                      </a:solidFill>
                      <a:prstDash val="solid"/>
                    </a:lnB>
                    <a:solidFill>
                      <a:srgbClr val="F0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6982">
                <a:tc>
                  <a:txBody>
                    <a:bodyPr/>
                    <a:lstStyle/>
                    <a:p>
                      <a:r>
                        <a:rPr lang="es-MX" sz="1800" b="0" noProof="0" dirty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Uso de ahorros propios</a:t>
                      </a:r>
                    </a:p>
                  </a:txBody>
                  <a:tcPr>
                    <a:lnL w="9525">
                      <a:solidFill>
                        <a:srgbClr val="DDE7EF"/>
                      </a:solidFill>
                      <a:prstDash val="soli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E7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800" b="0" noProof="0" dirty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4</a:t>
                      </a:r>
                    </a:p>
                  </a:txBody>
                  <a:tcPr>
                    <a:lnL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E7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800" b="0" noProof="0" dirty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$90,052.49</a:t>
                      </a:r>
                    </a:p>
                  </a:txBody>
                  <a:tcPr>
                    <a:lnL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E7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800" b="0" noProof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2.02%</a:t>
                      </a:r>
                    </a:p>
                  </a:txBody>
                  <a:tcPr>
                    <a:lnL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E7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6982">
                <a:tc>
                  <a:txBody>
                    <a:bodyPr/>
                    <a:lstStyle/>
                    <a:p>
                      <a:r>
                        <a:rPr lang="es-MX" sz="1800" b="0" noProof="0" dirty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Liquidación de DPF o crédito pignorado</a:t>
                      </a:r>
                    </a:p>
                  </a:txBody>
                  <a:tcPr>
                    <a:lnL w="9525">
                      <a:solidFill>
                        <a:srgbClr val="DDE7EF"/>
                      </a:solidFill>
                      <a:prstDash val="soli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E7EF"/>
                      </a:solidFill>
                      <a:prstDash val="solid"/>
                    </a:lnB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800" b="0" noProof="0" dirty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1</a:t>
                      </a:r>
                    </a:p>
                  </a:txBody>
                  <a:tcPr>
                    <a:lnL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E7EF"/>
                      </a:solidFill>
                      <a:prstDash val="solid"/>
                    </a:lnB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800" b="0" noProof="0" dirty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$73,776.99</a:t>
                      </a:r>
                    </a:p>
                  </a:txBody>
                  <a:tcPr>
                    <a:lnL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E7EF"/>
                      </a:solidFill>
                      <a:prstDash val="solid"/>
                    </a:lnB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800" b="0" noProof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1.65%</a:t>
                      </a:r>
                    </a:p>
                  </a:txBody>
                  <a:tcPr>
                    <a:lnL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E7EF"/>
                      </a:solidFill>
                      <a:prstDash val="solid"/>
                    </a:lnB>
                    <a:solidFill>
                      <a:srgbClr val="F0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6982">
                <a:tc>
                  <a:txBody>
                    <a:bodyPr/>
                    <a:lstStyle/>
                    <a:p>
                      <a:r>
                        <a:rPr lang="es-MX" sz="1800" b="0" noProof="0" dirty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Seguro por fallecimiento</a:t>
                      </a:r>
                    </a:p>
                  </a:txBody>
                  <a:tcPr>
                    <a:lnL w="9525">
                      <a:solidFill>
                        <a:srgbClr val="DDE7EF"/>
                      </a:solidFill>
                      <a:prstDash val="solid"/>
                    </a:lnL>
                    <a:lnR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MX" sz="1800" b="0" noProof="0" dirty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2</a:t>
                      </a:r>
                    </a:p>
                  </a:txBody>
                  <a:tcPr>
                    <a:lnL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MX" sz="1800" b="0" noProof="0" dirty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$61,786.28</a:t>
                      </a:r>
                    </a:p>
                  </a:txBody>
                  <a:tcPr>
                    <a:lnL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MX" sz="1800" b="0" noProof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1.38%</a:t>
                      </a:r>
                    </a:p>
                  </a:txBody>
                  <a:tcPr>
                    <a:lnL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4643116"/>
                  </a:ext>
                </a:extLst>
              </a:tr>
              <a:tr h="346982">
                <a:tc>
                  <a:txBody>
                    <a:bodyPr/>
                    <a:lstStyle/>
                    <a:p>
                      <a:r>
                        <a:rPr lang="es-MX" sz="1800" b="0" noProof="0" dirty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Otros motivos </a:t>
                      </a:r>
                    </a:p>
                  </a:txBody>
                  <a:tcPr>
                    <a:lnL w="9525">
                      <a:solidFill>
                        <a:srgbClr val="DDE7EF"/>
                      </a:solidFill>
                      <a:prstDash val="solid"/>
                    </a:lnL>
                    <a:lnR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800" b="0" noProof="0" dirty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46</a:t>
                      </a:r>
                    </a:p>
                  </a:txBody>
                  <a:tcPr>
                    <a:lnL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800" b="0" noProof="0" dirty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$2,127,507.76</a:t>
                      </a:r>
                    </a:p>
                  </a:txBody>
                  <a:tcPr>
                    <a:lnL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800" b="0" noProof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47.62%</a:t>
                      </a:r>
                    </a:p>
                  </a:txBody>
                  <a:tcPr>
                    <a:lnL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5244599"/>
                  </a:ext>
                </a:extLst>
              </a:tr>
              <a:tr h="346982">
                <a:tc>
                  <a:txBody>
                    <a:bodyPr/>
                    <a:lstStyle/>
                    <a:p>
                      <a:r>
                        <a:rPr lang="es-MX" sz="1800" b="1" noProof="0" dirty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Total de las cinco causas</a:t>
                      </a:r>
                    </a:p>
                  </a:txBody>
                  <a:tcPr>
                    <a:lnL w="9525">
                      <a:solidFill>
                        <a:srgbClr val="DDE7EF"/>
                      </a:solidFill>
                      <a:prstDash val="soli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E7EF"/>
                      </a:solidFill>
                      <a:prstDash val="solid"/>
                    </a:lnB>
                    <a:solidFill>
                      <a:srgbClr val="DCEC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800" b="1" noProof="0" dirty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78</a:t>
                      </a:r>
                    </a:p>
                  </a:txBody>
                  <a:tcPr>
                    <a:lnL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E7EF"/>
                      </a:solidFill>
                      <a:prstDash val="solid"/>
                    </a:lnB>
                    <a:solidFill>
                      <a:srgbClr val="DCEC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800" b="1" noProof="0" dirty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$4,467,774.82</a:t>
                      </a:r>
                    </a:p>
                  </a:txBody>
                  <a:tcPr>
                    <a:lnL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E7EF"/>
                      </a:solidFill>
                      <a:prstDash val="solid"/>
                    </a:lnB>
                    <a:solidFill>
                      <a:srgbClr val="DCEC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800" b="1" noProof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100.00%</a:t>
                      </a:r>
                    </a:p>
                  </a:txBody>
                  <a:tcPr>
                    <a:lnL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E7EF"/>
                      </a:solidFill>
                      <a:prstDash val="solid"/>
                    </a:lnB>
                    <a:solidFill>
                      <a:srgbClr val="DCEC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Rectángulo 6">
            <a:extLst>
              <a:ext uri="{FF2B5EF4-FFF2-40B4-BE49-F238E27FC236}">
                <a16:creationId xmlns:a16="http://schemas.microsoft.com/office/drawing/2014/main" id="{16F6CEFA-4A93-47EC-ADE7-2591FB7E4676}"/>
              </a:ext>
            </a:extLst>
          </p:cNvPr>
          <p:cNvSpPr>
            <a:spLocks noGrp="1"/>
          </p:cNvSpPr>
          <p:nvPr/>
        </p:nvSpPr>
        <p:spPr>
          <a:xfrm>
            <a:off x="523875" y="6048375"/>
            <a:ext cx="11144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75" b="1">
                <a:solidFill>
                  <a:srgbClr val="12304D"/>
                </a:solidFill>
                <a:latin typeface="Nimbus Sans"/>
                <a:ea typeface="Nimbus Sans"/>
                <a:cs typeface="Nimbus Sans"/>
              </a:defRPr>
            </a:defPPr>
          </a:lstStyle>
          <a:p>
            <a:pPr>
              <a:defRPr sz="1875" b="1">
                <a:solidFill>
                  <a:srgbClr val="12304D"/>
                </a:solidFill>
                <a:latin typeface="Nimbus Sans"/>
                <a:ea typeface="Nimbus Sans"/>
                <a:cs typeface="Nimbus Sans"/>
              </a:defRPr>
            </a:pPr>
            <a:r>
              <a:rPr lang="es-MX" sz="1875" b="1" noProof="0" dirty="0">
                <a:solidFill>
                  <a:srgbClr val="12304D"/>
                </a:solidFill>
                <a:latin typeface="Nimbus Sans"/>
                <a:ea typeface="Nimbus Sans"/>
                <a:cs typeface="Nimbus Sans"/>
              </a:rPr>
              <a:t>El traslado de deuda concentra el mayor monto de las causas clasificadas.</a:t>
            </a:r>
          </a:p>
        </p:txBody>
      </p:sp>
    </p:spTree>
    <p:extLst>
      <p:ext uri="{BB962C8B-B14F-4D97-AF65-F5344CB8AC3E}">
        <p14:creationId xmlns:p14="http://schemas.microsoft.com/office/powerpoint/2010/main" val="20895207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8">
            <a:extLst>
              <a:ext uri="{FF2B5EF4-FFF2-40B4-BE49-F238E27FC236}">
                <a16:creationId xmlns:a16="http://schemas.microsoft.com/office/drawing/2014/main" id="{6D9FA9CA-CB63-4679-8DF3-7D52B75A01BC}"/>
              </a:ext>
            </a:extLst>
          </p:cNvPr>
          <p:cNvSpPr>
            <a:spLocks noGrp="1"/>
          </p:cNvSpPr>
          <p:nvPr/>
        </p:nvSpPr>
        <p:spPr>
          <a:xfrm>
            <a:off x="523875" y="381000"/>
            <a:ext cx="94297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3000" b="1">
                <a:solidFill>
                  <a:srgbClr val="12304D"/>
                </a:solidFill>
                <a:latin typeface="Nimbus Sans"/>
                <a:ea typeface="Nimbus Sans"/>
                <a:cs typeface="Nimbus Sans"/>
              </a:defRPr>
            </a:defPPr>
          </a:lstStyle>
          <a:p>
            <a:pPr>
              <a:defRPr sz="3000" b="1">
                <a:solidFill>
                  <a:srgbClr val="12304D"/>
                </a:solidFill>
                <a:latin typeface="Nimbus Sans"/>
                <a:ea typeface="Nimbus Sans"/>
                <a:cs typeface="Nimbus Sans"/>
              </a:defRPr>
            </a:pPr>
            <a:r>
              <a:rPr lang="es-MX" sz="3000" b="1" noProof="0" dirty="0">
                <a:solidFill>
                  <a:srgbClr val="12304D"/>
                </a:solidFill>
                <a:latin typeface="Nimbus Sans"/>
                <a:ea typeface="Nimbus Sans"/>
                <a:cs typeface="Nimbus Sans"/>
              </a:rPr>
              <a:t>Agencia Colegio Médico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778F875A-377E-4785-B883-5DE1E62101BD}"/>
              </a:ext>
            </a:extLst>
          </p:cNvPr>
          <p:cNvSpPr>
            <a:spLocks noGrp="1"/>
          </p:cNvSpPr>
          <p:nvPr/>
        </p:nvSpPr>
        <p:spPr>
          <a:xfrm>
            <a:off x="552450" y="1028700"/>
            <a:ext cx="109537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75" b="0">
                <a:solidFill>
                  <a:srgbClr val="526577"/>
                </a:solidFill>
                <a:latin typeface="Nimbus Sans"/>
                <a:ea typeface="Nimbus Sans"/>
                <a:cs typeface="Nimbus Sans"/>
              </a:defRPr>
            </a:defPPr>
          </a:lstStyle>
          <a:p>
            <a:pPr>
              <a:defRPr sz="1575" b="0">
                <a:solidFill>
                  <a:srgbClr val="526577"/>
                </a:solidFill>
                <a:latin typeface="Nimbus Sans"/>
                <a:ea typeface="Nimbus Sans"/>
                <a:cs typeface="Nimbus Sans"/>
              </a:defRPr>
            </a:pPr>
            <a:r>
              <a:rPr lang="es-MX" sz="1575" b="0" noProof="0" dirty="0">
                <a:solidFill>
                  <a:srgbClr val="526577"/>
                </a:solidFill>
                <a:latin typeface="Nimbus Sans"/>
                <a:ea typeface="Nimbus Sans"/>
                <a:cs typeface="Nimbus Sans"/>
              </a:rPr>
              <a:t>Cancelaciones individuales mayores a $15,000 · Febrero–septiembre 2026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741C5394-264D-4BC0-9957-4BEF42EB07BB}"/>
              </a:ext>
            </a:extLst>
          </p:cNvPr>
          <p:cNvSpPr>
            <a:spLocks noGrp="1"/>
          </p:cNvSpPr>
          <p:nvPr/>
        </p:nvSpPr>
        <p:spPr>
          <a:xfrm>
            <a:off x="523875" y="1571625"/>
            <a:ext cx="11144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175" b="1">
                <a:solidFill>
                  <a:srgbClr val="2378AE"/>
                </a:solidFill>
                <a:latin typeface="Nimbus Sans"/>
                <a:ea typeface="Nimbus Sans"/>
                <a:cs typeface="Nimbus Sans"/>
              </a:defRPr>
            </a:defPPr>
          </a:lstStyle>
          <a:p>
            <a:pPr>
              <a:defRPr sz="2175" b="1">
                <a:solidFill>
                  <a:srgbClr val="2378AE"/>
                </a:solidFill>
                <a:latin typeface="Nimbus Sans"/>
                <a:ea typeface="Nimbus Sans"/>
                <a:cs typeface="Nimbus Sans"/>
              </a:defRPr>
            </a:pPr>
            <a:r>
              <a:rPr lang="es-MX" sz="2175" b="1" noProof="0" dirty="0">
                <a:solidFill>
                  <a:srgbClr val="2378AE"/>
                </a:solidFill>
                <a:latin typeface="Nimbus Sans"/>
                <a:ea typeface="Nimbus Sans"/>
                <a:cs typeface="Nimbus Sans"/>
              </a:rPr>
              <a:t>Cuatro causas identificadas por monto</a:t>
            </a:r>
          </a:p>
        </p:txBody>
      </p:sp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62FD9808-C527-4041-9398-81310010BBD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85448732"/>
              </p:ext>
            </p:extLst>
          </p:nvPr>
        </p:nvGraphicFramePr>
        <p:xfrm>
          <a:off x="523875" y="2143125"/>
          <a:ext cx="11144250" cy="3000375"/>
        </p:xfrm>
        <a:graphic>
          <a:graphicData uri="http://schemas.openxmlformats.org/drawingml/2006/table">
            <a:tbl>
              <a:tblPr/>
              <a:tblGrid>
                <a:gridCol w="6172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677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9898">
                  <a:extLst>
                    <a:ext uri="{9D8B030D-6E8A-4147-A177-3AD203B41FA5}">
                      <a16:colId xmlns:a16="http://schemas.microsoft.com/office/drawing/2014/main" val="8108177"/>
                    </a:ext>
                  </a:extLst>
                </a:gridCol>
              </a:tblGrid>
              <a:tr h="428625">
                <a:tc>
                  <a:txBody>
                    <a:bodyPr/>
                    <a:lstStyle/>
                    <a:p>
                      <a:r>
                        <a:rPr lang="es-MX" sz="1800" b="1" noProof="0" dirty="0">
                          <a:solidFill>
                            <a:srgbClr val="FFFFFF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Causa / origen de fondos</a:t>
                      </a:r>
                    </a:p>
                  </a:txBody>
                  <a:tcPr>
                    <a:lnL w="9525">
                      <a:solidFill>
                        <a:srgbClr val="DDE7EF"/>
                      </a:solidFill>
                      <a:prstDash val="soli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>
                      <a:solidFill>
                        <a:srgbClr val="DDE7EF"/>
                      </a:solidFill>
                      <a:prstDash val="solid"/>
                    </a:lnT>
                    <a:lnB w="9525">
                      <a:solidFill>
                        <a:srgbClr val="DDE7EF"/>
                      </a:solidFill>
                      <a:prstDash val="solid"/>
                    </a:lnB>
                    <a:solidFill>
                      <a:srgbClr val="1230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800" b="1" noProof="0" dirty="0">
                          <a:solidFill>
                            <a:srgbClr val="FFFFFF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Cantidad</a:t>
                      </a:r>
                    </a:p>
                  </a:txBody>
                  <a:tcPr>
                    <a:lnL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>
                      <a:solidFill>
                        <a:srgbClr val="DDE7EF"/>
                      </a:solidFill>
                      <a:prstDash val="solid"/>
                    </a:lnT>
                    <a:lnB w="9525">
                      <a:solidFill>
                        <a:srgbClr val="DDE7EF"/>
                      </a:solidFill>
                      <a:prstDash val="solid"/>
                    </a:lnB>
                    <a:solidFill>
                      <a:srgbClr val="1230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800" b="1" noProof="0" dirty="0">
                          <a:solidFill>
                            <a:srgbClr val="FFFFFF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Monto</a:t>
                      </a:r>
                    </a:p>
                  </a:txBody>
                  <a:tcPr>
                    <a:lnL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>
                      <a:solidFill>
                        <a:srgbClr val="DDE7EF"/>
                      </a:solidFill>
                      <a:prstDash val="solid"/>
                    </a:lnT>
                    <a:lnB w="9525">
                      <a:solidFill>
                        <a:srgbClr val="DDE7EF"/>
                      </a:solidFill>
                      <a:prstDash val="solid"/>
                    </a:lnB>
                    <a:solidFill>
                      <a:srgbClr val="1230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800" b="1" noProof="0">
                          <a:solidFill>
                            <a:srgbClr val="FFFFFF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% del total</a:t>
                      </a:r>
                    </a:p>
                  </a:txBody>
                  <a:tcPr>
                    <a:lnL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>
                      <a:solidFill>
                        <a:srgbClr val="DDE7EF"/>
                      </a:solidFill>
                      <a:prstDash val="solid"/>
                    </a:lnT>
                    <a:lnB w="9525">
                      <a:solidFill>
                        <a:srgbClr val="DDE7EF"/>
                      </a:solidFill>
                      <a:prstDash val="solid"/>
                    </a:lnB>
                    <a:solidFill>
                      <a:srgbClr val="1230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r>
                        <a:rPr lang="es-MX" sz="1800" b="0" noProof="0" dirty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Uso de ahorros propios</a:t>
                      </a:r>
                    </a:p>
                  </a:txBody>
                  <a:tcPr>
                    <a:lnL w="9525">
                      <a:solidFill>
                        <a:srgbClr val="DDE7EF"/>
                      </a:solidFill>
                      <a:prstDash val="soli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E7EF"/>
                      </a:solidFill>
                      <a:prstDash val="solid"/>
                    </a:lnB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800" b="0" noProof="0" dirty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3</a:t>
                      </a:r>
                    </a:p>
                  </a:txBody>
                  <a:tcPr>
                    <a:lnL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E7EF"/>
                      </a:solidFill>
                      <a:prstDash val="solid"/>
                    </a:lnB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800" b="0" noProof="0" dirty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$189,938.06</a:t>
                      </a:r>
                    </a:p>
                  </a:txBody>
                  <a:tcPr>
                    <a:lnL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E7EF"/>
                      </a:solidFill>
                      <a:prstDash val="solid"/>
                    </a:lnB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800" b="0" noProof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43.06%</a:t>
                      </a:r>
                    </a:p>
                  </a:txBody>
                  <a:tcPr>
                    <a:lnL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E7EF"/>
                      </a:solidFill>
                      <a:prstDash val="solid"/>
                    </a:lnB>
                    <a:solidFill>
                      <a:srgbClr val="F0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r>
                        <a:rPr lang="es-MX" sz="1800" b="0" noProof="0" dirty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Traslado o refinanciamiento externo</a:t>
                      </a:r>
                    </a:p>
                  </a:txBody>
                  <a:tcPr>
                    <a:lnL w="9525">
                      <a:solidFill>
                        <a:srgbClr val="DDE7EF"/>
                      </a:solidFill>
                      <a:prstDash val="soli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E7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800" b="0" noProof="0" dirty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3</a:t>
                      </a:r>
                    </a:p>
                  </a:txBody>
                  <a:tcPr>
                    <a:lnL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E7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800" b="0" noProof="0" dirty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$63,442.76</a:t>
                      </a:r>
                    </a:p>
                  </a:txBody>
                  <a:tcPr>
                    <a:lnL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E7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800" b="0" noProof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14.38%</a:t>
                      </a:r>
                    </a:p>
                  </a:txBody>
                  <a:tcPr>
                    <a:lnL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E7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r>
                        <a:rPr lang="es-MX" sz="1800" b="0" noProof="0" dirty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Liquidación de DPF o crédito pignorado</a:t>
                      </a:r>
                    </a:p>
                  </a:txBody>
                  <a:tcPr>
                    <a:lnL w="9525">
                      <a:solidFill>
                        <a:srgbClr val="DDE7EF"/>
                      </a:solidFill>
                      <a:prstDash val="soli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E7EF"/>
                      </a:solidFill>
                      <a:prstDash val="solid"/>
                    </a:lnB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800" b="0" noProof="0" dirty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2</a:t>
                      </a:r>
                    </a:p>
                  </a:txBody>
                  <a:tcPr>
                    <a:lnL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E7EF"/>
                      </a:solidFill>
                      <a:prstDash val="solid"/>
                    </a:lnB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800" b="0" noProof="0" dirty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$40,880.36</a:t>
                      </a:r>
                    </a:p>
                  </a:txBody>
                  <a:tcPr>
                    <a:lnL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E7EF"/>
                      </a:solidFill>
                      <a:prstDash val="solid"/>
                    </a:lnB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800" b="0" noProof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9.27%</a:t>
                      </a:r>
                    </a:p>
                  </a:txBody>
                  <a:tcPr>
                    <a:lnL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E7EF"/>
                      </a:solidFill>
                      <a:prstDash val="solid"/>
                    </a:lnB>
                    <a:solidFill>
                      <a:srgbClr val="F0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r>
                        <a:rPr lang="es-MX" sz="1800" b="0" noProof="0" dirty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Venta de inmueble</a:t>
                      </a:r>
                    </a:p>
                  </a:txBody>
                  <a:tcPr>
                    <a:lnL w="9525">
                      <a:solidFill>
                        <a:srgbClr val="DDE7EF"/>
                      </a:solidFill>
                      <a:prstDash val="soli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E7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800" b="0" noProof="0" dirty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1</a:t>
                      </a:r>
                    </a:p>
                  </a:txBody>
                  <a:tcPr>
                    <a:lnL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E7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800" b="0" noProof="0" dirty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$28,867.14</a:t>
                      </a:r>
                    </a:p>
                  </a:txBody>
                  <a:tcPr>
                    <a:lnL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E7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800" b="0" noProof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6.54%</a:t>
                      </a:r>
                    </a:p>
                  </a:txBody>
                  <a:tcPr>
                    <a:lnL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E7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r>
                        <a:rPr lang="es-MX" sz="1800" b="0" noProof="0" dirty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Otros motivos</a:t>
                      </a:r>
                    </a:p>
                  </a:txBody>
                  <a:tcPr>
                    <a:lnL w="9525">
                      <a:solidFill>
                        <a:srgbClr val="DDE7EF"/>
                      </a:solidFill>
                      <a:prstDash val="solid"/>
                    </a:lnL>
                    <a:lnR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800" b="0" noProof="0" dirty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14</a:t>
                      </a:r>
                    </a:p>
                  </a:txBody>
                  <a:tcPr>
                    <a:lnL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800" b="0" noProof="0" dirty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$117,948.62</a:t>
                      </a:r>
                    </a:p>
                  </a:txBody>
                  <a:tcPr>
                    <a:lnL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800" b="0" noProof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26.74%</a:t>
                      </a:r>
                    </a:p>
                  </a:txBody>
                  <a:tcPr>
                    <a:lnL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9487580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r>
                        <a:rPr lang="es-MX" sz="1800" b="1" noProof="0" dirty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Total clasificable</a:t>
                      </a:r>
                    </a:p>
                  </a:txBody>
                  <a:tcPr>
                    <a:lnL w="9525">
                      <a:solidFill>
                        <a:srgbClr val="DDE7EF"/>
                      </a:solidFill>
                      <a:prstDash val="soli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E7EF"/>
                      </a:solidFill>
                      <a:prstDash val="solid"/>
                    </a:lnB>
                    <a:solidFill>
                      <a:srgbClr val="DCEC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800" b="1" noProof="0" dirty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23</a:t>
                      </a:r>
                    </a:p>
                  </a:txBody>
                  <a:tcPr>
                    <a:lnL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E7EF"/>
                      </a:solidFill>
                      <a:prstDash val="solid"/>
                    </a:lnB>
                    <a:solidFill>
                      <a:srgbClr val="DCEC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800" b="1" noProof="0" dirty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$441,076.94</a:t>
                      </a:r>
                    </a:p>
                  </a:txBody>
                  <a:tcPr>
                    <a:lnL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E7EF"/>
                      </a:solidFill>
                      <a:prstDash val="solid"/>
                    </a:lnB>
                    <a:solidFill>
                      <a:srgbClr val="DCEC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800" b="1" noProof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100.00%</a:t>
                      </a:r>
                    </a:p>
                  </a:txBody>
                  <a:tcPr>
                    <a:lnL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E7EF"/>
                      </a:solidFill>
                      <a:prstDash val="solid"/>
                    </a:lnB>
                    <a:solidFill>
                      <a:srgbClr val="DCEC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Rectángulo 6">
            <a:extLst>
              <a:ext uri="{FF2B5EF4-FFF2-40B4-BE49-F238E27FC236}">
                <a16:creationId xmlns:a16="http://schemas.microsoft.com/office/drawing/2014/main" id="{2CB8A32A-6C5B-4515-A944-3CB5C10A5DA5}"/>
              </a:ext>
            </a:extLst>
          </p:cNvPr>
          <p:cNvSpPr>
            <a:spLocks noGrp="1"/>
          </p:cNvSpPr>
          <p:nvPr/>
        </p:nvSpPr>
        <p:spPr>
          <a:xfrm>
            <a:off x="523875" y="5381625"/>
            <a:ext cx="11144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75" b="1">
                <a:solidFill>
                  <a:srgbClr val="12304D"/>
                </a:solidFill>
                <a:latin typeface="Nimbus Sans"/>
                <a:ea typeface="Nimbus Sans"/>
                <a:cs typeface="Nimbus Sans"/>
              </a:defRPr>
            </a:defPPr>
          </a:lstStyle>
          <a:p>
            <a:pPr>
              <a:defRPr sz="1875" b="1">
                <a:solidFill>
                  <a:srgbClr val="12304D"/>
                </a:solidFill>
                <a:latin typeface="Nimbus Sans"/>
                <a:ea typeface="Nimbus Sans"/>
                <a:cs typeface="Nimbus Sans"/>
              </a:defRPr>
            </a:pPr>
            <a:r>
              <a:rPr lang="es-MX" sz="1875" b="1" noProof="0" dirty="0">
                <a:solidFill>
                  <a:srgbClr val="12304D"/>
                </a:solidFill>
                <a:latin typeface="Nimbus Sans"/>
                <a:ea typeface="Nimbus Sans"/>
                <a:cs typeface="Nimbus Sans"/>
              </a:rPr>
              <a:t>El uso de ahorros propios concentra el mayor monto clasificado.</a:t>
            </a:r>
          </a:p>
        </p:txBody>
      </p:sp>
    </p:spTree>
    <p:extLst>
      <p:ext uri="{BB962C8B-B14F-4D97-AF65-F5344CB8AC3E}">
        <p14:creationId xmlns:p14="http://schemas.microsoft.com/office/powerpoint/2010/main" val="8713522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ángulo 11">
            <a:extLst>
              <a:ext uri="{FF2B5EF4-FFF2-40B4-BE49-F238E27FC236}">
                <a16:creationId xmlns:a16="http://schemas.microsoft.com/office/drawing/2014/main" id="{8F95FFF4-A6A3-46A8-971F-A1299A50B326}"/>
              </a:ext>
            </a:extLst>
          </p:cNvPr>
          <p:cNvSpPr>
            <a:spLocks noGrp="1"/>
          </p:cNvSpPr>
          <p:nvPr/>
        </p:nvSpPr>
        <p:spPr>
          <a:xfrm>
            <a:off x="523875" y="381000"/>
            <a:ext cx="111442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3000" b="1">
                <a:solidFill>
                  <a:srgbClr val="12304D"/>
                </a:solidFill>
                <a:latin typeface="Nimbus Sans"/>
                <a:ea typeface="Nimbus Sans"/>
                <a:cs typeface="Nimbus Sans"/>
              </a:defRPr>
            </a:defPPr>
          </a:lstStyle>
          <a:p>
            <a:pPr>
              <a:defRPr sz="3000" b="1">
                <a:solidFill>
                  <a:srgbClr val="12304D"/>
                </a:solidFill>
                <a:latin typeface="Nimbus Sans"/>
                <a:ea typeface="Nimbus Sans"/>
                <a:cs typeface="Nimbus Sans"/>
              </a:defRPr>
            </a:pPr>
            <a:r>
              <a:rPr lang="es-MX" sz="3000" b="1" noProof="0" dirty="0">
                <a:solidFill>
                  <a:srgbClr val="12304D"/>
                </a:solidFill>
                <a:latin typeface="Nimbus Sans"/>
                <a:ea typeface="Nimbus Sans"/>
                <a:cs typeface="Nimbus Sans"/>
              </a:rPr>
              <a:t>Tarjetas de crédito: cumplimiento de meta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9461FE14-996E-49BB-AF89-89CD160F3072}"/>
              </a:ext>
            </a:extLst>
          </p:cNvPr>
          <p:cNvSpPr>
            <a:spLocks noGrp="1"/>
          </p:cNvSpPr>
          <p:nvPr/>
        </p:nvSpPr>
        <p:spPr>
          <a:xfrm>
            <a:off x="552450" y="1028700"/>
            <a:ext cx="109537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75" b="0">
                <a:solidFill>
                  <a:srgbClr val="526577"/>
                </a:solidFill>
                <a:latin typeface="Nimbus Sans"/>
                <a:ea typeface="Nimbus Sans"/>
                <a:cs typeface="Nimbus Sans"/>
              </a:defRPr>
            </a:defPPr>
          </a:lstStyle>
          <a:p>
            <a:pPr>
              <a:defRPr sz="1575" b="0">
                <a:solidFill>
                  <a:srgbClr val="526577"/>
                </a:solidFill>
                <a:latin typeface="Nimbus Sans"/>
                <a:ea typeface="Nimbus Sans"/>
                <a:cs typeface="Nimbus Sans"/>
              </a:defRPr>
            </a:pPr>
            <a:r>
              <a:rPr lang="es-MX" sz="1575" b="0" noProof="0" dirty="0">
                <a:solidFill>
                  <a:srgbClr val="526577"/>
                </a:solidFill>
                <a:latin typeface="Nimbus Sans"/>
                <a:ea typeface="Nimbus Sans"/>
                <a:cs typeface="Nimbus Sans"/>
              </a:rPr>
              <a:t>Comparativo de agencias · Septiembre 2026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F9F9C0CD-CE58-4BDD-AE0E-A716C1269686}"/>
              </a:ext>
            </a:extLst>
          </p:cNvPr>
          <p:cNvSpPr>
            <a:spLocks noGrp="1"/>
          </p:cNvSpPr>
          <p:nvPr/>
        </p:nvSpPr>
        <p:spPr>
          <a:xfrm>
            <a:off x="10953750" y="6334125"/>
            <a:ext cx="762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00" b="0">
                <a:solidFill>
                  <a:srgbClr val="526577"/>
                </a:solidFill>
                <a:latin typeface="Nimbus Sans"/>
                <a:ea typeface="Nimbus Sans"/>
                <a:cs typeface="Nimbus Sans"/>
              </a:defRPr>
            </a:defPPr>
          </a:lstStyle>
          <a:p>
            <a:pPr>
              <a:defRPr sz="1200" b="0">
                <a:solidFill>
                  <a:srgbClr val="526577"/>
                </a:solidFill>
                <a:latin typeface="Nimbus Sans"/>
                <a:ea typeface="Nimbus Sans"/>
                <a:cs typeface="Nimbus Sans"/>
              </a:defRPr>
            </a:pPr>
            <a:r>
              <a:rPr lang="es-MX" sz="1200" b="0" noProof="0" dirty="0">
                <a:solidFill>
                  <a:srgbClr val="526577"/>
                </a:solidFill>
                <a:latin typeface="Nimbus Sans"/>
                <a:ea typeface="Nimbus Sans"/>
                <a:cs typeface="Nimbus Sans"/>
              </a:rPr>
              <a:t>2 / 7</a:t>
            </a:r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09D4E65C-32B6-458D-9B70-29F8543C240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00936796"/>
              </p:ext>
            </p:extLst>
          </p:nvPr>
        </p:nvGraphicFramePr>
        <p:xfrm>
          <a:off x="523875" y="1571625"/>
          <a:ext cx="6477000" cy="3143250"/>
        </p:xfrm>
        <a:graphic>
          <a:graphicData uri="http://schemas.openxmlformats.org/drawingml/2006/table">
            <a:tbl>
              <a:tblPr/>
              <a:tblGrid>
                <a:gridCol w="3143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23875">
                <a:tc>
                  <a:txBody>
                    <a:bodyPr/>
                    <a:lstStyle/>
                    <a:p>
                      <a:r>
                        <a:rPr lang="es-MX" sz="1650" b="1" noProof="0" dirty="0">
                          <a:solidFill>
                            <a:srgbClr val="FFFFFF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Indicador</a:t>
                      </a:r>
                    </a:p>
                  </a:txBody>
                  <a:tcPr>
                    <a:lnL w="9525">
                      <a:solidFill>
                        <a:srgbClr val="DDE7EF"/>
                      </a:solidFill>
                      <a:prstDash val="soli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>
                      <a:solidFill>
                        <a:srgbClr val="DDE7EF"/>
                      </a:solidFill>
                      <a:prstDash val="solid"/>
                    </a:lnT>
                    <a:lnB w="9525">
                      <a:solidFill>
                        <a:srgbClr val="DDE7EF"/>
                      </a:solidFill>
                      <a:prstDash val="solid"/>
                    </a:lnB>
                    <a:solidFill>
                      <a:srgbClr val="1230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650" b="1" noProof="0" dirty="0">
                          <a:solidFill>
                            <a:srgbClr val="FFFFFF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Central</a:t>
                      </a:r>
                    </a:p>
                  </a:txBody>
                  <a:tcPr>
                    <a:lnL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>
                      <a:solidFill>
                        <a:srgbClr val="DDE7EF"/>
                      </a:solidFill>
                      <a:prstDash val="solid"/>
                    </a:lnT>
                    <a:lnB w="9525">
                      <a:solidFill>
                        <a:srgbClr val="DDE7EF"/>
                      </a:solidFill>
                      <a:prstDash val="solid"/>
                    </a:lnB>
                    <a:solidFill>
                      <a:srgbClr val="1230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650" b="1" noProof="0" dirty="0">
                          <a:solidFill>
                            <a:srgbClr val="FFFFFF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Colegio Médico</a:t>
                      </a:r>
                    </a:p>
                  </a:txBody>
                  <a:tcPr>
                    <a:lnL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>
                      <a:solidFill>
                        <a:srgbClr val="DDE7EF"/>
                      </a:solidFill>
                      <a:prstDash val="solid"/>
                    </a:lnT>
                    <a:lnB w="9525">
                      <a:solidFill>
                        <a:srgbClr val="DDE7EF"/>
                      </a:solidFill>
                      <a:prstDash val="solid"/>
                    </a:lnB>
                    <a:solidFill>
                      <a:srgbClr val="1230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r>
                        <a:rPr lang="es-MX" sz="1650" b="0" noProof="0" dirty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Tarjetas al cierre</a:t>
                      </a:r>
                    </a:p>
                  </a:txBody>
                  <a:tcPr>
                    <a:lnL w="9525">
                      <a:solidFill>
                        <a:srgbClr val="DDE7EF"/>
                      </a:solidFill>
                      <a:prstDash val="soli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E7EF"/>
                      </a:solidFill>
                      <a:prstDash val="solid"/>
                    </a:lnB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650" b="0" noProof="0" dirty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3,994</a:t>
                      </a:r>
                    </a:p>
                  </a:txBody>
                  <a:tcPr>
                    <a:lnL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E7EF"/>
                      </a:solidFill>
                      <a:prstDash val="solid"/>
                    </a:lnB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650" b="0" noProof="0" dirty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1,980</a:t>
                      </a:r>
                    </a:p>
                  </a:txBody>
                  <a:tcPr>
                    <a:lnL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E7EF"/>
                      </a:solidFill>
                      <a:prstDash val="solid"/>
                    </a:lnB>
                    <a:solidFill>
                      <a:srgbClr val="F0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r>
                        <a:rPr lang="es-MX" sz="1650" b="0" noProof="0" dirty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Meta de crecimiento</a:t>
                      </a:r>
                    </a:p>
                  </a:txBody>
                  <a:tcPr>
                    <a:lnL w="9525">
                      <a:solidFill>
                        <a:srgbClr val="DDE7EF"/>
                      </a:solidFill>
                      <a:prstDash val="soli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E7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650" b="0" noProof="0" dirty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435</a:t>
                      </a:r>
                    </a:p>
                  </a:txBody>
                  <a:tcPr>
                    <a:lnL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E7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650" b="0" noProof="0" dirty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66</a:t>
                      </a:r>
                    </a:p>
                  </a:txBody>
                  <a:tcPr>
                    <a:lnL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E7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r>
                        <a:rPr lang="es-MX" sz="1650" b="0" noProof="0" dirty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Activadas</a:t>
                      </a:r>
                    </a:p>
                  </a:txBody>
                  <a:tcPr>
                    <a:lnL w="9525">
                      <a:solidFill>
                        <a:srgbClr val="DDE7EF"/>
                      </a:solidFill>
                      <a:prstDash val="soli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E7EF"/>
                      </a:solidFill>
                      <a:prstDash val="solid"/>
                    </a:lnB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650" b="0" noProof="0" dirty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308</a:t>
                      </a:r>
                    </a:p>
                  </a:txBody>
                  <a:tcPr>
                    <a:lnL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E7EF"/>
                      </a:solidFill>
                      <a:prstDash val="solid"/>
                    </a:lnB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650" b="0" noProof="0" dirty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79</a:t>
                      </a:r>
                    </a:p>
                  </a:txBody>
                  <a:tcPr>
                    <a:lnL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E7EF"/>
                      </a:solidFill>
                      <a:prstDash val="solid"/>
                    </a:lnB>
                    <a:solidFill>
                      <a:srgbClr val="F0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r>
                        <a:rPr lang="es-MX" sz="1650" b="0" noProof="0" dirty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Canceladas</a:t>
                      </a:r>
                    </a:p>
                  </a:txBody>
                  <a:tcPr>
                    <a:lnL w="9525">
                      <a:solidFill>
                        <a:srgbClr val="DDE7EF"/>
                      </a:solidFill>
                      <a:prstDash val="soli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E7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650" b="0" noProof="0" dirty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243</a:t>
                      </a:r>
                    </a:p>
                  </a:txBody>
                  <a:tcPr>
                    <a:lnL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E7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650" b="0" noProof="0" dirty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39</a:t>
                      </a:r>
                    </a:p>
                  </a:txBody>
                  <a:tcPr>
                    <a:lnL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E7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r>
                        <a:rPr lang="es-MX" sz="1650" b="0" noProof="0" dirty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Crecimiento neto</a:t>
                      </a:r>
                    </a:p>
                  </a:txBody>
                  <a:tcPr>
                    <a:lnL w="9525">
                      <a:solidFill>
                        <a:srgbClr val="DDE7EF"/>
                      </a:solidFill>
                      <a:prstDash val="soli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E7EF"/>
                      </a:solidFill>
                      <a:prstDash val="solid"/>
                    </a:lnB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650" b="0" noProof="0" dirty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65</a:t>
                      </a:r>
                    </a:p>
                  </a:txBody>
                  <a:tcPr>
                    <a:lnL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E7EF"/>
                      </a:solidFill>
                      <a:prstDash val="solid"/>
                    </a:lnB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650" b="0" noProof="0" dirty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40</a:t>
                      </a:r>
                    </a:p>
                  </a:txBody>
                  <a:tcPr>
                    <a:lnL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E7EF"/>
                      </a:solidFill>
                      <a:prstDash val="solid"/>
                    </a:lnB>
                    <a:solidFill>
                      <a:srgbClr val="F0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Rectángulo 4">
            <a:extLst>
              <a:ext uri="{FF2B5EF4-FFF2-40B4-BE49-F238E27FC236}">
                <a16:creationId xmlns:a16="http://schemas.microsoft.com/office/drawing/2014/main" id="{6B40FFC2-6790-473C-854E-B193824EFB3F}"/>
              </a:ext>
            </a:extLst>
          </p:cNvPr>
          <p:cNvSpPr>
            <a:spLocks noGrp="1"/>
          </p:cNvSpPr>
          <p:nvPr/>
        </p:nvSpPr>
        <p:spPr>
          <a:xfrm>
            <a:off x="7524750" y="1619250"/>
            <a:ext cx="3810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100" b="1">
                <a:solidFill>
                  <a:srgbClr val="12304D"/>
                </a:solidFill>
                <a:latin typeface="Nimbus Sans"/>
                <a:ea typeface="Nimbus Sans"/>
                <a:cs typeface="Nimbus Sans"/>
              </a:defRPr>
            </a:defPPr>
          </a:lstStyle>
          <a:p>
            <a:pPr>
              <a:defRPr sz="2100" b="1">
                <a:solidFill>
                  <a:srgbClr val="12304D"/>
                </a:solidFill>
                <a:latin typeface="Nimbus Sans"/>
                <a:ea typeface="Nimbus Sans"/>
                <a:cs typeface="Nimbus Sans"/>
              </a:defRPr>
            </a:pPr>
            <a:r>
              <a:rPr lang="es-MX" sz="2100" b="1" noProof="0" dirty="0">
                <a:solidFill>
                  <a:srgbClr val="12304D"/>
                </a:solidFill>
                <a:latin typeface="Nimbus Sans"/>
                <a:ea typeface="Nimbus Sans"/>
                <a:cs typeface="Nimbus Sans"/>
              </a:rPr>
              <a:t>Cumplimiento</a:t>
            </a:r>
          </a:p>
        </p:txBody>
      </p:sp>
      <p:graphicFrame>
        <p:nvGraphicFramePr>
          <p:cNvPr id="6" name="Chart" descr="Chart">
            <a:extLst>
              <a:ext uri="{FF2B5EF4-FFF2-40B4-BE49-F238E27FC236}">
                <a16:creationId xmlns:a16="http://schemas.microsoft.com/office/drawing/2014/main" id="{C916F47F-12B9-4C33-8119-F7CD93FBC4C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86081412"/>
              </p:ext>
            </p:extLst>
          </p:nvPr>
        </p:nvGraphicFramePr>
        <p:xfrm>
          <a:off x="7334250" y="2143125"/>
          <a:ext cx="4333875" cy="2571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Rectángulo 6">
            <a:extLst>
              <a:ext uri="{FF2B5EF4-FFF2-40B4-BE49-F238E27FC236}">
                <a16:creationId xmlns:a16="http://schemas.microsoft.com/office/drawing/2014/main" id="{A950E1A8-B526-4C53-88D7-547B99FA65BF}"/>
              </a:ext>
            </a:extLst>
          </p:cNvPr>
          <p:cNvSpPr>
            <a:spLocks noGrp="1"/>
          </p:cNvSpPr>
          <p:nvPr/>
        </p:nvSpPr>
        <p:spPr>
          <a:xfrm>
            <a:off x="7477125" y="4857750"/>
            <a:ext cx="1905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3150" b="1">
                <a:solidFill>
                  <a:srgbClr val="2378AE"/>
                </a:solidFill>
                <a:latin typeface="Nimbus Sans"/>
                <a:ea typeface="Nimbus Sans"/>
                <a:cs typeface="Nimbus Sans"/>
              </a:defRPr>
            </a:defPPr>
          </a:lstStyle>
          <a:p>
            <a:pPr>
              <a:defRPr sz="3150" b="1">
                <a:solidFill>
                  <a:srgbClr val="2378AE"/>
                </a:solidFill>
                <a:latin typeface="Nimbus Sans"/>
                <a:ea typeface="Nimbus Sans"/>
                <a:cs typeface="Nimbus Sans"/>
              </a:defRPr>
            </a:pPr>
            <a:r>
              <a:rPr lang="es-MX" sz="3150" b="1" noProof="0" dirty="0">
                <a:solidFill>
                  <a:srgbClr val="2378AE"/>
                </a:solidFill>
                <a:latin typeface="Nimbus Sans"/>
                <a:ea typeface="Nimbus Sans"/>
                <a:cs typeface="Nimbus Sans"/>
              </a:rPr>
              <a:t>14.94%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1F18F647-A5DF-43EE-9D6F-DEA1300AB351}"/>
              </a:ext>
            </a:extLst>
          </p:cNvPr>
          <p:cNvSpPr>
            <a:spLocks noGrp="1"/>
          </p:cNvSpPr>
          <p:nvPr/>
        </p:nvSpPr>
        <p:spPr>
          <a:xfrm>
            <a:off x="9620250" y="4857750"/>
            <a:ext cx="2000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3150" b="1">
                <a:solidFill>
                  <a:srgbClr val="2378AE"/>
                </a:solidFill>
                <a:latin typeface="Nimbus Sans"/>
                <a:ea typeface="Nimbus Sans"/>
                <a:cs typeface="Nimbus Sans"/>
              </a:defRPr>
            </a:defPPr>
          </a:lstStyle>
          <a:p>
            <a:pPr>
              <a:defRPr sz="3150" b="1">
                <a:solidFill>
                  <a:srgbClr val="2378AE"/>
                </a:solidFill>
                <a:latin typeface="Nimbus Sans"/>
                <a:ea typeface="Nimbus Sans"/>
                <a:cs typeface="Nimbus Sans"/>
              </a:defRPr>
            </a:pPr>
            <a:r>
              <a:rPr lang="es-MX" sz="3150" b="1" noProof="0" dirty="0">
                <a:solidFill>
                  <a:srgbClr val="2378AE"/>
                </a:solidFill>
                <a:latin typeface="Nimbus Sans"/>
                <a:ea typeface="Nimbus Sans"/>
                <a:cs typeface="Nimbus Sans"/>
              </a:rPr>
              <a:t>60.61%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F2F1CD57-DA38-4C83-8E79-7DB282B341AE}"/>
              </a:ext>
            </a:extLst>
          </p:cNvPr>
          <p:cNvSpPr>
            <a:spLocks noGrp="1"/>
          </p:cNvSpPr>
          <p:nvPr/>
        </p:nvSpPr>
        <p:spPr>
          <a:xfrm>
            <a:off x="7477125" y="5410200"/>
            <a:ext cx="1905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00" b="0">
                <a:solidFill>
                  <a:srgbClr val="526577"/>
                </a:solidFill>
                <a:latin typeface="Nimbus Sans"/>
                <a:ea typeface="Nimbus Sans"/>
                <a:cs typeface="Nimbus Sans"/>
              </a:defRPr>
            </a:defPPr>
          </a:lstStyle>
          <a:p>
            <a:pPr>
              <a:defRPr sz="1500" b="0">
                <a:solidFill>
                  <a:srgbClr val="526577"/>
                </a:solidFill>
                <a:latin typeface="Nimbus Sans"/>
                <a:ea typeface="Nimbus Sans"/>
                <a:cs typeface="Nimbus Sans"/>
              </a:defRPr>
            </a:pPr>
            <a:r>
              <a:rPr lang="es-MX" sz="1500" b="0" noProof="0" dirty="0">
                <a:solidFill>
                  <a:srgbClr val="526577"/>
                </a:solidFill>
                <a:latin typeface="Nimbus Sans"/>
                <a:ea typeface="Nimbus Sans"/>
                <a:cs typeface="Nimbus Sans"/>
              </a:rPr>
              <a:t>Central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7BF74B9A-FBE3-47C7-9BBB-D58BA8ED86E1}"/>
              </a:ext>
            </a:extLst>
          </p:cNvPr>
          <p:cNvSpPr>
            <a:spLocks noGrp="1"/>
          </p:cNvSpPr>
          <p:nvPr/>
        </p:nvSpPr>
        <p:spPr>
          <a:xfrm>
            <a:off x="9620250" y="5410200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00" b="0">
                <a:solidFill>
                  <a:srgbClr val="526577"/>
                </a:solidFill>
                <a:latin typeface="Nimbus Sans"/>
                <a:ea typeface="Nimbus Sans"/>
                <a:cs typeface="Nimbus Sans"/>
              </a:defRPr>
            </a:defPPr>
          </a:lstStyle>
          <a:p>
            <a:pPr>
              <a:defRPr sz="1500" b="0">
                <a:solidFill>
                  <a:srgbClr val="526577"/>
                </a:solidFill>
                <a:latin typeface="Nimbus Sans"/>
                <a:ea typeface="Nimbus Sans"/>
                <a:cs typeface="Nimbus Sans"/>
              </a:defRPr>
            </a:pPr>
            <a:r>
              <a:rPr lang="es-MX" sz="1500" b="0" noProof="0" dirty="0">
                <a:solidFill>
                  <a:srgbClr val="526577"/>
                </a:solidFill>
                <a:latin typeface="Nimbus Sans"/>
                <a:ea typeface="Nimbus Sans"/>
                <a:cs typeface="Nimbus Sans"/>
              </a:rPr>
              <a:t>Colegio Médico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33BCE95A-2A5A-4288-8509-F4CF8AB23A1A}"/>
              </a:ext>
            </a:extLst>
          </p:cNvPr>
          <p:cNvSpPr>
            <a:spLocks noGrp="1"/>
          </p:cNvSpPr>
          <p:nvPr/>
        </p:nvSpPr>
        <p:spPr>
          <a:xfrm>
            <a:off x="523875" y="5848350"/>
            <a:ext cx="10572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950" b="1">
                <a:solidFill>
                  <a:srgbClr val="12304D"/>
                </a:solidFill>
                <a:latin typeface="Nimbus Sans"/>
                <a:ea typeface="Nimbus Sans"/>
                <a:cs typeface="Nimbus Sans"/>
              </a:defRPr>
            </a:defPPr>
          </a:lstStyle>
          <a:p>
            <a:pPr>
              <a:defRPr sz="1950" b="1">
                <a:solidFill>
                  <a:srgbClr val="12304D"/>
                </a:solidFill>
                <a:latin typeface="Nimbus Sans"/>
                <a:ea typeface="Nimbus Sans"/>
                <a:cs typeface="Nimbus Sans"/>
              </a:defRPr>
            </a:pPr>
            <a:r>
              <a:rPr lang="es-MX" sz="1950" b="1" noProof="0" dirty="0">
                <a:solidFill>
                  <a:srgbClr val="12304D"/>
                </a:solidFill>
                <a:latin typeface="Nimbus Sans"/>
                <a:ea typeface="Nimbus Sans"/>
                <a:cs typeface="Nimbus Sans"/>
              </a:rPr>
              <a:t>Las cancelaciones reducen el crecimiento neto de ambas agencias.</a:t>
            </a:r>
          </a:p>
        </p:txBody>
      </p:sp>
    </p:spTree>
    <p:extLst>
      <p:ext uri="{BB962C8B-B14F-4D97-AF65-F5344CB8AC3E}">
        <p14:creationId xmlns:p14="http://schemas.microsoft.com/office/powerpoint/2010/main" val="16143636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30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2093D963-04A9-4072-8BDD-D94032002F8E}"/>
              </a:ext>
            </a:extLst>
          </p:cNvPr>
          <p:cNvSpPr>
            <a:spLocks noGrp="1"/>
          </p:cNvSpPr>
          <p:nvPr/>
        </p:nvSpPr>
        <p:spPr>
          <a:xfrm>
            <a:off x="619125" y="2309812"/>
            <a:ext cx="3274449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540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defPPr>
          </a:lstStyle>
          <a:p>
            <a:pPr>
              <a:defRPr sz="540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lang="es-MX" sz="5400" b="1" noProof="0" dirty="0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Gracias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721588FB-DADF-46B6-A153-F287CF70DAEC}"/>
              </a:ext>
            </a:extLst>
          </p:cNvPr>
          <p:cNvSpPr>
            <a:spLocks noGrp="1"/>
          </p:cNvSpPr>
          <p:nvPr/>
        </p:nvSpPr>
        <p:spPr>
          <a:xfrm>
            <a:off x="666750" y="4095750"/>
            <a:ext cx="102870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175" b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defPPr>
          </a:lstStyle>
          <a:p>
            <a:pPr>
              <a:defRPr sz="2175" b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lang="es-MX" sz="2175" b="0" noProof="0" dirty="0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Seguimiento al crecimiento de cartera y al cumplimiento de metas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D694F02C-E8E6-493B-B70A-E03F51415F6F}"/>
              </a:ext>
            </a:extLst>
          </p:cNvPr>
          <p:cNvSpPr>
            <a:spLocks noGrp="1"/>
          </p:cNvSpPr>
          <p:nvPr/>
        </p:nvSpPr>
        <p:spPr>
          <a:xfrm>
            <a:off x="666750" y="5572125"/>
            <a:ext cx="10477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725" b="0">
                <a:solidFill>
                  <a:srgbClr val="B8DDF2"/>
                </a:solidFill>
                <a:latin typeface="Nimbus Sans"/>
                <a:ea typeface="Nimbus Sans"/>
                <a:cs typeface="Nimbus Sans"/>
              </a:defRPr>
            </a:defPPr>
          </a:lstStyle>
          <a:p>
            <a:pPr>
              <a:defRPr sz="1725" b="0">
                <a:solidFill>
                  <a:srgbClr val="B8DDF2"/>
                </a:solidFill>
                <a:latin typeface="Nimbus Sans"/>
                <a:ea typeface="Nimbus Sans"/>
                <a:cs typeface="Nimbus Sans"/>
              </a:defRPr>
            </a:pPr>
            <a:r>
              <a:rPr lang="es-MX" sz="1725" b="0" noProof="0" dirty="0">
                <a:solidFill>
                  <a:srgbClr val="B8DDF2"/>
                </a:solidFill>
                <a:latin typeface="Nimbus Sans"/>
                <a:ea typeface="Nimbus Sans"/>
                <a:cs typeface="Nimbus Sans"/>
              </a:rPr>
              <a:t>Agencia Central y Colegio Médico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2F3C7C80-9EC1-9D30-99F4-77F791CBE4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2264" y="498699"/>
            <a:ext cx="4411486" cy="2977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0364524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963</TotalTime>
  <Words>822</Words>
  <Application>Microsoft Office PowerPoint</Application>
  <DocSecurity>0</DocSecurity>
  <PresentationFormat>Panorámica</PresentationFormat>
  <Paragraphs>148</Paragraphs>
  <Slides>6</Slides>
  <Notes>6</Notes>
  <HiddenSlides>0</HiddenSlides>
  <MMClips>0</MMClips>
  <ScaleCrop>false</ScaleCrop>
  <HeadingPairs>
    <vt:vector size="6" baseType="variant">
      <vt:variant>
        <vt:lpstr>Fuentes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8" baseType="lpstr">
      <vt:lpstr>Nimbus Sans</vt:lpstr>
      <vt:lpstr>ChatGPT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Edgardo Isaias Peñate Rivas</cp:lastModifiedBy>
  <cp:revision>14</cp:revision>
  <dcterms:created xsi:type="dcterms:W3CDTF">2026-10-16T14:40:37Z</dcterms:created>
  <dcterms:modified xsi:type="dcterms:W3CDTF">2026-10-20T21:26:26Z</dcterms:modified>
</cp:coreProperties>
</file>