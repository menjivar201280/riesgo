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3" r:id="rId4"/>
    <p:sldId id="264" r:id="rId5"/>
    <p:sldId id="257" r:id="rId6"/>
    <p:sldId id="262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7FB"/>
    <a:srgbClr val="6CAE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Cumplimiento</c:v>
          </c:tx>
          <c:spPr>
            <a:solidFill>
              <a:srgbClr val="2378AE"/>
            </a:solidFill>
          </c:spPr>
          <c:invertIfNegative val="0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latin typeface="Nimbus Sans"/>
                    <a:ea typeface="Nimbus Sans"/>
                    <a:cs typeface="Nimbus San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Central</c:v>
                </c:pt>
                <c:pt idx="1">
                  <c:v>Colegio Médico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0.14940000000000001</c:v>
                </c:pt>
                <c:pt idx="1">
                  <c:v>0.60609999999999997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2C-488D-8634-2EF8472B8F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s-MX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b"/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666666"/>
                </a:solidFill>
                <a:latin typeface="Nimbus Sans"/>
                <a:ea typeface="Nimbus Sans"/>
                <a:cs typeface="Nimbus Sans"/>
              </a:defRPr>
            </a:pPr>
            <a:endParaRPr lang="es-MX"/>
          </a:p>
        </c:txPr>
        <c:crossAx val="48650112"/>
        <c:crosses val="autoZero"/>
        <c:crossBetween val="between"/>
        <c:majorUnit val="0.25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915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cuadro fotografiado aportado por el usuario en esta conversación, image-1792520650622.jpg. Metas de desembolsos, desembolsos, amortización, cancelaciones, variación y metas de crecimiento transcritos de la imagen. Saldos de cierre tomados de la imagen image-1792520282772.jpg, visible en la conversación. Enero–septiembre confirmado por el usuario. Cálculos: cumplimiento desembolsos = desembolsos/meta; parcial = desembolsos - amortización - cancelaciones; cumplimiento crecimiento = variación reportada/meta crecimiento; brecha = variación reportada - meta. Diferencia pendiente = parcial - variación reportada. No se verificaron los datos de origen ni el saldo inicial. No se presenta el parcial como crecimiento neto validado.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ocho archivos mensuales de Cancelaciones Préstamos, febrero a septiembre de 2026, aportados por el usuario. Clasificación preliminar de comentarios. Umbral estricto &gt;15000, cantidad reportada igual a uno y sin abonos en el comentario. Se retuvo una ocurrencia de posibles duplicados. Los registros agrupados no están incluidos por falta de monto individual. Ranking por monto, no por cantidad. Central: 33 registros clasificables por $2364595.47; estas cinco categorías reúnen 30 registros por $2278480.78. Colegio Médico: nueve registros por $323128.32; solo cuatro categorías. Duplicado probable de Colegio Médico: 6 y 18 de abril, asociado 14234, $25142.89, se contó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ocho archivos mensuales de Cancelaciones Préstamos, febrero a septiembre de 2026, aportados por el usuario. Clasificación preliminar de comentarios. Umbral estricto &gt;15000, cantidad reportada igual a uno y sin abonos en el comentario. Se retuvo una ocurrencia de posibles duplicados. Los registros agrupados no están incluidos por falta de monto individual. Ranking por monto, no por cantidad. Central: 33 registros clasificables por $2364595.47; estas cinco categorías reúnen 30 registros por $2278480.78. Colegio Médico: nueve registros por $323128.32; solo cuatro categorías. Duplicado probable de Colegio Médico: 6 y 18 de abril, asociado 14234, $25142.89, se contó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imagen del usuario, Comparativo_Agencias_Sep2026. Cifras transcritas de la captura. Los períodos y alcances de los flujos de préstamos requieren confirmación.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70E324-AED0-4BD4-9678-0B2DA828D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D5DDEF0-4651-4F51-9B7E-A3E689C12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1D3488-11F4-4E61-B027-01CA2AAAD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58D49E-1F86-425F-B8BB-6B5CC0D52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AD6BFDD-1937-43A7-984C-CB34B4A34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AB86B36-442D-4171-8856-FA03D279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BCA25A-4613-47FB-9BB6-D35790AFF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B64491B-5AC3-4F21-A5CD-EC9B2FE668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A88E33B-C90E-4921-9B86-3FAD27A82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6251978-F511-4513-A62E-ACF8B562C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34DD9A1-67E2-4DDF-9F6C-A7430BA80A05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10668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48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4800" b="1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Gestión Comercial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B98DF24-831B-49F8-A2B7-4D5B9301E620}"/>
              </a:ext>
            </a:extLst>
          </p:cNvPr>
          <p:cNvSpPr>
            <a:spLocks noGrp="1"/>
          </p:cNvSpPr>
          <p:nvPr/>
        </p:nvSpPr>
        <p:spPr>
          <a:xfrm>
            <a:off x="647700" y="2619375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7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7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700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Crecimiento de cartera y cumplimiento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E426651-E443-4A21-BD68-A4E25C674417}"/>
              </a:ext>
            </a:extLst>
          </p:cNvPr>
          <p:cNvSpPr>
            <a:spLocks noGrp="1"/>
          </p:cNvSpPr>
          <p:nvPr/>
        </p:nvSpPr>
        <p:spPr>
          <a:xfrm>
            <a:off x="647700" y="36195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0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Agencia Central y Colegio Médico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AF5FEC7-A556-4D84-AC0F-D4D2071C97AB}"/>
              </a:ext>
            </a:extLst>
          </p:cNvPr>
          <p:cNvSpPr>
            <a:spLocks noGrp="1"/>
          </p:cNvSpPr>
          <p:nvPr/>
        </p:nvSpPr>
        <p:spPr>
          <a:xfrm>
            <a:off x="647700" y="5476875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00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00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Cierre de septiembre de 2026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44C458-F555-F16F-2B84-F150DC070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89" y="2082913"/>
            <a:ext cx="4411486" cy="2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1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D7445557-6FF1-4AFA-BC3E-04D35246FBC7}"/>
              </a:ext>
            </a:extLst>
          </p:cNvPr>
          <p:cNvSpPr>
            <a:spLocks noGrp="1"/>
          </p:cNvSpPr>
          <p:nvPr/>
        </p:nvSpPr>
        <p:spPr>
          <a:xfrm>
            <a:off x="476250" y="285750"/>
            <a:ext cx="11239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92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800" noProof="0" dirty="0"/>
              <a:t>Crecimiento de cartera: monto y porcentaje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6C81A80-2060-4098-81C6-B5AFC4668C1E}"/>
              </a:ext>
            </a:extLst>
          </p:cNvPr>
          <p:cNvSpPr>
            <a:spLocks noGrp="1"/>
          </p:cNvSpPr>
          <p:nvPr/>
        </p:nvSpPr>
        <p:spPr>
          <a:xfrm>
            <a:off x="495300" y="895350"/>
            <a:ext cx="1104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65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65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 y Colegio Médico · Acumulado enero–septiembre de 2026</a:t>
            </a:r>
          </a:p>
        </p:txBody>
      </p:sp>
      <p:graphicFrame>
        <p:nvGraphicFramePr>
          <p:cNvPr id="7" name="Tabla 2"/>
          <p:cNvGraphicFramePr>
            <a:graphicFrameLocks noGrp="1"/>
          </p:cNvGraphicFramePr>
          <p:nvPr/>
        </p:nvGraphicFramePr>
        <p:xfrm>
          <a:off x="476250" y="1463040"/>
          <a:ext cx="11247120" cy="5010912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Indicador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Central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Colegio Médico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12304D"/>
                      </a:solidFill>
                    </a:lnB>
                    <a:noFill/>
                  </a:tcPr>
                </a:tc>
              </a:tr>
              <a:tr h="402336">
                <a:tc gridSpan="3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 DESEMBOLSOS</a:t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desembolsos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$8,100,000.00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$5,625,000.00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Desembolsos realizados (+)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$10,057,790.62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$3,792,046.74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Cumplimiento de desembolsos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124.17%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67.41%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02336">
                <a:tc gridSpan="3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 COLOCACIÓN NETA</a:t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Amortización natural (−)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$4,704,882.17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$2,587,564.25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Cancelaciones anticipadas (−)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$4,467,774.82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$441,076.94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Colocación Neta de desembolsos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$885,133.63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1F6B4A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$763,405.55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402336">
                <a:tc gridSpan="3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 CRECIMIENTO DE CARTERA</a:t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C79A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</a:txBody>
                  <a:tcPr marL="91440" marR="91440" marT="18288" marB="1828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Saldo de cartera al cierre de septiembre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$80,151,314.67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$28,279,390.71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Crecimiento de cartera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−$845,243.40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−$84,530.22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crecimiento de cartera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$2,393,084.78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5A687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$867,493.23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Cumplimiento de la meta de crecimiento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-35.32%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-9.74%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3EA"/>
                      </a:solidFill>
                    </a:lnB>
                    <a:noFill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Déficit de crecimiento de cartera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−$3,238,328.18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B83B48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−$952,023.45</a:t>
                      </a:r>
                    </a:p>
                  </a:txBody>
                  <a:tcPr marL="91440" marR="9144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94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D1A72C2-D7AB-4281-B2C3-155B6A5E06DB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942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Agencia Central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9B860BC-CC8C-4D14-B8DF-E304C7B3C790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Cancelaciones individuales mayores a $15,000 · Febrero–septiembre 2026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0D08209-48A1-4A68-9C91-AFB4B55C221A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Cinco principales causas por monto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CC48607-282A-442E-AB3E-40C813D44E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585360"/>
              </p:ext>
            </p:extLst>
          </p:nvPr>
        </p:nvGraphicFramePr>
        <p:xfrm>
          <a:off x="523875" y="2143125"/>
          <a:ext cx="11144250" cy="3291840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898">
                  <a:extLst>
                    <a:ext uri="{9D8B030D-6E8A-4147-A177-3AD203B41FA5}">
                      <a16:colId xmlns:a16="http://schemas.microsoft.com/office/drawing/2014/main" val="556287899"/>
                    </a:ext>
                  </a:extLst>
                </a:gridCol>
              </a:tblGrid>
              <a:tr h="346982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Causa / origen de fondos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Cantidad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Monto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% del total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Traslado o refinanciamiento externo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$1,044,715.59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Venta de inmueble u otros activos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$850,775.12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19.04%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Fondos propios sin mayor detalle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$219,160.59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4.91%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Uso de ahorros propios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$90,052.49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2.02%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Liquidación de DPF o crédito pignorado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$73,776.99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1.65%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Seguro por fallecimiento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$61,786.28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643116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Otros motivos 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$2,127,507.76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47.62%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44599"/>
                  </a:ext>
                </a:extLst>
              </a:tr>
              <a:tr h="346982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de las cinco causas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$4,467,774.82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100.00%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16F6CEFA-4A93-47EC-ADE7-2591FB7E4676}"/>
              </a:ext>
            </a:extLst>
          </p:cNvPr>
          <p:cNvSpPr>
            <a:spLocks noGrp="1"/>
          </p:cNvSpPr>
          <p:nvPr/>
        </p:nvSpPr>
        <p:spPr>
          <a:xfrm>
            <a:off x="523875" y="6048375"/>
            <a:ext cx="1114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75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El traslado de deuda concentra el mayor monto de las causas clasificadas.</a:t>
            </a:r>
          </a:p>
        </p:txBody>
      </p:sp>
    </p:spTree>
    <p:extLst>
      <p:ext uri="{BB962C8B-B14F-4D97-AF65-F5344CB8AC3E}">
        <p14:creationId xmlns:p14="http://schemas.microsoft.com/office/powerpoint/2010/main" val="208952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6D9FA9CA-CB63-4679-8DF3-7D52B75A01BC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9429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Agencia Colegio Médico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78F875A-377E-4785-B883-5DE1E62101BD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Cancelaciones individuales mayores a $15,000 · Febrero–septiembre 2026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1C5394-264D-4BC0-9957-4BEF42EB07BB}"/>
              </a:ext>
            </a:extLst>
          </p:cNvPr>
          <p:cNvSpPr>
            <a:spLocks noGrp="1"/>
          </p:cNvSpPr>
          <p:nvPr/>
        </p:nvSpPr>
        <p:spPr>
          <a:xfrm>
            <a:off x="523875" y="1571625"/>
            <a:ext cx="11144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Cuatro causas identificadas por monto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FD9808-C527-4041-9398-81310010B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5448732"/>
              </p:ext>
            </p:extLst>
          </p:nvPr>
        </p:nvGraphicFramePr>
        <p:xfrm>
          <a:off x="523875" y="2143125"/>
          <a:ext cx="11144250" cy="3000375"/>
        </p:xfrm>
        <a:graphic>
          <a:graphicData uri="http://schemas.openxmlformats.org/drawingml/2006/table">
            <a:tbl>
              <a:tblPr/>
              <a:tblGrid>
                <a:gridCol w="617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898">
                  <a:extLst>
                    <a:ext uri="{9D8B030D-6E8A-4147-A177-3AD203B41FA5}">
                      <a16:colId xmlns:a16="http://schemas.microsoft.com/office/drawing/2014/main" val="8108177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Causa / origen de fondos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Cantidad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Monto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% del total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Uso de ahorros propios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$189,938.06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43.06%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Traslado o refinanciamiento externo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$63,442.76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14.38%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Liquidación de DPF o crédito pignorado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$40,880.36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9.27%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Venta de inmueble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$28,867.14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6.54%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Otros motivos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$117,948.62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0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26.74%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48758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Total clasificable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$441,076.94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800" b="1" noProof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100.00%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DC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2CB8A32A-6C5B-4515-A944-3CB5C10A5DA5}"/>
              </a:ext>
            </a:extLst>
          </p:cNvPr>
          <p:cNvSpPr>
            <a:spLocks noGrp="1"/>
          </p:cNvSpPr>
          <p:nvPr/>
        </p:nvSpPr>
        <p:spPr>
          <a:xfrm>
            <a:off x="523875" y="5381625"/>
            <a:ext cx="11144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875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875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El uso de ahorros propios concentra el mayor monto clasificado.</a:t>
            </a:r>
          </a:p>
        </p:txBody>
      </p:sp>
    </p:spTree>
    <p:extLst>
      <p:ext uri="{BB962C8B-B14F-4D97-AF65-F5344CB8AC3E}">
        <p14:creationId xmlns:p14="http://schemas.microsoft.com/office/powerpoint/2010/main" val="871352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8F95FFF4-A6A3-46A8-971F-A1299A50B326}"/>
              </a:ext>
            </a:extLst>
          </p:cNvPr>
          <p:cNvSpPr>
            <a:spLocks noGrp="1"/>
          </p:cNvSpPr>
          <p:nvPr/>
        </p:nvSpPr>
        <p:spPr>
          <a:xfrm>
            <a:off x="523875" y="381000"/>
            <a:ext cx="11144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0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0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Tarjetas de crédito: cumplimiento de meta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461FE14-996E-49BB-AF89-89CD160F3072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0953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75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75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Comparativo de agencias · Septiembre 2026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9F9C0CD-CE58-4BDD-AE0E-A716C126968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762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2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2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2 / 7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9D4E65C-32B6-458D-9B70-29F8543C2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0936796"/>
              </p:ext>
            </p:extLst>
          </p:nvPr>
        </p:nvGraphicFramePr>
        <p:xfrm>
          <a:off x="523875" y="1571625"/>
          <a:ext cx="6477000" cy="31432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Indicador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Central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1" noProof="0" dirty="0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Colegio Médico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>
                      <a:solidFill>
                        <a:srgbClr val="DDE7EF"/>
                      </a:solidFill>
                      <a:prstDash val="soli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12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Tarjetas al cierre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3,994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1,980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Meta de crecimiento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435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66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Activadas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308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Canceladas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243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39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Crecimiento neto</a:t>
                      </a:r>
                    </a:p>
                  </a:txBody>
                  <a:tcPr>
                    <a:lnL w="9525">
                      <a:solidFill>
                        <a:srgbClr val="DDE7EF"/>
                      </a:solidFill>
                      <a:prstDash val="soli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65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noProof="0" dirty="0">
                          <a:solidFill>
                            <a:srgbClr val="12304D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</a:t>
                      </a:r>
                    </a:p>
                  </a:txBody>
                  <a:tcPr>
                    <a:lnL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DE7EF"/>
                      </a:solidFill>
                      <a:prstDash val="solid"/>
                    </a:lnR>
                    <a:lnT w="9525" cap="flat" cmpd="sng" algn="ctr">
                      <a:solidFill>
                        <a:srgbClr val="DD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7EF"/>
                      </a:solidFill>
                      <a:prstDash val="solid"/>
                    </a:lnB>
                    <a:solidFill>
                      <a:srgbClr val="F0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6B40FFC2-6790-473C-854E-B193824EFB3F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0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0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Cumplimiento</a:t>
            </a:r>
          </a:p>
        </p:txBody>
      </p:sp>
      <p:graphicFrame>
        <p:nvGraphicFramePr>
          <p:cNvPr id="6" name="Chart" descr="Chart">
            <a:extLst>
              <a:ext uri="{FF2B5EF4-FFF2-40B4-BE49-F238E27FC236}">
                <a16:creationId xmlns:a16="http://schemas.microsoft.com/office/drawing/2014/main" id="{C916F47F-12B9-4C33-8119-F7CD93FBC4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6081412"/>
              </p:ext>
            </p:extLst>
          </p:nvPr>
        </p:nvGraphicFramePr>
        <p:xfrm>
          <a:off x="7334250" y="2143125"/>
          <a:ext cx="4333875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A950E1A8-B526-4C53-88D7-547B99FA65BF}"/>
              </a:ext>
            </a:extLst>
          </p:cNvPr>
          <p:cNvSpPr>
            <a:spLocks noGrp="1"/>
          </p:cNvSpPr>
          <p:nvPr/>
        </p:nvSpPr>
        <p:spPr>
          <a:xfrm>
            <a:off x="7477125" y="4857750"/>
            <a:ext cx="190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150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14.94%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F18F647-A5DF-43EE-9D6F-DEA1300AB351}"/>
              </a:ext>
            </a:extLst>
          </p:cNvPr>
          <p:cNvSpPr>
            <a:spLocks noGrp="1"/>
          </p:cNvSpPr>
          <p:nvPr/>
        </p:nvSpPr>
        <p:spPr>
          <a:xfrm>
            <a:off x="9620250" y="48577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3150" b="1">
                <a:solidFill>
                  <a:srgbClr val="2378AE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3150" b="1" noProof="0" dirty="0">
                <a:solidFill>
                  <a:srgbClr val="2378AE"/>
                </a:solidFill>
                <a:latin typeface="Nimbus Sans"/>
                <a:ea typeface="Nimbus Sans"/>
                <a:cs typeface="Nimbus Sans"/>
              </a:rPr>
              <a:t>60.61%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2F1CD57-DA38-4C83-8E79-7DB282B341AE}"/>
              </a:ext>
            </a:extLst>
          </p:cNvPr>
          <p:cNvSpPr>
            <a:spLocks noGrp="1"/>
          </p:cNvSpPr>
          <p:nvPr/>
        </p:nvSpPr>
        <p:spPr>
          <a:xfrm>
            <a:off x="7477125" y="54102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Central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F74B9A-FBE3-47C7-9BBB-D58BA8ED86E1}"/>
              </a:ext>
            </a:extLst>
          </p:cNvPr>
          <p:cNvSpPr>
            <a:spLocks noGrp="1"/>
          </p:cNvSpPr>
          <p:nvPr/>
        </p:nvSpPr>
        <p:spPr>
          <a:xfrm>
            <a:off x="9620250" y="5410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500" b="0">
                <a:solidFill>
                  <a:srgbClr val="526577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500" b="0" noProof="0" dirty="0">
                <a:solidFill>
                  <a:srgbClr val="526577"/>
                </a:solidFill>
                <a:latin typeface="Nimbus Sans"/>
                <a:ea typeface="Nimbus Sans"/>
                <a:cs typeface="Nimbus Sans"/>
              </a:rPr>
              <a:t>Colegio Médico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3BCE95A-2A5A-4288-8509-F4CF8AB23A1A}"/>
              </a:ext>
            </a:extLst>
          </p:cNvPr>
          <p:cNvSpPr>
            <a:spLocks noGrp="1"/>
          </p:cNvSpPr>
          <p:nvPr/>
        </p:nvSpPr>
        <p:spPr>
          <a:xfrm>
            <a:off x="523875" y="58483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950" b="1">
                <a:solidFill>
                  <a:srgbClr val="12304D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950" b="1" noProof="0" dirty="0">
                <a:solidFill>
                  <a:srgbClr val="12304D"/>
                </a:solidFill>
                <a:latin typeface="Nimbus Sans"/>
                <a:ea typeface="Nimbus Sans"/>
                <a:cs typeface="Nimbus Sans"/>
              </a:rPr>
              <a:t>Las cancelaciones reducen el crecimiento neto de ambas agencias.</a:t>
            </a:r>
          </a:p>
        </p:txBody>
      </p:sp>
    </p:spTree>
    <p:extLst>
      <p:ext uri="{BB962C8B-B14F-4D97-AF65-F5344CB8AC3E}">
        <p14:creationId xmlns:p14="http://schemas.microsoft.com/office/powerpoint/2010/main" val="1614363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093D963-04A9-4072-8BDD-D94032002F8E}"/>
              </a:ext>
            </a:extLst>
          </p:cNvPr>
          <p:cNvSpPr>
            <a:spLocks noGrp="1"/>
          </p:cNvSpPr>
          <p:nvPr/>
        </p:nvSpPr>
        <p:spPr>
          <a:xfrm>
            <a:off x="619125" y="2309812"/>
            <a:ext cx="3274449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5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54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5400" b="1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Gracias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1588FB-DADF-46B6-A153-F287CF70DAEC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028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2175" b="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2175" b="0" noProof="0" dirty="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Seguimiento al crecimiento de cartera y al cumplimiento de metas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694F02C-E8E6-493B-B70A-E03F51415F6F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defPPr>
          </a:lstStyle>
          <a:p>
            <a:pPr>
              <a:defRPr sz="1725" b="0">
                <a:solidFill>
                  <a:srgbClr val="B8DDF2"/>
                </a:solidFill>
                <a:latin typeface="Nimbus Sans"/>
                <a:ea typeface="Nimbus Sans"/>
                <a:cs typeface="Nimbus Sans"/>
              </a:defRPr>
            </a:pPr>
            <a:r>
              <a:rPr lang="es-MX" sz="1725" b="0" noProof="0" dirty="0">
                <a:solidFill>
                  <a:srgbClr val="B8DDF2"/>
                </a:solidFill>
                <a:latin typeface="Nimbus Sans"/>
                <a:ea typeface="Nimbus Sans"/>
                <a:cs typeface="Nimbus Sans"/>
              </a:rPr>
              <a:t>Agencia Central y Colegio Médico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F3C7C80-9EC1-9D30-99F4-77F791CBE4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264" y="498699"/>
            <a:ext cx="4411486" cy="297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645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822</Words>
  <Application>Microsoft Office PowerPoint</Application>
  <DocSecurity>0</DocSecurity>
  <PresentationFormat>Panorámica</PresentationFormat>
  <Paragraphs>148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Nimbus Sans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Edgardo Isaias Peñate Rivas</cp:lastModifiedBy>
  <cp:revision>14</cp:revision>
  <dcterms:created xsi:type="dcterms:W3CDTF">2026-10-16T14:40:37Z</dcterms:created>
  <dcterms:modified xsi:type="dcterms:W3CDTF">2026-10-20T21:26:26Z</dcterms:modified>
</cp:coreProperties>
</file>