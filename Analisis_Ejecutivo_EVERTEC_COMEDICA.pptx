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Lst>
  <p:notesMasterIdLst>
    <p:notesMasterId r:id="rId12"/>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el propósito del informe: evaluar objetivamente el desempeño del servicio de procesamiento de tarjetas de crédito operado por EVERTEC, basado en la voz directa de las 17 agencias que usan el sistema a diario a nivel nacional. Aclarar que la audiencia es la Gerencia General y que las conclusiones buscan apoyar decisiones sobre continuidad, renegociación o exigencia de mejoras en el contrato de servicio con el proveedor.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el estudio no es una muestra externa sino una consulta directa a las agencias operativas, lo que da alta validez interna a los hallazgos. Mencionar que participaron agencias de distintas regiones y tamaños, incluyendo la oficina central y el rol de Jefe Móvil, dando una visión representativa de la operación nacional.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Señalar la lectura combinada de estas dos métricas: la inestabilidad técnica es alta (88.2% de agencias experimenta fallas frecuentes o algunas veces), pero el soporte logra contener el impacto en la mayoría de los casos, ya que responde oportunamente el 70.6% de las veces. Esto sugiere que el problema es de raíz técnica (estabilidad de la plataforma) más que de atención al cliente por parte del proveedor.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Destacar que, pese a las fallas técnicas, la calificación general se mantiene en un rango aceptable (3.71/5), impulsada por una nota 4 mayoritaria (70.6%). Sin embargo, más del 76% de las agencias reporta reclamos de asociados frecuentes o algunas veces, lo cual es una señal de alerta temprana para la experiencia del cliente final que no debe minimizarse.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Este es el eje argumentativo central de la presentación: el sistema "funciona" hoy gracias al esfuerzo del personal de agencia, no porque la plataforma sea estable. Ese esfuerzo tiene un costo oculto (tiempo, desgaste, reprocesos) y un límite: si la inestabilidad aumenta, la calificación y la confianza del asociado se deteriorarán rápidamente.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Explicar que estos comentarios abiertos fueron agrupados en cuatro categorías recurrentes que aparecen de forma consistente entre las 17 agencias, lo que indica que no son casos aislados sino patrones sistémicos del servicio que EVERTEC debe atender de raíz.</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Presentar esta diapositiva como el puente hacia las recomendaciones: se reconoce lo que sí funciona en el servicio actual, pero se enmarcan con claridad las brechas concretas que EVERTEC debe cerrar. Esto da equilibrio y objetividad al informe ante la Gerencia General.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Enfatizar que las recomendaciones de alta prioridad atacan directamente los hallazgos con mayor impacto financiero y reputacional (reversas, duplicidad de pagos, estabilidad). Las de media prioridad refuerzan la protección al asociado y la atención en horas pico, y las de baja prioridad fortalecen la sostenibilidad del servicio en el mediano plazo mediante capacitación y monitoreo continuo.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matriz consolida los hallazgos cualitativos (comentarios abiertos) y cuantitativos (métricas de la encuesta) en un solo panorama de riesgo, permitiendo a la Gerencia General priorizar decisiones basadas en frecuencia e impacto real, no solo en percepción. Los tres problemas de alta prioridad son los que deben incluirse primero en la negociación con EVERTEC.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Cerrar la presentación con un llamado a la acción claro: la Gerencia General debe capitalizar este diagnóstico para negociar mejoras concretas y medibles con EVERTEC, estableciendo métricas de seguimiento (SLA) y una cadencia de revisión trimestral que permita medir el progreso objetivamente en el tiempo, en lugar de depender de la resiliencia del personal de agencia.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image" Target="../media/image-3-2.png"/><Relationship Id="rId3" Type="http://schemas.openxmlformats.org/officeDocument/2006/relationships/image" Target="../media/image-3-3.png"/><Relationship Id="rId4" Type="http://schemas.openxmlformats.org/officeDocument/2006/relationships/slideLayout" Target="../slideLayouts/slideLayout1.xml"/><Relationship Id="rId5"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image" Target="../media/image-5-3.png"/><Relationship Id="rId4" Type="http://schemas.openxmlformats.org/officeDocument/2006/relationships/slideLayout" Target="../slideLayouts/slideLayout1.xml"/><Relationship Id="rId5"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slideLayout" Target="../slideLayouts/slideLayout1.xml"/><Relationship Id="rId4"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slideLayout" Target="../slideLayouts/slideLayout1.xml"/><Relationship Id="rId5"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A1F3B"/>
        </a:solidFill>
      </p:bgPr>
    </p:bg>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0A1F3B"/>
          </a:solidFill>
          <a:ln/>
        </p:spPr>
      </p:sp>
      <p:sp>
        <p:nvSpPr>
          <p:cNvPr id="3" name="Shape 1"/>
          <p:cNvSpPr/>
          <p:nvPr/>
        </p:nvSpPr>
        <p:spPr>
          <a:xfrm>
            <a:off x="0" y="0"/>
            <a:ext cx="12191695" cy="3291840"/>
          </a:xfrm>
          <a:prstGeom prst="rect">
            <a:avLst/>
          </a:prstGeom>
          <a:solidFill>
            <a:srgbClr val="133B6C"/>
          </a:solidFill>
          <a:ln/>
        </p:spPr>
      </p:sp>
      <p:sp>
        <p:nvSpPr>
          <p:cNvPr id="4" name="Shape 2"/>
          <p:cNvSpPr/>
          <p:nvPr/>
        </p:nvSpPr>
        <p:spPr>
          <a:xfrm>
            <a:off x="0" y="3246120"/>
            <a:ext cx="12191695" cy="45720"/>
          </a:xfrm>
          <a:prstGeom prst="rect">
            <a:avLst/>
          </a:prstGeom>
          <a:solidFill>
            <a:srgbClr val="17A9B0"/>
          </a:solidFill>
          <a:ln/>
        </p:spPr>
      </p:sp>
      <p:sp>
        <p:nvSpPr>
          <p:cNvPr id="5" name="Shape 3"/>
          <p:cNvSpPr/>
          <p:nvPr/>
        </p:nvSpPr>
        <p:spPr>
          <a:xfrm>
            <a:off x="9814255" y="-1371600"/>
            <a:ext cx="3840480" cy="3840480"/>
          </a:xfrm>
          <a:prstGeom prst="ellipse">
            <a:avLst/>
          </a:prstGeom>
          <a:ln w="15240">
            <a:solidFill>
              <a:srgbClr val="97D8DB">
                <a:alpha val="15000"/>
              </a:srgbClr>
            </a:solidFill>
            <a:prstDash val="solid"/>
          </a:ln>
        </p:spPr>
      </p:sp>
      <p:sp>
        <p:nvSpPr>
          <p:cNvPr id="6" name="Shape 4"/>
          <p:cNvSpPr/>
          <p:nvPr/>
        </p:nvSpPr>
        <p:spPr>
          <a:xfrm>
            <a:off x="10271455" y="-914400"/>
            <a:ext cx="2926080" cy="2926080"/>
          </a:xfrm>
          <a:prstGeom prst="ellipse">
            <a:avLst/>
          </a:prstGeom>
          <a:ln w="15240">
            <a:solidFill>
              <a:srgbClr val="97D8DB">
                <a:alpha val="15000"/>
              </a:srgbClr>
            </a:solidFill>
            <a:prstDash val="solid"/>
          </a:ln>
        </p:spPr>
      </p:sp>
      <p:sp>
        <p:nvSpPr>
          <p:cNvPr id="7" name="Text 5"/>
          <p:cNvSpPr txBox="1"/>
          <p:nvPr/>
        </p:nvSpPr>
        <p:spPr>
          <a:xfrm>
            <a:off x="411480" y="640080"/>
            <a:ext cx="9144000" cy="274320"/>
          </a:xfrm>
          <a:prstGeom prst="rect">
            <a:avLst/>
          </a:prstGeom>
          <a:noFill/>
          <a:ln/>
        </p:spPr>
        <p:txBody>
          <a:bodyPr wrap="square" lIns="0" tIns="0" rIns="0" bIns="0" rtlCol="0" anchor="ctr"/>
          <a:lstStyle/>
          <a:p>
            <a:pPr algn="l" indent="0" marL="0">
              <a:buNone/>
            </a:pPr>
            <a:r>
              <a:rPr lang="en-US" sz="1300" b="1" spc="250" kern="0" dirty="0">
                <a:solidFill>
                  <a:srgbClr val="97D8DB"/>
                </a:solidFill>
                <a:latin typeface="Calibri" pitchFamily="34" charset="0"/>
                <a:ea typeface="Calibri" pitchFamily="34" charset="-122"/>
                <a:cs typeface="Calibri" pitchFamily="34" charset="-120"/>
              </a:rPr>
              <a:t>COMÉDICA  ·  ANÁLISIS EJECUTIVO</a:t>
            </a:r>
            <a:endParaRPr lang="en-US" sz="1300" dirty="0"/>
          </a:p>
        </p:txBody>
      </p:sp>
      <p:sp>
        <p:nvSpPr>
          <p:cNvPr id="8" name="Text 6"/>
          <p:cNvSpPr txBox="1"/>
          <p:nvPr/>
        </p:nvSpPr>
        <p:spPr>
          <a:xfrm>
            <a:off x="411480" y="1051560"/>
            <a:ext cx="10515600" cy="1188720"/>
          </a:xfrm>
          <a:prstGeom prst="rect">
            <a:avLst/>
          </a:prstGeom>
          <a:noFill/>
          <a:ln/>
        </p:spPr>
        <p:txBody>
          <a:bodyPr wrap="square" lIns="0" tIns="0" rIns="0" bIns="0" rtlCol="0" anchor="t"/>
          <a:lstStyle/>
          <a:p>
            <a:pPr algn="l" indent="0" marL="0">
              <a:lnSpc>
                <a:spcPct val="102000"/>
              </a:lnSpc>
              <a:buNone/>
            </a:pPr>
            <a:r>
              <a:rPr lang="en-US" sz="3400" b="1" dirty="0">
                <a:solidFill>
                  <a:srgbClr val="FFFFFF"/>
                </a:solidFill>
                <a:latin typeface="Calibri" pitchFamily="34" charset="0"/>
                <a:ea typeface="Calibri" pitchFamily="34" charset="-122"/>
                <a:cs typeface="Calibri" pitchFamily="34" charset="-120"/>
              </a:rPr>
              <a:t>Servicio de Procesamiento de Tarjetas de Crédito EVERTEC</a:t>
            </a:r>
            <a:endParaRPr lang="en-US" sz="3400" dirty="0"/>
          </a:p>
        </p:txBody>
      </p:sp>
      <p:sp>
        <p:nvSpPr>
          <p:cNvPr id="9" name="Text 7"/>
          <p:cNvSpPr txBox="1"/>
          <p:nvPr/>
        </p:nvSpPr>
        <p:spPr>
          <a:xfrm>
            <a:off x="411480" y="2331720"/>
            <a:ext cx="10241280" cy="548640"/>
          </a:xfrm>
          <a:prstGeom prst="rect">
            <a:avLst/>
          </a:prstGeom>
          <a:noFill/>
          <a:ln/>
        </p:spPr>
        <p:txBody>
          <a:bodyPr wrap="square" lIns="0" tIns="0" rIns="0" bIns="0" rtlCol="0" anchor="t"/>
          <a:lstStyle/>
          <a:p>
            <a:pPr algn="l" indent="0" marL="0">
              <a:lnSpc>
                <a:spcPct val="115000"/>
              </a:lnSpc>
              <a:buNone/>
            </a:pPr>
            <a:r>
              <a:rPr lang="en-US" sz="1500" dirty="0">
                <a:solidFill>
                  <a:srgbClr val="8CBCE0"/>
                </a:solidFill>
                <a:latin typeface="Calibri" pitchFamily="34" charset="0"/>
                <a:ea typeface="Calibri" pitchFamily="34" charset="-122"/>
                <a:cs typeface="Calibri" pitchFamily="34" charset="-120"/>
              </a:rPr>
              <a:t>Evaluación de Desempeño del Proveedor — Encuesta Interna a Agencias a Nivel Nacional</a:t>
            </a:r>
            <a:endParaRPr lang="en-US" sz="1500" dirty="0"/>
          </a:p>
        </p:txBody>
      </p:sp>
      <p:sp>
        <p:nvSpPr>
          <p:cNvPr id="10" name="Shape 8"/>
          <p:cNvSpPr/>
          <p:nvPr/>
        </p:nvSpPr>
        <p:spPr>
          <a:xfrm>
            <a:off x="411480" y="3794760"/>
            <a:ext cx="2743200" cy="502920"/>
          </a:xfrm>
          <a:prstGeom prst="roundRect">
            <a:avLst>
              <a:gd name="adj" fmla="val 14545"/>
            </a:avLst>
          </a:prstGeom>
          <a:solidFill>
            <a:srgbClr val="FFFFFF"/>
          </a:solidFill>
          <a:ln/>
        </p:spPr>
      </p:sp>
      <p:sp>
        <p:nvSpPr>
          <p:cNvPr id="11" name="Text 9"/>
          <p:cNvSpPr txBox="1"/>
          <p:nvPr/>
        </p:nvSpPr>
        <p:spPr>
          <a:xfrm>
            <a:off x="594360" y="3849624"/>
            <a:ext cx="2377440" cy="182880"/>
          </a:xfrm>
          <a:prstGeom prst="rect">
            <a:avLst/>
          </a:prstGeom>
          <a:noFill/>
          <a:ln/>
        </p:spPr>
        <p:txBody>
          <a:bodyPr wrap="square" lIns="0" tIns="0" rIns="0" bIns="0" rtlCol="0" anchor="ctr"/>
          <a:lstStyle/>
          <a:p>
            <a:pPr algn="l" indent="0" marL="0">
              <a:buNone/>
            </a:pPr>
            <a:r>
              <a:rPr lang="en-US" sz="800" b="1" spc="60" kern="0" dirty="0">
                <a:solidFill>
                  <a:srgbClr val="5B6B82"/>
                </a:solidFill>
                <a:latin typeface="Calibri" pitchFamily="34" charset="0"/>
                <a:ea typeface="Calibri" pitchFamily="34" charset="-122"/>
                <a:cs typeface="Calibri" pitchFamily="34" charset="-120"/>
              </a:rPr>
              <a:t>PREPARADO PARA</a:t>
            </a:r>
            <a:endParaRPr lang="en-US" sz="800" dirty="0"/>
          </a:p>
        </p:txBody>
      </p:sp>
      <p:sp>
        <p:nvSpPr>
          <p:cNvPr id="12" name="Text 10"/>
          <p:cNvSpPr txBox="1"/>
          <p:nvPr/>
        </p:nvSpPr>
        <p:spPr>
          <a:xfrm>
            <a:off x="594360" y="4014216"/>
            <a:ext cx="2377440" cy="237744"/>
          </a:xfrm>
          <a:prstGeom prst="rect">
            <a:avLst/>
          </a:prstGeom>
          <a:noFill/>
          <a:ln/>
        </p:spPr>
        <p:txBody>
          <a:bodyPr wrap="square" lIns="0" tIns="0" rIns="0" bIns="0" rtlCol="0" anchor="ctr"/>
          <a:lstStyle/>
          <a:p>
            <a:pPr algn="l" indent="0" marL="0">
              <a:buNone/>
            </a:pPr>
            <a:r>
              <a:rPr lang="en-US" sz="1300" b="1" dirty="0">
                <a:solidFill>
                  <a:srgbClr val="17223A"/>
                </a:solidFill>
                <a:latin typeface="Calibri" pitchFamily="34" charset="0"/>
                <a:ea typeface="Calibri" pitchFamily="34" charset="-122"/>
                <a:cs typeface="Calibri" pitchFamily="34" charset="-120"/>
              </a:rPr>
              <a:t>Gerencia General</a:t>
            </a:r>
            <a:endParaRPr lang="en-US" sz="1300" dirty="0"/>
          </a:p>
        </p:txBody>
      </p:sp>
      <p:sp>
        <p:nvSpPr>
          <p:cNvPr id="13" name="Shape 11"/>
          <p:cNvSpPr/>
          <p:nvPr/>
        </p:nvSpPr>
        <p:spPr>
          <a:xfrm>
            <a:off x="3337560" y="3794760"/>
            <a:ext cx="3108960" cy="502920"/>
          </a:xfrm>
          <a:prstGeom prst="roundRect">
            <a:avLst>
              <a:gd name="adj" fmla="val 14545"/>
            </a:avLst>
          </a:prstGeom>
          <a:solidFill>
            <a:srgbClr val="FFFFFF"/>
          </a:solidFill>
          <a:ln/>
        </p:spPr>
      </p:sp>
      <p:sp>
        <p:nvSpPr>
          <p:cNvPr id="14" name="Text 12"/>
          <p:cNvSpPr txBox="1"/>
          <p:nvPr/>
        </p:nvSpPr>
        <p:spPr>
          <a:xfrm>
            <a:off x="3520440" y="3849624"/>
            <a:ext cx="2743200" cy="182880"/>
          </a:xfrm>
          <a:prstGeom prst="rect">
            <a:avLst/>
          </a:prstGeom>
          <a:noFill/>
          <a:ln/>
        </p:spPr>
        <p:txBody>
          <a:bodyPr wrap="square" lIns="0" tIns="0" rIns="0" bIns="0" rtlCol="0" anchor="ctr"/>
          <a:lstStyle/>
          <a:p>
            <a:pPr algn="l" indent="0" marL="0">
              <a:buNone/>
            </a:pPr>
            <a:r>
              <a:rPr lang="en-US" sz="800" b="1" spc="60" kern="0" dirty="0">
                <a:solidFill>
                  <a:srgbClr val="5B6B82"/>
                </a:solidFill>
                <a:latin typeface="Calibri" pitchFamily="34" charset="0"/>
                <a:ea typeface="Calibri" pitchFamily="34" charset="-122"/>
                <a:cs typeface="Calibri" pitchFamily="34" charset="-120"/>
              </a:rPr>
              <a:t>MUESTRA ANALIZADA</a:t>
            </a:r>
            <a:endParaRPr lang="en-US" sz="800" dirty="0"/>
          </a:p>
        </p:txBody>
      </p:sp>
      <p:sp>
        <p:nvSpPr>
          <p:cNvPr id="15" name="Text 13"/>
          <p:cNvSpPr txBox="1"/>
          <p:nvPr/>
        </p:nvSpPr>
        <p:spPr>
          <a:xfrm>
            <a:off x="3520440" y="4014216"/>
            <a:ext cx="2743200" cy="237744"/>
          </a:xfrm>
          <a:prstGeom prst="rect">
            <a:avLst/>
          </a:prstGeom>
          <a:noFill/>
          <a:ln/>
        </p:spPr>
        <p:txBody>
          <a:bodyPr wrap="square" lIns="0" tIns="0" rIns="0" bIns="0" rtlCol="0" anchor="ctr"/>
          <a:lstStyle/>
          <a:p>
            <a:pPr algn="l" indent="0" marL="0">
              <a:buNone/>
            </a:pPr>
            <a:r>
              <a:rPr lang="en-US" sz="1300" b="1" dirty="0">
                <a:solidFill>
                  <a:srgbClr val="17223A"/>
                </a:solidFill>
                <a:latin typeface="Calibri" pitchFamily="34" charset="0"/>
                <a:ea typeface="Calibri" pitchFamily="34" charset="-122"/>
                <a:cs typeface="Calibri" pitchFamily="34" charset="-120"/>
              </a:rPr>
              <a:t>17 agencias a nivel nacional</a:t>
            </a:r>
            <a:endParaRPr lang="en-US" sz="1300" dirty="0"/>
          </a:p>
        </p:txBody>
      </p:sp>
      <p:sp>
        <p:nvSpPr>
          <p:cNvPr id="16" name="Text 14"/>
          <p:cNvSpPr txBox="1"/>
          <p:nvPr/>
        </p:nvSpPr>
        <p:spPr>
          <a:xfrm>
            <a:off x="411480" y="6355080"/>
            <a:ext cx="5486400" cy="274320"/>
          </a:xfrm>
          <a:prstGeom prst="rect">
            <a:avLst/>
          </a:prstGeom>
          <a:noFill/>
          <a:ln/>
        </p:spPr>
        <p:txBody>
          <a:bodyPr wrap="square" lIns="0" tIns="0" rIns="0" bIns="0" rtlCol="0" anchor="ctr"/>
          <a:lstStyle/>
          <a:p>
            <a:pPr algn="l" indent="0" marL="0">
              <a:buNone/>
            </a:pPr>
            <a:r>
              <a:rPr lang="en-US" sz="1050" dirty="0">
                <a:solidFill>
                  <a:srgbClr val="8CBCE0"/>
                </a:solidFill>
                <a:latin typeface="Calibri" pitchFamily="34" charset="0"/>
                <a:ea typeface="Calibri" pitchFamily="34" charset="-122"/>
                <a:cs typeface="Calibri" pitchFamily="34" charset="-120"/>
              </a:rPr>
              <a:t>Septiembre 2026</a:t>
            </a:r>
            <a:endParaRPr lang="en-US" sz="10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3B6C"/>
          </a:solidFill>
          <a:ln/>
        </p:spPr>
      </p:sp>
      <p:sp>
        <p:nvSpPr>
          <p:cNvPr id="3" name="Shape 1"/>
          <p:cNvSpPr/>
          <p:nvPr/>
        </p:nvSpPr>
        <p:spPr>
          <a:xfrm>
            <a:off x="0" y="0"/>
            <a:ext cx="4876678" cy="868680"/>
          </a:xfrm>
          <a:prstGeom prst="rect">
            <a:avLst/>
          </a:prstGeom>
          <a:solidFill>
            <a:srgbClr val="0A1F3B"/>
          </a:solidFill>
          <a:ln/>
        </p:spPr>
      </p:sp>
      <p:sp>
        <p:nvSpPr>
          <p:cNvPr id="4" name="Shape 2"/>
          <p:cNvSpPr/>
          <p:nvPr/>
        </p:nvSpPr>
        <p:spPr>
          <a:xfrm>
            <a:off x="10241024" y="0"/>
            <a:ext cx="1950671" cy="868680"/>
          </a:xfrm>
          <a:prstGeom prst="rect">
            <a:avLst/>
          </a:prstGeom>
          <a:solidFill>
            <a:srgbClr val="106B78"/>
          </a:solidFill>
          <a:ln/>
        </p:spPr>
      </p:sp>
      <p:sp>
        <p:nvSpPr>
          <p:cNvPr id="5" name="Shape 3"/>
          <p:cNvSpPr/>
          <p:nvPr/>
        </p:nvSpPr>
        <p:spPr>
          <a:xfrm>
            <a:off x="0" y="841248"/>
            <a:ext cx="12191695" cy="27432"/>
          </a:xfrm>
          <a:prstGeom prst="rect">
            <a:avLst/>
          </a:prstGeom>
          <a:solidFill>
            <a:srgbClr val="17A9B0"/>
          </a:solidFill>
          <a:ln/>
        </p:spPr>
      </p:sp>
      <p:sp>
        <p:nvSpPr>
          <p:cNvPr id="6" name="Text 4"/>
          <p:cNvSpPr txBox="1"/>
          <p:nvPr/>
        </p:nvSpPr>
        <p:spPr>
          <a:xfrm>
            <a:off x="411480" y="128016"/>
            <a:ext cx="9144000" cy="182880"/>
          </a:xfrm>
          <a:prstGeom prst="rect">
            <a:avLst/>
          </a:prstGeom>
          <a:noFill/>
          <a:ln/>
        </p:spPr>
        <p:txBody>
          <a:bodyPr wrap="square" lIns="0" tIns="0" rIns="0" bIns="0" rtlCol="0" anchor="ctr"/>
          <a:lstStyle/>
          <a:p>
            <a:pPr algn="l" indent="0" marL="0">
              <a:buNone/>
            </a:pPr>
            <a:r>
              <a:rPr lang="en-US" sz="950" b="1" spc="160" kern="0" dirty="0">
                <a:solidFill>
                  <a:srgbClr val="97D8DB"/>
                </a:solidFill>
                <a:latin typeface="Calibri" pitchFamily="34" charset="0"/>
                <a:ea typeface="Calibri" pitchFamily="34" charset="-122"/>
                <a:cs typeface="Calibri" pitchFamily="34" charset="-120"/>
              </a:rPr>
              <a:t>RESUMEN EJECUTIVO</a:t>
            </a:r>
            <a:endParaRPr lang="en-US" sz="950" dirty="0"/>
          </a:p>
        </p:txBody>
      </p:sp>
      <p:sp>
        <p:nvSpPr>
          <p:cNvPr id="7" name="Text 5"/>
          <p:cNvSpPr txBox="1"/>
          <p:nvPr/>
        </p:nvSpPr>
        <p:spPr>
          <a:xfrm>
            <a:off x="411480" y="320040"/>
            <a:ext cx="9875520" cy="475488"/>
          </a:xfrm>
          <a:prstGeom prst="rect">
            <a:avLst/>
          </a:prstGeom>
          <a:noFill/>
          <a:ln/>
        </p:spPr>
        <p:txBody>
          <a:bodyPr wrap="square" lIns="0" tIns="0" rIns="0" bIns="0" rtlCol="0" anchor="t"/>
          <a:lstStyle/>
          <a:p>
            <a:pPr algn="l" indent="0" marL="0">
              <a:lnSpc>
                <a:spcPct val="98000"/>
              </a:lnSpc>
              <a:buNone/>
            </a:pPr>
            <a:r>
              <a:rPr lang="en-US" sz="2200" b="1" dirty="0">
                <a:solidFill>
                  <a:srgbClr val="FFFFFF"/>
                </a:solidFill>
                <a:latin typeface="Calibri" pitchFamily="34" charset="0"/>
                <a:ea typeface="Calibri" pitchFamily="34" charset="-122"/>
                <a:cs typeface="Calibri" pitchFamily="34" charset="-120"/>
              </a:rPr>
              <a:t>Resumen Ejecutivo y Alcance del Estudio</a:t>
            </a:r>
            <a:endParaRPr lang="en-US" sz="2200" dirty="0"/>
          </a:p>
        </p:txBody>
      </p:sp>
      <p:sp>
        <p:nvSpPr>
          <p:cNvPr id="8" name="Shape 6"/>
          <p:cNvSpPr/>
          <p:nvPr/>
        </p:nvSpPr>
        <p:spPr>
          <a:xfrm>
            <a:off x="11323015" y="219456"/>
            <a:ext cx="457200" cy="457200"/>
          </a:xfrm>
          <a:prstGeom prst="ellipse">
            <a:avLst/>
          </a:prstGeom>
          <a:solidFill>
            <a:srgbClr val="17A9B0"/>
          </a:solidFill>
          <a:ln/>
        </p:spPr>
      </p:sp>
      <p:sp>
        <p:nvSpPr>
          <p:cNvPr id="9" name="Text 7"/>
          <p:cNvSpPr txBox="1"/>
          <p:nvPr/>
        </p:nvSpPr>
        <p:spPr>
          <a:xfrm>
            <a:off x="11323015" y="2194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10" name="Shape 8"/>
          <p:cNvSpPr/>
          <p:nvPr/>
        </p:nvSpPr>
        <p:spPr>
          <a:xfrm>
            <a:off x="0" y="6565392"/>
            <a:ext cx="12191695" cy="292608"/>
          </a:xfrm>
          <a:prstGeom prst="rect">
            <a:avLst/>
          </a:prstGeom>
          <a:solidFill>
            <a:srgbClr val="F2F5F9"/>
          </a:solidFill>
          <a:ln w="9525">
            <a:solidFill>
              <a:srgbClr val="DDE3EC"/>
            </a:solidFill>
            <a:prstDash val="solid"/>
          </a:ln>
        </p:spPr>
      </p:sp>
      <p:sp>
        <p:nvSpPr>
          <p:cNvPr id="11" name="Text 9"/>
          <p:cNvSpPr txBox="1"/>
          <p:nvPr/>
        </p:nvSpPr>
        <p:spPr>
          <a:xfrm>
            <a:off x="411480" y="6565392"/>
            <a:ext cx="4572000" cy="292608"/>
          </a:xfrm>
          <a:prstGeom prst="rect">
            <a:avLst/>
          </a:prstGeom>
          <a:noFill/>
          <a:ln/>
        </p:spPr>
        <p:txBody>
          <a:bodyPr wrap="square" lIns="0" tIns="0" rIns="0" bIns="0" rtlCol="0" anchor="ctr"/>
          <a:lstStyle/>
          <a:p>
            <a:pPr algn="l" indent="0" marL="0">
              <a:buNone/>
            </a:pPr>
            <a:r>
              <a:rPr lang="en-US" sz="850" b="1" dirty="0">
                <a:solidFill>
                  <a:srgbClr val="5B6B82"/>
                </a:solidFill>
                <a:latin typeface="Calibri" pitchFamily="34" charset="0"/>
                <a:ea typeface="Calibri" pitchFamily="34" charset="-122"/>
                <a:cs typeface="Calibri" pitchFamily="34" charset="-120"/>
              </a:rPr>
              <a:t>CONFIDENCIAL · Gerencia General</a:t>
            </a:r>
            <a:endParaRPr lang="en-US" sz="850" dirty="0"/>
          </a:p>
        </p:txBody>
      </p:sp>
      <p:sp>
        <p:nvSpPr>
          <p:cNvPr id="12" name="Text 10"/>
          <p:cNvSpPr txBox="1"/>
          <p:nvPr/>
        </p:nvSpPr>
        <p:spPr>
          <a:xfrm>
            <a:off x="7208215" y="6565392"/>
            <a:ext cx="4572000" cy="292608"/>
          </a:xfrm>
          <a:prstGeom prst="rect">
            <a:avLst/>
          </a:prstGeom>
          <a:noFill/>
          <a:ln/>
        </p:spPr>
        <p:txBody>
          <a:bodyPr wrap="square" lIns="0" tIns="0" rIns="0" bIns="0" rtlCol="0" anchor="ctr"/>
          <a:lstStyle/>
          <a:p>
            <a:pPr algn="r" indent="0" marL="0">
              <a:buNone/>
            </a:pPr>
            <a:r>
              <a:rPr lang="en-US" sz="850" dirty="0">
                <a:solidFill>
                  <a:srgbClr val="5B6B82"/>
                </a:solidFill>
                <a:latin typeface="Calibri" pitchFamily="34" charset="0"/>
                <a:ea typeface="Calibri" pitchFamily="34" charset="-122"/>
                <a:cs typeface="Calibri" pitchFamily="34" charset="-120"/>
              </a:rPr>
              <a:t>Análisis de Servicio EVERTEC · Encuesta a Agencias</a:t>
            </a:r>
            <a:endParaRPr lang="en-US" sz="850" dirty="0"/>
          </a:p>
        </p:txBody>
      </p:sp>
      <p:sp>
        <p:nvSpPr>
          <p:cNvPr id="13" name="Text 11"/>
          <p:cNvSpPr txBox="1"/>
          <p:nvPr/>
        </p:nvSpPr>
        <p:spPr>
          <a:xfrm>
            <a:off x="411480" y="1051560"/>
            <a:ext cx="10058400" cy="164592"/>
          </a:xfrm>
          <a:prstGeom prst="rect">
            <a:avLst/>
          </a:prstGeom>
          <a:noFill/>
          <a:ln/>
        </p:spPr>
        <p:txBody>
          <a:bodyPr wrap="square" lIns="0" tIns="0" rIns="0" bIns="0" rtlCol="0" anchor="ctr"/>
          <a:lstStyle/>
          <a:p>
            <a:pPr algn="l" indent="0" marL="0">
              <a:buNone/>
            </a:pPr>
            <a:r>
              <a:rPr lang="en-US" sz="800" i="1" dirty="0">
                <a:solidFill>
                  <a:srgbClr val="5B6B82"/>
                </a:solidFill>
                <a:latin typeface="Calibri" pitchFamily="34" charset="0"/>
                <a:ea typeface="Calibri" pitchFamily="34" charset="-122"/>
                <a:cs typeface="Calibri" pitchFamily="34" charset="-120"/>
              </a:rPr>
              <a:t>Layout: Dos columnas — síntesis ejecutiva y ficha técnica del alcance</a:t>
            </a:r>
            <a:endParaRPr lang="en-US" sz="800" dirty="0"/>
          </a:p>
        </p:txBody>
      </p:sp>
      <p:sp>
        <p:nvSpPr>
          <p:cNvPr id="14" name="Shape 12"/>
          <p:cNvSpPr/>
          <p:nvPr/>
        </p:nvSpPr>
        <p:spPr>
          <a:xfrm>
            <a:off x="411480" y="1344168"/>
            <a:ext cx="73152" cy="73152"/>
          </a:xfrm>
          <a:prstGeom prst="ellipse">
            <a:avLst/>
          </a:prstGeom>
          <a:solidFill>
            <a:srgbClr val="17A9B0"/>
          </a:solidFill>
          <a:ln/>
        </p:spPr>
      </p:sp>
      <p:sp>
        <p:nvSpPr>
          <p:cNvPr id="15" name="Text 13"/>
          <p:cNvSpPr txBox="1"/>
          <p:nvPr/>
        </p:nvSpPr>
        <p:spPr>
          <a:xfrm>
            <a:off x="612648" y="1243584"/>
            <a:ext cx="6446520" cy="475488"/>
          </a:xfrm>
          <a:prstGeom prst="rect">
            <a:avLst/>
          </a:prstGeom>
          <a:noFill/>
          <a:ln/>
        </p:spPr>
        <p:txBody>
          <a:bodyPr wrap="square" lIns="0" tIns="0" rIns="0" bIns="0" rtlCol="0" anchor="t"/>
          <a:lstStyle/>
          <a:p>
            <a:pPr algn="l" indent="0" marL="0">
              <a:lnSpc>
                <a:spcPct val="120000"/>
              </a:lnSpc>
              <a:buNone/>
            </a:pPr>
            <a:r>
              <a:rPr lang="en-US" sz="1250" dirty="0">
                <a:solidFill>
                  <a:srgbClr val="243044"/>
                </a:solidFill>
                <a:latin typeface="Calibri" pitchFamily="34" charset="0"/>
                <a:ea typeface="Calibri" pitchFamily="34" charset="-122"/>
                <a:cs typeface="Calibri" pitchFamily="34" charset="-120"/>
              </a:rPr>
              <a:t>Se aplicó una encuesta interna a 17 agencias a nivel nacional para evaluar el servicio de procesamiento de tarjetas de crédito administrado por EVERTEC.</a:t>
            </a:r>
            <a:endParaRPr lang="en-US" sz="1250" dirty="0"/>
          </a:p>
        </p:txBody>
      </p:sp>
      <p:sp>
        <p:nvSpPr>
          <p:cNvPr id="16" name="Shape 14"/>
          <p:cNvSpPr/>
          <p:nvPr/>
        </p:nvSpPr>
        <p:spPr>
          <a:xfrm>
            <a:off x="411480" y="1965960"/>
            <a:ext cx="73152" cy="73152"/>
          </a:xfrm>
          <a:prstGeom prst="ellipse">
            <a:avLst/>
          </a:prstGeom>
          <a:solidFill>
            <a:srgbClr val="17A9B0"/>
          </a:solidFill>
          <a:ln/>
        </p:spPr>
      </p:sp>
      <p:sp>
        <p:nvSpPr>
          <p:cNvPr id="17" name="Text 15"/>
          <p:cNvSpPr txBox="1"/>
          <p:nvPr/>
        </p:nvSpPr>
        <p:spPr>
          <a:xfrm>
            <a:off x="612648" y="1865376"/>
            <a:ext cx="6446520" cy="676656"/>
          </a:xfrm>
          <a:prstGeom prst="rect">
            <a:avLst/>
          </a:prstGeom>
          <a:noFill/>
          <a:ln/>
        </p:spPr>
        <p:txBody>
          <a:bodyPr wrap="square" lIns="0" tIns="0" rIns="0" bIns="0" rtlCol="0" anchor="t"/>
          <a:lstStyle/>
          <a:p>
            <a:pPr algn="l" indent="0" marL="0">
              <a:lnSpc>
                <a:spcPct val="120000"/>
              </a:lnSpc>
              <a:buNone/>
            </a:pPr>
            <a:r>
              <a:rPr lang="en-US" sz="1250" dirty="0">
                <a:solidFill>
                  <a:srgbClr val="243044"/>
                </a:solidFill>
                <a:latin typeface="Calibri" pitchFamily="34" charset="0"/>
                <a:ea typeface="Calibri" pitchFamily="34" charset="-122"/>
                <a:cs typeface="Calibri" pitchFamily="34" charset="-120"/>
              </a:rPr>
              <a:t>Los resultados reflejan una percepción mixta: el soporte técnico es mayormente oportuno, pero persisten fallas operativas frecuentes que generan reclamos de asociados.</a:t>
            </a:r>
            <a:endParaRPr lang="en-US" sz="1250" dirty="0"/>
          </a:p>
        </p:txBody>
      </p:sp>
      <p:sp>
        <p:nvSpPr>
          <p:cNvPr id="18" name="Shape 16"/>
          <p:cNvSpPr/>
          <p:nvPr/>
        </p:nvSpPr>
        <p:spPr>
          <a:xfrm>
            <a:off x="411480" y="2788920"/>
            <a:ext cx="73152" cy="73152"/>
          </a:xfrm>
          <a:prstGeom prst="ellipse">
            <a:avLst/>
          </a:prstGeom>
          <a:solidFill>
            <a:srgbClr val="17A9B0"/>
          </a:solidFill>
          <a:ln/>
        </p:spPr>
      </p:sp>
      <p:sp>
        <p:nvSpPr>
          <p:cNvPr id="19" name="Text 17"/>
          <p:cNvSpPr txBox="1"/>
          <p:nvPr/>
        </p:nvSpPr>
        <p:spPr>
          <a:xfrm>
            <a:off x="612648" y="2688336"/>
            <a:ext cx="6446520" cy="475488"/>
          </a:xfrm>
          <a:prstGeom prst="rect">
            <a:avLst/>
          </a:prstGeom>
          <a:noFill/>
          <a:ln/>
        </p:spPr>
        <p:txBody>
          <a:bodyPr wrap="square" lIns="0" tIns="0" rIns="0" bIns="0" rtlCol="0" anchor="t"/>
          <a:lstStyle/>
          <a:p>
            <a:pPr algn="l" indent="0" marL="0">
              <a:lnSpc>
                <a:spcPct val="120000"/>
              </a:lnSpc>
              <a:buNone/>
            </a:pPr>
            <a:r>
              <a:rPr lang="en-US" sz="1250" dirty="0">
                <a:solidFill>
                  <a:srgbClr val="243044"/>
                </a:solidFill>
                <a:latin typeface="Calibri" pitchFamily="34" charset="0"/>
                <a:ea typeface="Calibri" pitchFamily="34" charset="-122"/>
                <a:cs typeface="Calibri" pitchFamily="34" charset="-120"/>
              </a:rPr>
              <a:t>La calificación general promedio del servicio es de 3.71/5.0, un desempeño aceptable con brechas claras de mejora.</a:t>
            </a:r>
            <a:endParaRPr lang="en-US" sz="1250" dirty="0"/>
          </a:p>
        </p:txBody>
      </p:sp>
      <p:sp>
        <p:nvSpPr>
          <p:cNvPr id="20" name="Shape 18"/>
          <p:cNvSpPr/>
          <p:nvPr/>
        </p:nvSpPr>
        <p:spPr>
          <a:xfrm>
            <a:off x="411480" y="3410712"/>
            <a:ext cx="73152" cy="73152"/>
          </a:xfrm>
          <a:prstGeom prst="ellipse">
            <a:avLst/>
          </a:prstGeom>
          <a:solidFill>
            <a:srgbClr val="17A9B0"/>
          </a:solidFill>
          <a:ln/>
        </p:spPr>
      </p:sp>
      <p:sp>
        <p:nvSpPr>
          <p:cNvPr id="21" name="Text 19"/>
          <p:cNvSpPr txBox="1"/>
          <p:nvPr/>
        </p:nvSpPr>
        <p:spPr>
          <a:xfrm>
            <a:off x="612648" y="3310128"/>
            <a:ext cx="6446520" cy="676656"/>
          </a:xfrm>
          <a:prstGeom prst="rect">
            <a:avLst/>
          </a:prstGeom>
          <a:noFill/>
          <a:ln/>
        </p:spPr>
        <p:txBody>
          <a:bodyPr wrap="square" lIns="0" tIns="0" rIns="0" bIns="0" rtlCol="0" anchor="t"/>
          <a:lstStyle/>
          <a:p>
            <a:pPr algn="l" indent="0" marL="0">
              <a:lnSpc>
                <a:spcPct val="120000"/>
              </a:lnSpc>
              <a:buNone/>
            </a:pPr>
            <a:r>
              <a:rPr lang="en-US" sz="1250" dirty="0">
                <a:solidFill>
                  <a:srgbClr val="243044"/>
                </a:solidFill>
                <a:latin typeface="Calibri" pitchFamily="34" charset="0"/>
                <a:ea typeface="Calibri" pitchFamily="34" charset="-122"/>
                <a:cs typeface="Calibri" pitchFamily="34" charset="-120"/>
              </a:rPr>
              <a:t>Se identificaron problemas críticos recurrentes en reversas, duplicidad de pagos y gestión de fraude que requieren atención prioritaria de la Gerencia General.</a:t>
            </a:r>
            <a:endParaRPr lang="en-US" sz="1250" dirty="0"/>
          </a:p>
        </p:txBody>
      </p:sp>
      <p:sp>
        <p:nvSpPr>
          <p:cNvPr id="22" name="Shape 20"/>
          <p:cNvSpPr/>
          <p:nvPr/>
        </p:nvSpPr>
        <p:spPr>
          <a:xfrm>
            <a:off x="7406640" y="1289304"/>
            <a:ext cx="4373575" cy="5166360"/>
          </a:xfrm>
          <a:prstGeom prst="roundRect">
            <a:avLst>
              <a:gd name="adj" fmla="val 1673"/>
            </a:avLst>
          </a:prstGeom>
          <a:solidFill>
            <a:srgbClr val="FFFFFF"/>
          </a:solidFill>
          <a:ln/>
          <a:effectLst>
            <a:outerShdw sx="100000" sy="100000" kx="0" ky="0" algn="bl" rotWithShape="0" blurRad="88900" dist="25400" dir="5400000">
              <a:srgbClr val="0F2F4E">
                <a:alpha val="16000"/>
              </a:srgbClr>
            </a:outerShdw>
          </a:effectLst>
        </p:spPr>
      </p:sp>
      <p:sp>
        <p:nvSpPr>
          <p:cNvPr id="23" name="Shape 21"/>
          <p:cNvSpPr/>
          <p:nvPr/>
        </p:nvSpPr>
        <p:spPr>
          <a:xfrm>
            <a:off x="7406640" y="1289304"/>
            <a:ext cx="4373575" cy="50292"/>
          </a:xfrm>
          <a:prstGeom prst="rect">
            <a:avLst/>
          </a:prstGeom>
          <a:solidFill>
            <a:srgbClr val="17A9B0"/>
          </a:solidFill>
          <a:ln/>
        </p:spPr>
      </p:sp>
      <p:pic>
        <p:nvPicPr>
          <p:cNvPr id="24" name="Image 0" descr="/tmp/claude-0/-home-user-riesgo/579fb8c8-70e5-51d5-80ec-6ed51cc2e8df/scratchpad/pptx-build/icons/mappin_1D63A1.png">    </p:cNvPr>
          <p:cNvPicPr>
            <a:picLocks noChangeAspect="1"/>
          </p:cNvPicPr>
          <p:nvPr/>
        </p:nvPicPr>
        <p:blipFill>
          <a:blip r:embed="rId1"/>
          <a:stretch>
            <a:fillRect/>
          </a:stretch>
        </p:blipFill>
        <p:spPr>
          <a:xfrm>
            <a:off x="7607808" y="1490472"/>
            <a:ext cx="274320" cy="274320"/>
          </a:xfrm>
          <a:prstGeom prst="rect">
            <a:avLst/>
          </a:prstGeom>
        </p:spPr>
      </p:pic>
      <p:sp>
        <p:nvSpPr>
          <p:cNvPr id="25" name="Text 22"/>
          <p:cNvSpPr txBox="1"/>
          <p:nvPr/>
        </p:nvSpPr>
        <p:spPr>
          <a:xfrm>
            <a:off x="7955280" y="1472184"/>
            <a:ext cx="3642055" cy="292608"/>
          </a:xfrm>
          <a:prstGeom prst="rect">
            <a:avLst/>
          </a:prstGeom>
          <a:noFill/>
          <a:ln/>
        </p:spPr>
        <p:txBody>
          <a:bodyPr wrap="square" lIns="0" tIns="0" rIns="0" bIns="0" rtlCol="0" anchor="ctr"/>
          <a:lstStyle/>
          <a:p>
            <a:pPr algn="l" indent="0" marL="0">
              <a:buNone/>
            </a:pPr>
            <a:r>
              <a:rPr lang="en-US" sz="1350" b="1" dirty="0">
                <a:solidFill>
                  <a:srgbClr val="17223A"/>
                </a:solidFill>
                <a:latin typeface="Calibri" pitchFamily="34" charset="0"/>
                <a:ea typeface="Calibri" pitchFamily="34" charset="-122"/>
                <a:cs typeface="Calibri" pitchFamily="34" charset="-120"/>
              </a:rPr>
              <a:t>Alcance del Estudio</a:t>
            </a:r>
            <a:endParaRPr lang="en-US" sz="1350" dirty="0"/>
          </a:p>
        </p:txBody>
      </p:sp>
      <p:sp>
        <p:nvSpPr>
          <p:cNvPr id="26" name="Text 23"/>
          <p:cNvSpPr txBox="1"/>
          <p:nvPr/>
        </p:nvSpPr>
        <p:spPr>
          <a:xfrm>
            <a:off x="7607808" y="1911096"/>
            <a:ext cx="1280160" cy="457200"/>
          </a:xfrm>
          <a:prstGeom prst="rect">
            <a:avLst/>
          </a:prstGeom>
          <a:noFill/>
          <a:ln/>
        </p:spPr>
        <p:txBody>
          <a:bodyPr wrap="square" lIns="0" tIns="0" rIns="0" bIns="0" rtlCol="0" anchor="ctr"/>
          <a:lstStyle/>
          <a:p>
            <a:pPr algn="l" indent="0" marL="0">
              <a:buNone/>
            </a:pPr>
            <a:r>
              <a:rPr lang="en-US" sz="3200" b="1" dirty="0">
                <a:solidFill>
                  <a:srgbClr val="17A9B0"/>
                </a:solidFill>
                <a:latin typeface="Calibri" pitchFamily="34" charset="0"/>
                <a:ea typeface="Calibri" pitchFamily="34" charset="-122"/>
                <a:cs typeface="Calibri" pitchFamily="34" charset="-120"/>
              </a:rPr>
              <a:t>17</a:t>
            </a:r>
            <a:endParaRPr lang="en-US" sz="3200" dirty="0"/>
          </a:p>
        </p:txBody>
      </p:sp>
      <p:sp>
        <p:nvSpPr>
          <p:cNvPr id="27" name="Text 24"/>
          <p:cNvSpPr txBox="1"/>
          <p:nvPr/>
        </p:nvSpPr>
        <p:spPr>
          <a:xfrm>
            <a:off x="7607808" y="2350008"/>
            <a:ext cx="4007815" cy="219456"/>
          </a:xfrm>
          <a:prstGeom prst="rect">
            <a:avLst/>
          </a:prstGeom>
          <a:noFill/>
          <a:ln/>
        </p:spPr>
        <p:txBody>
          <a:bodyPr wrap="square" lIns="0" tIns="0" rIns="0" bIns="0" rtlCol="0" anchor="ctr"/>
          <a:lstStyle/>
          <a:p>
            <a:pPr algn="l" indent="0" marL="0">
              <a:buNone/>
            </a:pPr>
            <a:r>
              <a:rPr lang="en-US" sz="1050" dirty="0">
                <a:solidFill>
                  <a:srgbClr val="5B6B82"/>
                </a:solidFill>
                <a:latin typeface="Calibri" pitchFamily="34" charset="0"/>
                <a:ea typeface="Calibri" pitchFamily="34" charset="-122"/>
                <a:cs typeface="Calibri" pitchFamily="34" charset="-120"/>
              </a:rPr>
              <a:t>registros analizados</a:t>
            </a:r>
            <a:endParaRPr lang="en-US" sz="1050" dirty="0"/>
          </a:p>
        </p:txBody>
      </p:sp>
      <p:sp>
        <p:nvSpPr>
          <p:cNvPr id="28" name="Shape 25"/>
          <p:cNvSpPr/>
          <p:nvPr/>
        </p:nvSpPr>
        <p:spPr>
          <a:xfrm>
            <a:off x="7607808" y="2642616"/>
            <a:ext cx="3971239" cy="10973"/>
          </a:xfrm>
          <a:prstGeom prst="rect">
            <a:avLst/>
          </a:prstGeom>
          <a:solidFill>
            <a:srgbClr val="EDF0F5"/>
          </a:solidFill>
          <a:ln/>
        </p:spPr>
      </p:sp>
      <p:sp>
        <p:nvSpPr>
          <p:cNvPr id="29" name="Text 26"/>
          <p:cNvSpPr txBox="1"/>
          <p:nvPr/>
        </p:nvSpPr>
        <p:spPr>
          <a:xfrm>
            <a:off x="7607808" y="2752344"/>
            <a:ext cx="3971239" cy="164592"/>
          </a:xfrm>
          <a:prstGeom prst="rect">
            <a:avLst/>
          </a:prstGeom>
          <a:noFill/>
          <a:ln/>
        </p:spPr>
        <p:txBody>
          <a:bodyPr wrap="square" lIns="0" tIns="0" rIns="0" bIns="0" rtlCol="0" anchor="ctr"/>
          <a:lstStyle/>
          <a:p>
            <a:pPr algn="l" indent="0" marL="0">
              <a:buNone/>
            </a:pPr>
            <a:r>
              <a:rPr lang="en-US" sz="850" b="1" spc="50" kern="0" dirty="0">
                <a:solidFill>
                  <a:srgbClr val="5B6B82"/>
                </a:solidFill>
                <a:latin typeface="Calibri" pitchFamily="34" charset="0"/>
                <a:ea typeface="Calibri" pitchFamily="34" charset="-122"/>
                <a:cs typeface="Calibri" pitchFamily="34" charset="-120"/>
              </a:rPr>
              <a:t>AGENCIAS PARTICIPANTES</a:t>
            </a:r>
            <a:endParaRPr lang="en-US" sz="850" dirty="0"/>
          </a:p>
        </p:txBody>
      </p:sp>
      <p:sp>
        <p:nvSpPr>
          <p:cNvPr id="30" name="Text 27"/>
          <p:cNvSpPr txBox="1"/>
          <p:nvPr/>
        </p:nvSpPr>
        <p:spPr>
          <a:xfrm>
            <a:off x="7607808" y="2971800"/>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San Miguel</a:t>
            </a:r>
            <a:endParaRPr lang="en-US" sz="950" dirty="0"/>
          </a:p>
        </p:txBody>
      </p:sp>
      <p:sp>
        <p:nvSpPr>
          <p:cNvPr id="31" name="Text 28"/>
          <p:cNvSpPr txBox="1"/>
          <p:nvPr/>
        </p:nvSpPr>
        <p:spPr>
          <a:xfrm>
            <a:off x="9593428" y="2971800"/>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Colonia Médica</a:t>
            </a:r>
            <a:endParaRPr lang="en-US" sz="950" dirty="0"/>
          </a:p>
        </p:txBody>
      </p:sp>
      <p:sp>
        <p:nvSpPr>
          <p:cNvPr id="32" name="Text 29"/>
          <p:cNvSpPr txBox="1"/>
          <p:nvPr/>
        </p:nvSpPr>
        <p:spPr>
          <a:xfrm>
            <a:off x="7607808" y="3172968"/>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Sonsonate</a:t>
            </a:r>
            <a:endParaRPr lang="en-US" sz="950" dirty="0"/>
          </a:p>
        </p:txBody>
      </p:sp>
      <p:sp>
        <p:nvSpPr>
          <p:cNvPr id="33" name="Text 30"/>
          <p:cNvSpPr txBox="1"/>
          <p:nvPr/>
        </p:nvSpPr>
        <p:spPr>
          <a:xfrm>
            <a:off x="9593428" y="3172968"/>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Santa Ana</a:t>
            </a:r>
            <a:endParaRPr lang="en-US" sz="950" dirty="0"/>
          </a:p>
        </p:txBody>
      </p:sp>
      <p:sp>
        <p:nvSpPr>
          <p:cNvPr id="34" name="Text 31"/>
          <p:cNvSpPr txBox="1"/>
          <p:nvPr/>
        </p:nvSpPr>
        <p:spPr>
          <a:xfrm>
            <a:off x="7607808" y="3374136"/>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Plaza Mundo</a:t>
            </a:r>
            <a:endParaRPr lang="en-US" sz="950" dirty="0"/>
          </a:p>
        </p:txBody>
      </p:sp>
      <p:sp>
        <p:nvSpPr>
          <p:cNvPr id="35" name="Text 32"/>
          <p:cNvSpPr txBox="1"/>
          <p:nvPr/>
        </p:nvSpPr>
        <p:spPr>
          <a:xfrm>
            <a:off x="9593428" y="3374136"/>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Plaza Merliot</a:t>
            </a:r>
            <a:endParaRPr lang="en-US" sz="950" dirty="0"/>
          </a:p>
        </p:txBody>
      </p:sp>
      <p:sp>
        <p:nvSpPr>
          <p:cNvPr id="36" name="Text 33"/>
          <p:cNvSpPr txBox="1"/>
          <p:nvPr/>
        </p:nvSpPr>
        <p:spPr>
          <a:xfrm>
            <a:off x="7607808" y="3575304"/>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Colegio Médico</a:t>
            </a:r>
            <a:endParaRPr lang="en-US" sz="950" dirty="0"/>
          </a:p>
        </p:txBody>
      </p:sp>
      <p:sp>
        <p:nvSpPr>
          <p:cNvPr id="37" name="Text 34"/>
          <p:cNvSpPr txBox="1"/>
          <p:nvPr/>
        </p:nvSpPr>
        <p:spPr>
          <a:xfrm>
            <a:off x="9593428" y="3575304"/>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Usulután</a:t>
            </a:r>
            <a:endParaRPr lang="en-US" sz="950" dirty="0"/>
          </a:p>
        </p:txBody>
      </p:sp>
      <p:sp>
        <p:nvSpPr>
          <p:cNvPr id="38" name="Text 35"/>
          <p:cNvSpPr txBox="1"/>
          <p:nvPr/>
        </p:nvSpPr>
        <p:spPr>
          <a:xfrm>
            <a:off x="7607808" y="3776472"/>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Central</a:t>
            </a:r>
            <a:endParaRPr lang="en-US" sz="950" dirty="0"/>
          </a:p>
        </p:txBody>
      </p:sp>
      <p:sp>
        <p:nvSpPr>
          <p:cNvPr id="39" name="Text 36"/>
          <p:cNvSpPr txBox="1"/>
          <p:nvPr/>
        </p:nvSpPr>
        <p:spPr>
          <a:xfrm>
            <a:off x="9593428" y="3776472"/>
            <a:ext cx="1985620" cy="182880"/>
          </a:xfrm>
          <a:prstGeom prst="rect">
            <a:avLst/>
          </a:prstGeom>
          <a:noFill/>
          <a:ln/>
        </p:spPr>
        <p:txBody>
          <a:bodyPr wrap="square" lIns="0" tIns="0" rIns="0" bIns="0" rtlCol="0" anchor="ctr"/>
          <a:lstStyle/>
          <a:p>
            <a:pPr algn="l" indent="0" marL="0">
              <a:buNone/>
            </a:pPr>
            <a:r>
              <a:rPr lang="en-US" sz="950" dirty="0">
                <a:solidFill>
                  <a:srgbClr val="243044"/>
                </a:solidFill>
                <a:latin typeface="Calibri" pitchFamily="34" charset="0"/>
                <a:ea typeface="Calibri" pitchFamily="34" charset="-122"/>
                <a:cs typeface="Calibri" pitchFamily="34" charset="-120"/>
              </a:rPr>
              <a:t>•  Jefe Móvil</a:t>
            </a:r>
            <a:endParaRPr lang="en-US" sz="950" dirty="0"/>
          </a:p>
        </p:txBody>
      </p:sp>
      <p:sp>
        <p:nvSpPr>
          <p:cNvPr id="40" name="Text 37"/>
          <p:cNvSpPr txBox="1"/>
          <p:nvPr/>
        </p:nvSpPr>
        <p:spPr>
          <a:xfrm>
            <a:off x="7607808" y="6126480"/>
            <a:ext cx="3971239" cy="201168"/>
          </a:xfrm>
          <a:prstGeom prst="rect">
            <a:avLst/>
          </a:prstGeom>
          <a:noFill/>
          <a:ln/>
        </p:spPr>
        <p:txBody>
          <a:bodyPr wrap="square" lIns="0" tIns="0" rIns="0" bIns="0" rtlCol="0" anchor="ctr"/>
          <a:lstStyle/>
          <a:p>
            <a:pPr algn="l" indent="0" marL="0">
              <a:buNone/>
            </a:pPr>
            <a:r>
              <a:rPr lang="en-US" sz="900" i="1" dirty="0">
                <a:solidFill>
                  <a:srgbClr val="5B6B82"/>
                </a:solidFill>
                <a:latin typeface="Calibri" pitchFamily="34" charset="0"/>
                <a:ea typeface="Calibri" pitchFamily="34" charset="-122"/>
                <a:cs typeface="Calibri" pitchFamily="34" charset="-120"/>
              </a:rPr>
              <a:t>Método: Encuesta interna estructurada</a:t>
            </a:r>
            <a:endParaRPr lang="en-US" sz="9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3B6C"/>
          </a:solidFill>
          <a:ln/>
        </p:spPr>
      </p:sp>
      <p:sp>
        <p:nvSpPr>
          <p:cNvPr id="3" name="Shape 1"/>
          <p:cNvSpPr/>
          <p:nvPr/>
        </p:nvSpPr>
        <p:spPr>
          <a:xfrm>
            <a:off x="0" y="0"/>
            <a:ext cx="4876678" cy="868680"/>
          </a:xfrm>
          <a:prstGeom prst="rect">
            <a:avLst/>
          </a:prstGeom>
          <a:solidFill>
            <a:srgbClr val="0A1F3B"/>
          </a:solidFill>
          <a:ln/>
        </p:spPr>
      </p:sp>
      <p:sp>
        <p:nvSpPr>
          <p:cNvPr id="4" name="Shape 2"/>
          <p:cNvSpPr/>
          <p:nvPr/>
        </p:nvSpPr>
        <p:spPr>
          <a:xfrm>
            <a:off x="10241024" y="0"/>
            <a:ext cx="1950671" cy="868680"/>
          </a:xfrm>
          <a:prstGeom prst="rect">
            <a:avLst/>
          </a:prstGeom>
          <a:solidFill>
            <a:srgbClr val="106B78"/>
          </a:solidFill>
          <a:ln/>
        </p:spPr>
      </p:sp>
      <p:sp>
        <p:nvSpPr>
          <p:cNvPr id="5" name="Shape 3"/>
          <p:cNvSpPr/>
          <p:nvPr/>
        </p:nvSpPr>
        <p:spPr>
          <a:xfrm>
            <a:off x="0" y="841248"/>
            <a:ext cx="12191695" cy="27432"/>
          </a:xfrm>
          <a:prstGeom prst="rect">
            <a:avLst/>
          </a:prstGeom>
          <a:solidFill>
            <a:srgbClr val="17A9B0"/>
          </a:solidFill>
          <a:ln/>
        </p:spPr>
      </p:sp>
      <p:sp>
        <p:nvSpPr>
          <p:cNvPr id="6" name="Text 4"/>
          <p:cNvSpPr txBox="1"/>
          <p:nvPr/>
        </p:nvSpPr>
        <p:spPr>
          <a:xfrm>
            <a:off x="411480" y="128016"/>
            <a:ext cx="9144000" cy="182880"/>
          </a:xfrm>
          <a:prstGeom prst="rect">
            <a:avLst/>
          </a:prstGeom>
          <a:noFill/>
          <a:ln/>
        </p:spPr>
        <p:txBody>
          <a:bodyPr wrap="square" lIns="0" tIns="0" rIns="0" bIns="0" rtlCol="0" anchor="ctr"/>
          <a:lstStyle/>
          <a:p>
            <a:pPr algn="l" indent="0" marL="0">
              <a:buNone/>
            </a:pPr>
            <a:r>
              <a:rPr lang="en-US" sz="950" b="1" spc="160" kern="0" dirty="0">
                <a:solidFill>
                  <a:srgbClr val="97D8DB"/>
                </a:solidFill>
                <a:latin typeface="Calibri" pitchFamily="34" charset="0"/>
                <a:ea typeface="Calibri" pitchFamily="34" charset="-122"/>
                <a:cs typeface="Calibri" pitchFamily="34" charset="-120"/>
              </a:rPr>
              <a:t>RESULTADOS CUANTITATIVOS</a:t>
            </a:r>
            <a:endParaRPr lang="en-US" sz="950" dirty="0"/>
          </a:p>
        </p:txBody>
      </p:sp>
      <p:sp>
        <p:nvSpPr>
          <p:cNvPr id="7" name="Text 5"/>
          <p:cNvSpPr txBox="1"/>
          <p:nvPr/>
        </p:nvSpPr>
        <p:spPr>
          <a:xfrm>
            <a:off x="411480" y="320040"/>
            <a:ext cx="9875520" cy="475488"/>
          </a:xfrm>
          <a:prstGeom prst="rect">
            <a:avLst/>
          </a:prstGeom>
          <a:noFill/>
          <a:ln/>
        </p:spPr>
        <p:txBody>
          <a:bodyPr wrap="square" lIns="0" tIns="0" rIns="0" bIns="0" rtlCol="0" anchor="t"/>
          <a:lstStyle/>
          <a:p>
            <a:pPr algn="l" indent="0" marL="0">
              <a:lnSpc>
                <a:spcPct val="98000"/>
              </a:lnSpc>
              <a:buNone/>
            </a:pPr>
            <a:r>
              <a:rPr lang="en-US" sz="2200" b="1" dirty="0">
                <a:solidFill>
                  <a:srgbClr val="FFFFFF"/>
                </a:solidFill>
                <a:latin typeface="Calibri" pitchFamily="34" charset="0"/>
                <a:ea typeface="Calibri" pitchFamily="34" charset="-122"/>
                <a:cs typeface="Calibri" pitchFamily="34" charset="-120"/>
              </a:rPr>
              <a:t>Estabilidad del Sistema y Soporte Técnico</a:t>
            </a:r>
            <a:endParaRPr lang="en-US" sz="2200" dirty="0"/>
          </a:p>
        </p:txBody>
      </p:sp>
      <p:sp>
        <p:nvSpPr>
          <p:cNvPr id="8" name="Shape 6"/>
          <p:cNvSpPr/>
          <p:nvPr/>
        </p:nvSpPr>
        <p:spPr>
          <a:xfrm>
            <a:off x="11323015" y="219456"/>
            <a:ext cx="457200" cy="457200"/>
          </a:xfrm>
          <a:prstGeom prst="ellipse">
            <a:avLst/>
          </a:prstGeom>
          <a:solidFill>
            <a:srgbClr val="17A9B0"/>
          </a:solidFill>
          <a:ln/>
        </p:spPr>
      </p:sp>
      <p:sp>
        <p:nvSpPr>
          <p:cNvPr id="9" name="Text 7"/>
          <p:cNvSpPr txBox="1"/>
          <p:nvPr/>
        </p:nvSpPr>
        <p:spPr>
          <a:xfrm>
            <a:off x="11323015" y="2194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0" name="Shape 8"/>
          <p:cNvSpPr/>
          <p:nvPr/>
        </p:nvSpPr>
        <p:spPr>
          <a:xfrm>
            <a:off x="0" y="6565392"/>
            <a:ext cx="12191695" cy="292608"/>
          </a:xfrm>
          <a:prstGeom prst="rect">
            <a:avLst/>
          </a:prstGeom>
          <a:solidFill>
            <a:srgbClr val="F2F5F9"/>
          </a:solidFill>
          <a:ln w="9525">
            <a:solidFill>
              <a:srgbClr val="DDE3EC"/>
            </a:solidFill>
            <a:prstDash val="solid"/>
          </a:ln>
        </p:spPr>
      </p:sp>
      <p:sp>
        <p:nvSpPr>
          <p:cNvPr id="11" name="Text 9"/>
          <p:cNvSpPr txBox="1"/>
          <p:nvPr/>
        </p:nvSpPr>
        <p:spPr>
          <a:xfrm>
            <a:off x="411480" y="6565392"/>
            <a:ext cx="4572000" cy="292608"/>
          </a:xfrm>
          <a:prstGeom prst="rect">
            <a:avLst/>
          </a:prstGeom>
          <a:noFill/>
          <a:ln/>
        </p:spPr>
        <p:txBody>
          <a:bodyPr wrap="square" lIns="0" tIns="0" rIns="0" bIns="0" rtlCol="0" anchor="ctr"/>
          <a:lstStyle/>
          <a:p>
            <a:pPr algn="l" indent="0" marL="0">
              <a:buNone/>
            </a:pPr>
            <a:r>
              <a:rPr lang="en-US" sz="850" b="1" dirty="0">
                <a:solidFill>
                  <a:srgbClr val="5B6B82"/>
                </a:solidFill>
                <a:latin typeface="Calibri" pitchFamily="34" charset="0"/>
                <a:ea typeface="Calibri" pitchFamily="34" charset="-122"/>
                <a:cs typeface="Calibri" pitchFamily="34" charset="-120"/>
              </a:rPr>
              <a:t>CONFIDENCIAL · Gerencia General</a:t>
            </a:r>
            <a:endParaRPr lang="en-US" sz="850" dirty="0"/>
          </a:p>
        </p:txBody>
      </p:sp>
      <p:sp>
        <p:nvSpPr>
          <p:cNvPr id="12" name="Text 10"/>
          <p:cNvSpPr txBox="1"/>
          <p:nvPr/>
        </p:nvSpPr>
        <p:spPr>
          <a:xfrm>
            <a:off x="7208215" y="6565392"/>
            <a:ext cx="4572000" cy="292608"/>
          </a:xfrm>
          <a:prstGeom prst="rect">
            <a:avLst/>
          </a:prstGeom>
          <a:noFill/>
          <a:ln/>
        </p:spPr>
        <p:txBody>
          <a:bodyPr wrap="square" lIns="0" tIns="0" rIns="0" bIns="0" rtlCol="0" anchor="ctr"/>
          <a:lstStyle/>
          <a:p>
            <a:pPr algn="r" indent="0" marL="0">
              <a:buNone/>
            </a:pPr>
            <a:r>
              <a:rPr lang="en-US" sz="850" dirty="0">
                <a:solidFill>
                  <a:srgbClr val="5B6B82"/>
                </a:solidFill>
                <a:latin typeface="Calibri" pitchFamily="34" charset="0"/>
                <a:ea typeface="Calibri" pitchFamily="34" charset="-122"/>
                <a:cs typeface="Calibri" pitchFamily="34" charset="-120"/>
              </a:rPr>
              <a:t>Análisis de Servicio EVERTEC · Encuesta a Agencias</a:t>
            </a:r>
            <a:endParaRPr lang="en-US" sz="850" dirty="0"/>
          </a:p>
        </p:txBody>
      </p:sp>
      <p:sp>
        <p:nvSpPr>
          <p:cNvPr id="13" name="Text 11"/>
          <p:cNvSpPr txBox="1"/>
          <p:nvPr/>
        </p:nvSpPr>
        <p:spPr>
          <a:xfrm>
            <a:off x="411480" y="1051560"/>
            <a:ext cx="10058400" cy="164592"/>
          </a:xfrm>
          <a:prstGeom prst="rect">
            <a:avLst/>
          </a:prstGeom>
          <a:noFill/>
          <a:ln/>
        </p:spPr>
        <p:txBody>
          <a:bodyPr wrap="square" lIns="0" tIns="0" rIns="0" bIns="0" rtlCol="0" anchor="ctr"/>
          <a:lstStyle/>
          <a:p>
            <a:pPr algn="l" indent="0" marL="0">
              <a:buNone/>
            </a:pPr>
            <a:r>
              <a:rPr lang="en-US" sz="800" i="1" dirty="0">
                <a:solidFill>
                  <a:srgbClr val="5B6B82"/>
                </a:solidFill>
                <a:latin typeface="Calibri" pitchFamily="34" charset="0"/>
                <a:ea typeface="Calibri" pitchFamily="34" charset="-122"/>
                <a:cs typeface="Calibri" pitchFamily="34" charset="-120"/>
              </a:rPr>
              <a:t>Layout: Tarjetas de métricas con desglose porcentual</a:t>
            </a:r>
            <a:endParaRPr lang="en-US" sz="800" dirty="0"/>
          </a:p>
        </p:txBody>
      </p:sp>
      <p:sp>
        <p:nvSpPr>
          <p:cNvPr id="14" name="Shape 12"/>
          <p:cNvSpPr/>
          <p:nvPr/>
        </p:nvSpPr>
        <p:spPr>
          <a:xfrm>
            <a:off x="411480" y="1289304"/>
            <a:ext cx="5501488" cy="2377440"/>
          </a:xfrm>
          <a:prstGeom prst="roundRect">
            <a:avLst>
              <a:gd name="adj" fmla="val 3077"/>
            </a:avLst>
          </a:prstGeom>
          <a:solidFill>
            <a:srgbClr val="FFFFFF"/>
          </a:solidFill>
          <a:ln/>
          <a:effectLst>
            <a:outerShdw sx="100000" sy="100000" kx="0" ky="0" algn="bl" rotWithShape="0" blurRad="101600" dist="25400" dir="5400000">
              <a:srgbClr val="0F2F4E">
                <a:alpha val="18000"/>
              </a:srgbClr>
            </a:outerShdw>
          </a:effectLst>
        </p:spPr>
      </p:sp>
      <p:sp>
        <p:nvSpPr>
          <p:cNvPr id="15" name="Shape 13"/>
          <p:cNvSpPr/>
          <p:nvPr/>
        </p:nvSpPr>
        <p:spPr>
          <a:xfrm>
            <a:off x="411480" y="1289304"/>
            <a:ext cx="5501488" cy="50292"/>
          </a:xfrm>
          <a:prstGeom prst="rect">
            <a:avLst/>
          </a:prstGeom>
          <a:solidFill>
            <a:srgbClr val="E0392B"/>
          </a:solidFill>
          <a:ln/>
        </p:spPr>
      </p:sp>
      <p:sp>
        <p:nvSpPr>
          <p:cNvPr id="16" name="Shape 14"/>
          <p:cNvSpPr/>
          <p:nvPr/>
        </p:nvSpPr>
        <p:spPr>
          <a:xfrm>
            <a:off x="612648" y="1490472"/>
            <a:ext cx="384048" cy="384048"/>
          </a:xfrm>
          <a:prstGeom prst="ellipse">
            <a:avLst/>
          </a:prstGeom>
          <a:solidFill>
            <a:srgbClr val="FBE9E7"/>
          </a:solidFill>
          <a:ln/>
        </p:spPr>
      </p:sp>
      <p:pic>
        <p:nvPicPr>
          <p:cNvPr id="17" name="Image 0" descr="/tmp/claude-0/-home-user-riesgo/579fb8c8-70e5-51d5-80ec-6ed51cc2e8df/scratchpad/pptx-build/icons/alerttriangle_E0392B.png">    </p:cNvPr>
          <p:cNvPicPr>
            <a:picLocks noChangeAspect="1"/>
          </p:cNvPicPr>
          <p:nvPr/>
        </p:nvPicPr>
        <p:blipFill>
          <a:blip r:embed="rId1"/>
          <a:stretch>
            <a:fillRect/>
          </a:stretch>
        </p:blipFill>
        <p:spPr>
          <a:xfrm>
            <a:off x="697139" y="1574963"/>
            <a:ext cx="215067" cy="215067"/>
          </a:xfrm>
          <a:prstGeom prst="rect">
            <a:avLst/>
          </a:prstGeom>
        </p:spPr>
      </p:pic>
      <p:sp>
        <p:nvSpPr>
          <p:cNvPr id="18" name="Text 15"/>
          <p:cNvSpPr txBox="1"/>
          <p:nvPr/>
        </p:nvSpPr>
        <p:spPr>
          <a:xfrm>
            <a:off x="1124712" y="1490472"/>
            <a:ext cx="4605376" cy="384048"/>
          </a:xfrm>
          <a:prstGeom prst="rect">
            <a:avLst/>
          </a:prstGeom>
          <a:noFill/>
          <a:ln/>
        </p:spPr>
        <p:txBody>
          <a:bodyPr wrap="square" lIns="0" tIns="0" rIns="0" bIns="0" rtlCol="0" anchor="ctr"/>
          <a:lstStyle/>
          <a:p>
            <a:pPr algn="l" indent="0" marL="0">
              <a:buNone/>
            </a:pPr>
            <a:r>
              <a:rPr lang="en-US" sz="1400" b="1" dirty="0">
                <a:solidFill>
                  <a:srgbClr val="17223A"/>
                </a:solidFill>
                <a:latin typeface="Calibri" pitchFamily="34" charset="0"/>
                <a:ea typeface="Calibri" pitchFamily="34" charset="-122"/>
                <a:cs typeface="Calibri" pitchFamily="34" charset="-120"/>
              </a:rPr>
              <a:t>Frecuencia de Fallas del Sistema</a:t>
            </a:r>
            <a:endParaRPr lang="en-US" sz="1400" dirty="0"/>
          </a:p>
        </p:txBody>
      </p:sp>
      <p:sp>
        <p:nvSpPr>
          <p:cNvPr id="19" name="Text 16"/>
          <p:cNvSpPr txBox="1"/>
          <p:nvPr/>
        </p:nvSpPr>
        <p:spPr>
          <a:xfrm>
            <a:off x="612648" y="2075688"/>
            <a:ext cx="4459072" cy="182880"/>
          </a:xfrm>
          <a:prstGeom prst="rect">
            <a:avLst/>
          </a:prstGeom>
          <a:noFill/>
          <a:ln/>
        </p:spPr>
        <p:txBody>
          <a:bodyPr wrap="square" lIns="0" tIns="0" rIns="0" bIns="0" rtlCol="0" anchor="ctr"/>
          <a:lstStyle/>
          <a:p>
            <a:pPr algn="l" indent="0" marL="0">
              <a:buNone/>
            </a:pPr>
            <a:r>
              <a:rPr lang="en-US" sz="1100" dirty="0">
                <a:solidFill>
                  <a:srgbClr val="243044"/>
                </a:solidFill>
                <a:latin typeface="Calibri" pitchFamily="34" charset="0"/>
                <a:ea typeface="Calibri" pitchFamily="34" charset="-122"/>
                <a:cs typeface="Calibri" pitchFamily="34" charset="-120"/>
              </a:rPr>
              <a:t>Frecuentemente</a:t>
            </a:r>
            <a:endParaRPr lang="en-US" sz="1100" dirty="0"/>
          </a:p>
        </p:txBody>
      </p:sp>
      <p:sp>
        <p:nvSpPr>
          <p:cNvPr id="20" name="Text 17"/>
          <p:cNvSpPr txBox="1"/>
          <p:nvPr/>
        </p:nvSpPr>
        <p:spPr>
          <a:xfrm>
            <a:off x="5071720" y="2075688"/>
            <a:ext cx="640080" cy="182880"/>
          </a:xfrm>
          <a:prstGeom prst="rect">
            <a:avLst/>
          </a:prstGeom>
          <a:noFill/>
          <a:ln/>
        </p:spPr>
        <p:txBody>
          <a:bodyPr wrap="square" lIns="0" tIns="0" rIns="0" bIns="0" rtlCol="0" anchor="ctr"/>
          <a:lstStyle/>
          <a:p>
            <a:pPr algn="r" indent="0" marL="0">
              <a:buNone/>
            </a:pPr>
            <a:r>
              <a:rPr lang="en-US" sz="1200" b="1" dirty="0">
                <a:solidFill>
                  <a:srgbClr val="E0392B"/>
                </a:solidFill>
                <a:latin typeface="Calibri" pitchFamily="34" charset="0"/>
                <a:ea typeface="Calibri" pitchFamily="34" charset="-122"/>
                <a:cs typeface="Calibri" pitchFamily="34" charset="-120"/>
              </a:rPr>
              <a:t>35.3%</a:t>
            </a:r>
            <a:endParaRPr lang="en-US" sz="1200" dirty="0"/>
          </a:p>
        </p:txBody>
      </p:sp>
      <p:sp>
        <p:nvSpPr>
          <p:cNvPr id="21" name="Shape 18"/>
          <p:cNvSpPr/>
          <p:nvPr/>
        </p:nvSpPr>
        <p:spPr>
          <a:xfrm>
            <a:off x="612648" y="2295144"/>
            <a:ext cx="5099152" cy="109728"/>
          </a:xfrm>
          <a:prstGeom prst="roundRect">
            <a:avLst>
              <a:gd name="adj" fmla="val 50000"/>
            </a:avLst>
          </a:prstGeom>
          <a:solidFill>
            <a:srgbClr val="E7ECF3"/>
          </a:solidFill>
          <a:ln/>
        </p:spPr>
      </p:sp>
      <p:sp>
        <p:nvSpPr>
          <p:cNvPr id="22" name="Shape 19"/>
          <p:cNvSpPr/>
          <p:nvPr/>
        </p:nvSpPr>
        <p:spPr>
          <a:xfrm>
            <a:off x="612648" y="2295144"/>
            <a:ext cx="1800001" cy="109728"/>
          </a:xfrm>
          <a:prstGeom prst="roundRect">
            <a:avLst>
              <a:gd name="adj" fmla="val 50000"/>
            </a:avLst>
          </a:prstGeom>
          <a:solidFill>
            <a:srgbClr val="E0392B"/>
          </a:solidFill>
          <a:ln/>
        </p:spPr>
      </p:sp>
      <p:sp>
        <p:nvSpPr>
          <p:cNvPr id="23" name="Text 20"/>
          <p:cNvSpPr txBox="1"/>
          <p:nvPr/>
        </p:nvSpPr>
        <p:spPr>
          <a:xfrm>
            <a:off x="612648" y="2551176"/>
            <a:ext cx="4459072" cy="182880"/>
          </a:xfrm>
          <a:prstGeom prst="rect">
            <a:avLst/>
          </a:prstGeom>
          <a:noFill/>
          <a:ln/>
        </p:spPr>
        <p:txBody>
          <a:bodyPr wrap="square" lIns="0" tIns="0" rIns="0" bIns="0" rtlCol="0" anchor="ctr"/>
          <a:lstStyle/>
          <a:p>
            <a:pPr algn="l" indent="0" marL="0">
              <a:buNone/>
            </a:pPr>
            <a:r>
              <a:rPr lang="en-US" sz="1100" dirty="0">
                <a:solidFill>
                  <a:srgbClr val="243044"/>
                </a:solidFill>
                <a:latin typeface="Calibri" pitchFamily="34" charset="0"/>
                <a:ea typeface="Calibri" pitchFamily="34" charset="-122"/>
                <a:cs typeface="Calibri" pitchFamily="34" charset="-120"/>
              </a:rPr>
              <a:t>Algunas veces</a:t>
            </a:r>
            <a:endParaRPr lang="en-US" sz="1100" dirty="0"/>
          </a:p>
        </p:txBody>
      </p:sp>
      <p:sp>
        <p:nvSpPr>
          <p:cNvPr id="24" name="Text 21"/>
          <p:cNvSpPr txBox="1"/>
          <p:nvPr/>
        </p:nvSpPr>
        <p:spPr>
          <a:xfrm>
            <a:off x="5071720" y="2551176"/>
            <a:ext cx="640080" cy="182880"/>
          </a:xfrm>
          <a:prstGeom prst="rect">
            <a:avLst/>
          </a:prstGeom>
          <a:noFill/>
          <a:ln/>
        </p:spPr>
        <p:txBody>
          <a:bodyPr wrap="square" lIns="0" tIns="0" rIns="0" bIns="0" rtlCol="0" anchor="ctr"/>
          <a:lstStyle/>
          <a:p>
            <a:pPr algn="r" indent="0" marL="0">
              <a:buNone/>
            </a:pPr>
            <a:r>
              <a:rPr lang="en-US" sz="1200" b="1" dirty="0">
                <a:solidFill>
                  <a:srgbClr val="E0392B"/>
                </a:solidFill>
                <a:latin typeface="Calibri" pitchFamily="34" charset="0"/>
                <a:ea typeface="Calibri" pitchFamily="34" charset="-122"/>
                <a:cs typeface="Calibri" pitchFamily="34" charset="-120"/>
              </a:rPr>
              <a:t>52.9%</a:t>
            </a:r>
            <a:endParaRPr lang="en-US" sz="1200" dirty="0"/>
          </a:p>
        </p:txBody>
      </p:sp>
      <p:sp>
        <p:nvSpPr>
          <p:cNvPr id="25" name="Shape 22"/>
          <p:cNvSpPr/>
          <p:nvPr/>
        </p:nvSpPr>
        <p:spPr>
          <a:xfrm>
            <a:off x="612648" y="2770632"/>
            <a:ext cx="5099152" cy="109728"/>
          </a:xfrm>
          <a:prstGeom prst="roundRect">
            <a:avLst>
              <a:gd name="adj" fmla="val 50000"/>
            </a:avLst>
          </a:prstGeom>
          <a:solidFill>
            <a:srgbClr val="E7ECF3"/>
          </a:solidFill>
          <a:ln/>
        </p:spPr>
      </p:sp>
      <p:sp>
        <p:nvSpPr>
          <p:cNvPr id="26" name="Shape 23"/>
          <p:cNvSpPr/>
          <p:nvPr/>
        </p:nvSpPr>
        <p:spPr>
          <a:xfrm>
            <a:off x="612648" y="2770632"/>
            <a:ext cx="2697451" cy="109728"/>
          </a:xfrm>
          <a:prstGeom prst="roundRect">
            <a:avLst>
              <a:gd name="adj" fmla="val 50000"/>
            </a:avLst>
          </a:prstGeom>
          <a:solidFill>
            <a:srgbClr val="A6650F"/>
          </a:solidFill>
          <a:ln/>
        </p:spPr>
      </p:sp>
      <p:sp>
        <p:nvSpPr>
          <p:cNvPr id="27" name="Shape 24"/>
          <p:cNvSpPr/>
          <p:nvPr/>
        </p:nvSpPr>
        <p:spPr>
          <a:xfrm>
            <a:off x="6278728" y="1289304"/>
            <a:ext cx="5501488" cy="2377440"/>
          </a:xfrm>
          <a:prstGeom prst="roundRect">
            <a:avLst>
              <a:gd name="adj" fmla="val 3077"/>
            </a:avLst>
          </a:prstGeom>
          <a:solidFill>
            <a:srgbClr val="FFFFFF"/>
          </a:solidFill>
          <a:ln/>
          <a:effectLst>
            <a:outerShdw sx="100000" sy="100000" kx="0" ky="0" algn="bl" rotWithShape="0" blurRad="101600" dist="25400" dir="5400000">
              <a:srgbClr val="0F2F4E">
                <a:alpha val="18000"/>
              </a:srgbClr>
            </a:outerShdw>
          </a:effectLst>
        </p:spPr>
      </p:sp>
      <p:sp>
        <p:nvSpPr>
          <p:cNvPr id="28" name="Shape 25"/>
          <p:cNvSpPr/>
          <p:nvPr/>
        </p:nvSpPr>
        <p:spPr>
          <a:xfrm>
            <a:off x="6278728" y="1289304"/>
            <a:ext cx="5501488" cy="50292"/>
          </a:xfrm>
          <a:prstGeom prst="rect">
            <a:avLst/>
          </a:prstGeom>
          <a:solidFill>
            <a:srgbClr val="0F766E"/>
          </a:solidFill>
          <a:ln/>
        </p:spPr>
      </p:sp>
      <p:sp>
        <p:nvSpPr>
          <p:cNvPr id="29" name="Shape 26"/>
          <p:cNvSpPr/>
          <p:nvPr/>
        </p:nvSpPr>
        <p:spPr>
          <a:xfrm>
            <a:off x="6479896" y="1490472"/>
            <a:ext cx="384048" cy="384048"/>
          </a:xfrm>
          <a:prstGeom prst="ellipse">
            <a:avLst/>
          </a:prstGeom>
          <a:solidFill>
            <a:srgbClr val="E4F5F3"/>
          </a:solidFill>
          <a:ln/>
        </p:spPr>
      </p:sp>
      <p:pic>
        <p:nvPicPr>
          <p:cNvPr id="30" name="Image 1" descr="/tmp/claude-0/-home-user-riesgo/579fb8c8-70e5-51d5-80ec-6ed51cc2e8df/scratchpad/pptx-build/icons/headphones_1D63A1.png">    </p:cNvPr>
          <p:cNvPicPr>
            <a:picLocks noChangeAspect="1"/>
          </p:cNvPicPr>
          <p:nvPr/>
        </p:nvPicPr>
        <p:blipFill>
          <a:blip r:embed="rId2"/>
          <a:stretch>
            <a:fillRect/>
          </a:stretch>
        </p:blipFill>
        <p:spPr>
          <a:xfrm>
            <a:off x="6564386" y="1574963"/>
            <a:ext cx="215067" cy="215067"/>
          </a:xfrm>
          <a:prstGeom prst="rect">
            <a:avLst/>
          </a:prstGeom>
        </p:spPr>
      </p:pic>
      <p:sp>
        <p:nvSpPr>
          <p:cNvPr id="31" name="Text 27"/>
          <p:cNvSpPr txBox="1"/>
          <p:nvPr/>
        </p:nvSpPr>
        <p:spPr>
          <a:xfrm>
            <a:off x="6991960" y="1490472"/>
            <a:ext cx="4605376" cy="384048"/>
          </a:xfrm>
          <a:prstGeom prst="rect">
            <a:avLst/>
          </a:prstGeom>
          <a:noFill/>
          <a:ln/>
        </p:spPr>
        <p:txBody>
          <a:bodyPr wrap="square" lIns="0" tIns="0" rIns="0" bIns="0" rtlCol="0" anchor="ctr"/>
          <a:lstStyle/>
          <a:p>
            <a:pPr algn="l" indent="0" marL="0">
              <a:buNone/>
            </a:pPr>
            <a:r>
              <a:rPr lang="en-US" sz="1400" b="1" dirty="0">
                <a:solidFill>
                  <a:srgbClr val="17223A"/>
                </a:solidFill>
                <a:latin typeface="Calibri" pitchFamily="34" charset="0"/>
                <a:ea typeface="Calibri" pitchFamily="34" charset="-122"/>
                <a:cs typeface="Calibri" pitchFamily="34" charset="-120"/>
              </a:rPr>
              <a:t>Oportunidad del Soporte Técnico</a:t>
            </a:r>
            <a:endParaRPr lang="en-US" sz="1400" dirty="0"/>
          </a:p>
        </p:txBody>
      </p:sp>
      <p:sp>
        <p:nvSpPr>
          <p:cNvPr id="32" name="Text 28"/>
          <p:cNvSpPr txBox="1"/>
          <p:nvPr/>
        </p:nvSpPr>
        <p:spPr>
          <a:xfrm>
            <a:off x="6479896" y="2075688"/>
            <a:ext cx="4459072" cy="182880"/>
          </a:xfrm>
          <a:prstGeom prst="rect">
            <a:avLst/>
          </a:prstGeom>
          <a:noFill/>
          <a:ln/>
        </p:spPr>
        <p:txBody>
          <a:bodyPr wrap="square" lIns="0" tIns="0" rIns="0" bIns="0" rtlCol="0" anchor="ctr"/>
          <a:lstStyle/>
          <a:p>
            <a:pPr algn="l" indent="0" marL="0">
              <a:buNone/>
            </a:pPr>
            <a:r>
              <a:rPr lang="en-US" sz="1100" dirty="0">
                <a:solidFill>
                  <a:srgbClr val="243044"/>
                </a:solidFill>
                <a:latin typeface="Calibri" pitchFamily="34" charset="0"/>
                <a:ea typeface="Calibri" pitchFamily="34" charset="-122"/>
                <a:cs typeface="Calibri" pitchFamily="34" charset="-120"/>
              </a:rPr>
              <a:t>Oportunamente</a:t>
            </a:r>
            <a:endParaRPr lang="en-US" sz="1100" dirty="0"/>
          </a:p>
        </p:txBody>
      </p:sp>
      <p:sp>
        <p:nvSpPr>
          <p:cNvPr id="33" name="Text 29"/>
          <p:cNvSpPr txBox="1"/>
          <p:nvPr/>
        </p:nvSpPr>
        <p:spPr>
          <a:xfrm>
            <a:off x="10938967" y="2075688"/>
            <a:ext cx="640080" cy="182880"/>
          </a:xfrm>
          <a:prstGeom prst="rect">
            <a:avLst/>
          </a:prstGeom>
          <a:noFill/>
          <a:ln/>
        </p:spPr>
        <p:txBody>
          <a:bodyPr wrap="square" lIns="0" tIns="0" rIns="0" bIns="0" rtlCol="0" anchor="ctr"/>
          <a:lstStyle/>
          <a:p>
            <a:pPr algn="r" indent="0" marL="0">
              <a:buNone/>
            </a:pPr>
            <a:r>
              <a:rPr lang="en-US" sz="1200" b="1" dirty="0">
                <a:solidFill>
                  <a:srgbClr val="0F766E"/>
                </a:solidFill>
                <a:latin typeface="Calibri" pitchFamily="34" charset="0"/>
                <a:ea typeface="Calibri" pitchFamily="34" charset="-122"/>
                <a:cs typeface="Calibri" pitchFamily="34" charset="-120"/>
              </a:rPr>
              <a:t>70.6%</a:t>
            </a:r>
            <a:endParaRPr lang="en-US" sz="1200" dirty="0"/>
          </a:p>
        </p:txBody>
      </p:sp>
      <p:sp>
        <p:nvSpPr>
          <p:cNvPr id="34" name="Shape 30"/>
          <p:cNvSpPr/>
          <p:nvPr/>
        </p:nvSpPr>
        <p:spPr>
          <a:xfrm>
            <a:off x="6479896" y="2295144"/>
            <a:ext cx="5099152" cy="109728"/>
          </a:xfrm>
          <a:prstGeom prst="roundRect">
            <a:avLst>
              <a:gd name="adj" fmla="val 50000"/>
            </a:avLst>
          </a:prstGeom>
          <a:solidFill>
            <a:srgbClr val="E7ECF3"/>
          </a:solidFill>
          <a:ln/>
        </p:spPr>
      </p:sp>
      <p:sp>
        <p:nvSpPr>
          <p:cNvPr id="35" name="Shape 31"/>
          <p:cNvSpPr/>
          <p:nvPr/>
        </p:nvSpPr>
        <p:spPr>
          <a:xfrm>
            <a:off x="6479896" y="2295144"/>
            <a:ext cx="3600001" cy="109728"/>
          </a:xfrm>
          <a:prstGeom prst="roundRect">
            <a:avLst>
              <a:gd name="adj" fmla="val 50000"/>
            </a:avLst>
          </a:prstGeom>
          <a:solidFill>
            <a:srgbClr val="1E8449"/>
          </a:solidFill>
          <a:ln/>
        </p:spPr>
      </p:sp>
      <p:sp>
        <p:nvSpPr>
          <p:cNvPr id="36" name="Text 32"/>
          <p:cNvSpPr txBox="1"/>
          <p:nvPr/>
        </p:nvSpPr>
        <p:spPr>
          <a:xfrm>
            <a:off x="6479896" y="2551176"/>
            <a:ext cx="4459072" cy="182880"/>
          </a:xfrm>
          <a:prstGeom prst="rect">
            <a:avLst/>
          </a:prstGeom>
          <a:noFill/>
          <a:ln/>
        </p:spPr>
        <p:txBody>
          <a:bodyPr wrap="square" lIns="0" tIns="0" rIns="0" bIns="0" rtlCol="0" anchor="ctr"/>
          <a:lstStyle/>
          <a:p>
            <a:pPr algn="l" indent="0" marL="0">
              <a:buNone/>
            </a:pPr>
            <a:r>
              <a:rPr lang="en-US" sz="1100" dirty="0">
                <a:solidFill>
                  <a:srgbClr val="243044"/>
                </a:solidFill>
                <a:latin typeface="Calibri" pitchFamily="34" charset="0"/>
                <a:ea typeface="Calibri" pitchFamily="34" charset="-122"/>
                <a:cs typeface="Calibri" pitchFamily="34" charset="-120"/>
              </a:rPr>
              <a:t>Regular</a:t>
            </a:r>
            <a:endParaRPr lang="en-US" sz="1100" dirty="0"/>
          </a:p>
        </p:txBody>
      </p:sp>
      <p:sp>
        <p:nvSpPr>
          <p:cNvPr id="37" name="Text 33"/>
          <p:cNvSpPr txBox="1"/>
          <p:nvPr/>
        </p:nvSpPr>
        <p:spPr>
          <a:xfrm>
            <a:off x="10938967" y="2551176"/>
            <a:ext cx="640080" cy="182880"/>
          </a:xfrm>
          <a:prstGeom prst="rect">
            <a:avLst/>
          </a:prstGeom>
          <a:noFill/>
          <a:ln/>
        </p:spPr>
        <p:txBody>
          <a:bodyPr wrap="square" lIns="0" tIns="0" rIns="0" bIns="0" rtlCol="0" anchor="ctr"/>
          <a:lstStyle/>
          <a:p>
            <a:pPr algn="r" indent="0" marL="0">
              <a:buNone/>
            </a:pPr>
            <a:r>
              <a:rPr lang="en-US" sz="1200" b="1" dirty="0">
                <a:solidFill>
                  <a:srgbClr val="0F766E"/>
                </a:solidFill>
                <a:latin typeface="Calibri" pitchFamily="34" charset="0"/>
                <a:ea typeface="Calibri" pitchFamily="34" charset="-122"/>
                <a:cs typeface="Calibri" pitchFamily="34" charset="-120"/>
              </a:rPr>
              <a:t>17.6%</a:t>
            </a:r>
            <a:endParaRPr lang="en-US" sz="1200" dirty="0"/>
          </a:p>
        </p:txBody>
      </p:sp>
      <p:sp>
        <p:nvSpPr>
          <p:cNvPr id="38" name="Shape 34"/>
          <p:cNvSpPr/>
          <p:nvPr/>
        </p:nvSpPr>
        <p:spPr>
          <a:xfrm>
            <a:off x="6479896" y="2770632"/>
            <a:ext cx="5099152" cy="109728"/>
          </a:xfrm>
          <a:prstGeom prst="roundRect">
            <a:avLst>
              <a:gd name="adj" fmla="val 50000"/>
            </a:avLst>
          </a:prstGeom>
          <a:solidFill>
            <a:srgbClr val="E7ECF3"/>
          </a:solidFill>
          <a:ln/>
        </p:spPr>
      </p:sp>
      <p:sp>
        <p:nvSpPr>
          <p:cNvPr id="39" name="Shape 35"/>
          <p:cNvSpPr/>
          <p:nvPr/>
        </p:nvSpPr>
        <p:spPr>
          <a:xfrm>
            <a:off x="6479896" y="2770632"/>
            <a:ext cx="897451" cy="109728"/>
          </a:xfrm>
          <a:prstGeom prst="roundRect">
            <a:avLst>
              <a:gd name="adj" fmla="val 50000"/>
            </a:avLst>
          </a:prstGeom>
          <a:solidFill>
            <a:srgbClr val="A6650F"/>
          </a:solidFill>
          <a:ln/>
        </p:spPr>
      </p:sp>
      <p:sp>
        <p:nvSpPr>
          <p:cNvPr id="40" name="Shape 36"/>
          <p:cNvSpPr/>
          <p:nvPr/>
        </p:nvSpPr>
        <p:spPr>
          <a:xfrm>
            <a:off x="411480" y="3941064"/>
            <a:ext cx="11368735" cy="777240"/>
          </a:xfrm>
          <a:prstGeom prst="roundRect">
            <a:avLst>
              <a:gd name="adj" fmla="val 9412"/>
            </a:avLst>
          </a:prstGeom>
          <a:solidFill>
            <a:srgbClr val="133B6C"/>
          </a:solidFill>
          <a:ln/>
        </p:spPr>
      </p:sp>
      <p:pic>
        <p:nvPicPr>
          <p:cNvPr id="41" name="Image 2" descr="/tmp/claude-0/-home-user-riesgo/579fb8c8-70e5-51d5-80ec-6ed51cc2e8df/scratchpad/pptx-build/icons/zap_1B4F91.png">    </p:cNvPr>
          <p:cNvPicPr>
            <a:picLocks noChangeAspect="1"/>
          </p:cNvPicPr>
          <p:nvPr/>
        </p:nvPicPr>
        <p:blipFill>
          <a:blip r:embed="rId3"/>
          <a:stretch>
            <a:fillRect/>
          </a:stretch>
        </p:blipFill>
        <p:spPr>
          <a:xfrm>
            <a:off x="630936" y="4142232"/>
            <a:ext cx="365760" cy="365760"/>
          </a:xfrm>
          <a:prstGeom prst="rect">
            <a:avLst/>
          </a:prstGeom>
        </p:spPr>
      </p:pic>
      <p:sp>
        <p:nvSpPr>
          <p:cNvPr id="42" name="Text 37"/>
          <p:cNvSpPr txBox="1"/>
          <p:nvPr/>
        </p:nvSpPr>
        <p:spPr>
          <a:xfrm>
            <a:off x="1188720" y="3941064"/>
            <a:ext cx="10362895" cy="777240"/>
          </a:xfrm>
          <a:prstGeom prst="rect">
            <a:avLst/>
          </a:prstGeom>
          <a:noFill/>
          <a:ln/>
        </p:spPr>
        <p:txBody>
          <a:bodyPr wrap="square" lIns="0" tIns="0" rIns="0" bIns="0" rtlCol="0" anchor="ctr"/>
          <a:lstStyle/>
          <a:p>
            <a:pPr algn="l" indent="0" marL="0">
              <a:lnSpc>
                <a:spcPct val="115000"/>
              </a:lnSpc>
              <a:buNone/>
            </a:pPr>
            <a:r>
              <a:rPr lang="en-US" sz="1300" b="1" dirty="0">
                <a:solidFill>
                  <a:srgbClr val="FFFFFF"/>
                </a:solidFill>
                <a:latin typeface="Calibri" pitchFamily="34" charset="0"/>
                <a:ea typeface="Calibri" pitchFamily="34" charset="-122"/>
                <a:cs typeface="Calibri" pitchFamily="34" charset="-120"/>
              </a:rPr>
              <a:t>9 de cada 10 agencias reportan fallas del sistema con cierta regularidad, mientras que el soporte responde oportunamente en 7 de cada 10 casos.</a:t>
            </a:r>
            <a:endParaRPr lang="en-US" sz="13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3B6C"/>
          </a:solidFill>
          <a:ln/>
        </p:spPr>
      </p:sp>
      <p:sp>
        <p:nvSpPr>
          <p:cNvPr id="3" name="Shape 1"/>
          <p:cNvSpPr/>
          <p:nvPr/>
        </p:nvSpPr>
        <p:spPr>
          <a:xfrm>
            <a:off x="0" y="0"/>
            <a:ext cx="4876678" cy="868680"/>
          </a:xfrm>
          <a:prstGeom prst="rect">
            <a:avLst/>
          </a:prstGeom>
          <a:solidFill>
            <a:srgbClr val="0A1F3B"/>
          </a:solidFill>
          <a:ln/>
        </p:spPr>
      </p:sp>
      <p:sp>
        <p:nvSpPr>
          <p:cNvPr id="4" name="Shape 2"/>
          <p:cNvSpPr/>
          <p:nvPr/>
        </p:nvSpPr>
        <p:spPr>
          <a:xfrm>
            <a:off x="10241024" y="0"/>
            <a:ext cx="1950671" cy="868680"/>
          </a:xfrm>
          <a:prstGeom prst="rect">
            <a:avLst/>
          </a:prstGeom>
          <a:solidFill>
            <a:srgbClr val="106B78"/>
          </a:solidFill>
          <a:ln/>
        </p:spPr>
      </p:sp>
      <p:sp>
        <p:nvSpPr>
          <p:cNvPr id="5" name="Shape 3"/>
          <p:cNvSpPr/>
          <p:nvPr/>
        </p:nvSpPr>
        <p:spPr>
          <a:xfrm>
            <a:off x="0" y="841248"/>
            <a:ext cx="12191695" cy="27432"/>
          </a:xfrm>
          <a:prstGeom prst="rect">
            <a:avLst/>
          </a:prstGeom>
          <a:solidFill>
            <a:srgbClr val="17A9B0"/>
          </a:solidFill>
          <a:ln/>
        </p:spPr>
      </p:sp>
      <p:sp>
        <p:nvSpPr>
          <p:cNvPr id="6" name="Text 4"/>
          <p:cNvSpPr txBox="1"/>
          <p:nvPr/>
        </p:nvSpPr>
        <p:spPr>
          <a:xfrm>
            <a:off x="411480" y="128016"/>
            <a:ext cx="9144000" cy="182880"/>
          </a:xfrm>
          <a:prstGeom prst="rect">
            <a:avLst/>
          </a:prstGeom>
          <a:noFill/>
          <a:ln/>
        </p:spPr>
        <p:txBody>
          <a:bodyPr wrap="square" lIns="0" tIns="0" rIns="0" bIns="0" rtlCol="0" anchor="ctr"/>
          <a:lstStyle/>
          <a:p>
            <a:pPr algn="l" indent="0" marL="0">
              <a:buNone/>
            </a:pPr>
            <a:r>
              <a:rPr lang="en-US" sz="950" b="1" spc="160" kern="0" dirty="0">
                <a:solidFill>
                  <a:srgbClr val="97D8DB"/>
                </a:solidFill>
                <a:latin typeface="Calibri" pitchFamily="34" charset="0"/>
                <a:ea typeface="Calibri" pitchFamily="34" charset="-122"/>
                <a:cs typeface="Calibri" pitchFamily="34" charset="-120"/>
              </a:rPr>
              <a:t>RESULTADOS CUANTITATIVOS</a:t>
            </a:r>
            <a:endParaRPr lang="en-US" sz="950" dirty="0"/>
          </a:p>
        </p:txBody>
      </p:sp>
      <p:sp>
        <p:nvSpPr>
          <p:cNvPr id="7" name="Text 5"/>
          <p:cNvSpPr txBox="1"/>
          <p:nvPr/>
        </p:nvSpPr>
        <p:spPr>
          <a:xfrm>
            <a:off x="411480" y="320040"/>
            <a:ext cx="9875520" cy="475488"/>
          </a:xfrm>
          <a:prstGeom prst="rect">
            <a:avLst/>
          </a:prstGeom>
          <a:noFill/>
          <a:ln/>
        </p:spPr>
        <p:txBody>
          <a:bodyPr wrap="square" lIns="0" tIns="0" rIns="0" bIns="0" rtlCol="0" anchor="t"/>
          <a:lstStyle/>
          <a:p>
            <a:pPr algn="l" indent="0" marL="0">
              <a:lnSpc>
                <a:spcPct val="98000"/>
              </a:lnSpc>
              <a:buNone/>
            </a:pPr>
            <a:r>
              <a:rPr lang="en-US" sz="2200" b="1" dirty="0">
                <a:solidFill>
                  <a:srgbClr val="FFFFFF"/>
                </a:solidFill>
                <a:latin typeface="Calibri" pitchFamily="34" charset="0"/>
                <a:ea typeface="Calibri" pitchFamily="34" charset="-122"/>
                <a:cs typeface="Calibri" pitchFamily="34" charset="-120"/>
              </a:rPr>
              <a:t>Experiencia del Asociado y Calificación General</a:t>
            </a:r>
            <a:endParaRPr lang="en-US" sz="2200" dirty="0"/>
          </a:p>
        </p:txBody>
      </p:sp>
      <p:sp>
        <p:nvSpPr>
          <p:cNvPr id="8" name="Shape 6"/>
          <p:cNvSpPr/>
          <p:nvPr/>
        </p:nvSpPr>
        <p:spPr>
          <a:xfrm>
            <a:off x="11323015" y="219456"/>
            <a:ext cx="457200" cy="457200"/>
          </a:xfrm>
          <a:prstGeom prst="ellipse">
            <a:avLst/>
          </a:prstGeom>
          <a:solidFill>
            <a:srgbClr val="17A9B0"/>
          </a:solidFill>
          <a:ln/>
        </p:spPr>
      </p:sp>
      <p:sp>
        <p:nvSpPr>
          <p:cNvPr id="9" name="Text 7"/>
          <p:cNvSpPr txBox="1"/>
          <p:nvPr/>
        </p:nvSpPr>
        <p:spPr>
          <a:xfrm>
            <a:off x="11323015" y="2194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0" name="Shape 8"/>
          <p:cNvSpPr/>
          <p:nvPr/>
        </p:nvSpPr>
        <p:spPr>
          <a:xfrm>
            <a:off x="0" y="6565392"/>
            <a:ext cx="12191695" cy="292608"/>
          </a:xfrm>
          <a:prstGeom prst="rect">
            <a:avLst/>
          </a:prstGeom>
          <a:solidFill>
            <a:srgbClr val="F2F5F9"/>
          </a:solidFill>
          <a:ln w="9525">
            <a:solidFill>
              <a:srgbClr val="DDE3EC"/>
            </a:solidFill>
            <a:prstDash val="solid"/>
          </a:ln>
        </p:spPr>
      </p:sp>
      <p:sp>
        <p:nvSpPr>
          <p:cNvPr id="11" name="Text 9"/>
          <p:cNvSpPr txBox="1"/>
          <p:nvPr/>
        </p:nvSpPr>
        <p:spPr>
          <a:xfrm>
            <a:off x="411480" y="6565392"/>
            <a:ext cx="4572000" cy="292608"/>
          </a:xfrm>
          <a:prstGeom prst="rect">
            <a:avLst/>
          </a:prstGeom>
          <a:noFill/>
          <a:ln/>
        </p:spPr>
        <p:txBody>
          <a:bodyPr wrap="square" lIns="0" tIns="0" rIns="0" bIns="0" rtlCol="0" anchor="ctr"/>
          <a:lstStyle/>
          <a:p>
            <a:pPr algn="l" indent="0" marL="0">
              <a:buNone/>
            </a:pPr>
            <a:r>
              <a:rPr lang="en-US" sz="850" b="1" dirty="0">
                <a:solidFill>
                  <a:srgbClr val="5B6B82"/>
                </a:solidFill>
                <a:latin typeface="Calibri" pitchFamily="34" charset="0"/>
                <a:ea typeface="Calibri" pitchFamily="34" charset="-122"/>
                <a:cs typeface="Calibri" pitchFamily="34" charset="-120"/>
              </a:rPr>
              <a:t>CONFIDENCIAL · Gerencia General</a:t>
            </a:r>
            <a:endParaRPr lang="en-US" sz="850" dirty="0"/>
          </a:p>
        </p:txBody>
      </p:sp>
      <p:sp>
        <p:nvSpPr>
          <p:cNvPr id="12" name="Text 10"/>
          <p:cNvSpPr txBox="1"/>
          <p:nvPr/>
        </p:nvSpPr>
        <p:spPr>
          <a:xfrm>
            <a:off x="7208215" y="6565392"/>
            <a:ext cx="4572000" cy="292608"/>
          </a:xfrm>
          <a:prstGeom prst="rect">
            <a:avLst/>
          </a:prstGeom>
          <a:noFill/>
          <a:ln/>
        </p:spPr>
        <p:txBody>
          <a:bodyPr wrap="square" lIns="0" tIns="0" rIns="0" bIns="0" rtlCol="0" anchor="ctr"/>
          <a:lstStyle/>
          <a:p>
            <a:pPr algn="r" indent="0" marL="0">
              <a:buNone/>
            </a:pPr>
            <a:r>
              <a:rPr lang="en-US" sz="850" dirty="0">
                <a:solidFill>
                  <a:srgbClr val="5B6B82"/>
                </a:solidFill>
                <a:latin typeface="Calibri" pitchFamily="34" charset="0"/>
                <a:ea typeface="Calibri" pitchFamily="34" charset="-122"/>
                <a:cs typeface="Calibri" pitchFamily="34" charset="-120"/>
              </a:rPr>
              <a:t>Análisis de Servicio EVERTEC · Encuesta a Agencias</a:t>
            </a:r>
            <a:endParaRPr lang="en-US" sz="850" dirty="0"/>
          </a:p>
        </p:txBody>
      </p:sp>
      <p:sp>
        <p:nvSpPr>
          <p:cNvPr id="13" name="Text 11"/>
          <p:cNvSpPr txBox="1"/>
          <p:nvPr/>
        </p:nvSpPr>
        <p:spPr>
          <a:xfrm>
            <a:off x="411480" y="1051560"/>
            <a:ext cx="10058400" cy="164592"/>
          </a:xfrm>
          <a:prstGeom prst="rect">
            <a:avLst/>
          </a:prstGeom>
          <a:noFill/>
          <a:ln/>
        </p:spPr>
        <p:txBody>
          <a:bodyPr wrap="square" lIns="0" tIns="0" rIns="0" bIns="0" rtlCol="0" anchor="ctr"/>
          <a:lstStyle/>
          <a:p>
            <a:pPr algn="l" indent="0" marL="0">
              <a:buNone/>
            </a:pPr>
            <a:r>
              <a:rPr lang="en-US" sz="800" i="1" dirty="0">
                <a:solidFill>
                  <a:srgbClr val="5B6B82"/>
                </a:solidFill>
                <a:latin typeface="Calibri" pitchFamily="34" charset="0"/>
                <a:ea typeface="Calibri" pitchFamily="34" charset="-122"/>
                <a:cs typeface="Calibri" pitchFamily="34" charset="-120"/>
              </a:rPr>
              <a:t>Layout: Tarjetas de métricas + estadística destacada central</a:t>
            </a:r>
            <a:endParaRPr lang="en-US" sz="800" dirty="0"/>
          </a:p>
        </p:txBody>
      </p:sp>
      <p:sp>
        <p:nvSpPr>
          <p:cNvPr id="14" name="Shape 12"/>
          <p:cNvSpPr/>
          <p:nvPr/>
        </p:nvSpPr>
        <p:spPr>
          <a:xfrm>
            <a:off x="411480" y="1289304"/>
            <a:ext cx="4160520" cy="2606040"/>
          </a:xfrm>
          <a:prstGeom prst="roundRect">
            <a:avLst>
              <a:gd name="adj" fmla="val 2807"/>
            </a:avLst>
          </a:prstGeom>
          <a:solidFill>
            <a:srgbClr val="FFFFFF"/>
          </a:solidFill>
          <a:ln/>
          <a:effectLst>
            <a:outerShdw sx="100000" sy="100000" kx="0" ky="0" algn="bl" rotWithShape="0" blurRad="101600" dist="25400" dir="5400000">
              <a:srgbClr val="0F2F4E">
                <a:alpha val="18000"/>
              </a:srgbClr>
            </a:outerShdw>
          </a:effectLst>
        </p:spPr>
      </p:sp>
      <p:sp>
        <p:nvSpPr>
          <p:cNvPr id="15" name="Shape 13"/>
          <p:cNvSpPr/>
          <p:nvPr/>
        </p:nvSpPr>
        <p:spPr>
          <a:xfrm>
            <a:off x="411480" y="1289304"/>
            <a:ext cx="4160520" cy="50292"/>
          </a:xfrm>
          <a:prstGeom prst="rect">
            <a:avLst/>
          </a:prstGeom>
          <a:solidFill>
            <a:srgbClr val="A6650F"/>
          </a:solidFill>
          <a:ln/>
        </p:spPr>
      </p:sp>
      <p:sp>
        <p:nvSpPr>
          <p:cNvPr id="16" name="Shape 14"/>
          <p:cNvSpPr/>
          <p:nvPr/>
        </p:nvSpPr>
        <p:spPr>
          <a:xfrm>
            <a:off x="612648" y="1490472"/>
            <a:ext cx="384048" cy="384048"/>
          </a:xfrm>
          <a:prstGeom prst="ellipse">
            <a:avLst/>
          </a:prstGeom>
          <a:solidFill>
            <a:srgbClr val="FDF3E7"/>
          </a:solidFill>
          <a:ln/>
        </p:spPr>
      </p:sp>
      <p:pic>
        <p:nvPicPr>
          <p:cNvPr id="17" name="Image 0" descr="/tmp/claude-0/-home-user-riesgo/579fb8c8-70e5-51d5-80ec-6ed51cc2e8df/scratchpad/pptx-build/icons/messagesquare_A6650F.png">    </p:cNvPr>
          <p:cNvPicPr>
            <a:picLocks noChangeAspect="1"/>
          </p:cNvPicPr>
          <p:nvPr/>
        </p:nvPicPr>
        <p:blipFill>
          <a:blip r:embed="rId1"/>
          <a:stretch>
            <a:fillRect/>
          </a:stretch>
        </p:blipFill>
        <p:spPr>
          <a:xfrm>
            <a:off x="697139" y="1574963"/>
            <a:ext cx="215067" cy="215067"/>
          </a:xfrm>
          <a:prstGeom prst="rect">
            <a:avLst/>
          </a:prstGeom>
        </p:spPr>
      </p:pic>
      <p:sp>
        <p:nvSpPr>
          <p:cNvPr id="18" name="Text 15"/>
          <p:cNvSpPr txBox="1"/>
          <p:nvPr/>
        </p:nvSpPr>
        <p:spPr>
          <a:xfrm>
            <a:off x="1124712" y="1490472"/>
            <a:ext cx="3264408" cy="384048"/>
          </a:xfrm>
          <a:prstGeom prst="rect">
            <a:avLst/>
          </a:prstGeom>
          <a:noFill/>
          <a:ln/>
        </p:spPr>
        <p:txBody>
          <a:bodyPr wrap="square" lIns="0" tIns="0" rIns="0" bIns="0" rtlCol="0" anchor="ctr"/>
          <a:lstStyle/>
          <a:p>
            <a:pPr algn="l" indent="0" marL="0">
              <a:buNone/>
            </a:pPr>
            <a:r>
              <a:rPr lang="en-US" sz="1400" b="1" dirty="0">
                <a:solidFill>
                  <a:srgbClr val="17223A"/>
                </a:solidFill>
                <a:latin typeface="Calibri" pitchFamily="34" charset="0"/>
                <a:ea typeface="Calibri" pitchFamily="34" charset="-122"/>
                <a:cs typeface="Calibri" pitchFamily="34" charset="-120"/>
              </a:rPr>
              <a:t>Reclamos de Asociados</a:t>
            </a:r>
            <a:endParaRPr lang="en-US" sz="1400" dirty="0"/>
          </a:p>
        </p:txBody>
      </p:sp>
      <p:sp>
        <p:nvSpPr>
          <p:cNvPr id="19" name="Text 16"/>
          <p:cNvSpPr txBox="1"/>
          <p:nvPr/>
        </p:nvSpPr>
        <p:spPr>
          <a:xfrm>
            <a:off x="612648" y="2075688"/>
            <a:ext cx="3118104" cy="182880"/>
          </a:xfrm>
          <a:prstGeom prst="rect">
            <a:avLst/>
          </a:prstGeom>
          <a:noFill/>
          <a:ln/>
        </p:spPr>
        <p:txBody>
          <a:bodyPr wrap="square" lIns="0" tIns="0" rIns="0" bIns="0" rtlCol="0" anchor="ctr"/>
          <a:lstStyle/>
          <a:p>
            <a:pPr algn="l" indent="0" marL="0">
              <a:buNone/>
            </a:pPr>
            <a:r>
              <a:rPr lang="en-US" sz="1100" dirty="0">
                <a:solidFill>
                  <a:srgbClr val="243044"/>
                </a:solidFill>
                <a:latin typeface="Calibri" pitchFamily="34" charset="0"/>
                <a:ea typeface="Calibri" pitchFamily="34" charset="-122"/>
                <a:cs typeface="Calibri" pitchFamily="34" charset="-120"/>
              </a:rPr>
              <a:t>Frecuentemente</a:t>
            </a:r>
            <a:endParaRPr lang="en-US" sz="1100" dirty="0"/>
          </a:p>
        </p:txBody>
      </p:sp>
      <p:sp>
        <p:nvSpPr>
          <p:cNvPr id="20" name="Text 17"/>
          <p:cNvSpPr txBox="1"/>
          <p:nvPr/>
        </p:nvSpPr>
        <p:spPr>
          <a:xfrm>
            <a:off x="3730752" y="2075688"/>
            <a:ext cx="640080" cy="182880"/>
          </a:xfrm>
          <a:prstGeom prst="rect">
            <a:avLst/>
          </a:prstGeom>
          <a:noFill/>
          <a:ln/>
        </p:spPr>
        <p:txBody>
          <a:bodyPr wrap="square" lIns="0" tIns="0" rIns="0" bIns="0" rtlCol="0" anchor="ctr"/>
          <a:lstStyle/>
          <a:p>
            <a:pPr algn="r" indent="0" marL="0">
              <a:buNone/>
            </a:pPr>
            <a:r>
              <a:rPr lang="en-US" sz="1200" b="1" dirty="0">
                <a:solidFill>
                  <a:srgbClr val="A6650F"/>
                </a:solidFill>
                <a:latin typeface="Calibri" pitchFamily="34" charset="0"/>
                <a:ea typeface="Calibri" pitchFamily="34" charset="-122"/>
                <a:cs typeface="Calibri" pitchFamily="34" charset="-120"/>
              </a:rPr>
              <a:t>41.2%</a:t>
            </a:r>
            <a:endParaRPr lang="en-US" sz="1200" dirty="0"/>
          </a:p>
        </p:txBody>
      </p:sp>
      <p:sp>
        <p:nvSpPr>
          <p:cNvPr id="21" name="Shape 18"/>
          <p:cNvSpPr/>
          <p:nvPr/>
        </p:nvSpPr>
        <p:spPr>
          <a:xfrm>
            <a:off x="612648" y="2295144"/>
            <a:ext cx="3758184" cy="109728"/>
          </a:xfrm>
          <a:prstGeom prst="roundRect">
            <a:avLst>
              <a:gd name="adj" fmla="val 50000"/>
            </a:avLst>
          </a:prstGeom>
          <a:solidFill>
            <a:srgbClr val="E7ECF3"/>
          </a:solidFill>
          <a:ln/>
        </p:spPr>
      </p:sp>
      <p:sp>
        <p:nvSpPr>
          <p:cNvPr id="22" name="Shape 19"/>
          <p:cNvSpPr/>
          <p:nvPr/>
        </p:nvSpPr>
        <p:spPr>
          <a:xfrm>
            <a:off x="612648" y="2295144"/>
            <a:ext cx="1548372" cy="109728"/>
          </a:xfrm>
          <a:prstGeom prst="roundRect">
            <a:avLst>
              <a:gd name="adj" fmla="val 50000"/>
            </a:avLst>
          </a:prstGeom>
          <a:solidFill>
            <a:srgbClr val="E0392B"/>
          </a:solidFill>
          <a:ln/>
        </p:spPr>
      </p:sp>
      <p:sp>
        <p:nvSpPr>
          <p:cNvPr id="23" name="Text 20"/>
          <p:cNvSpPr txBox="1"/>
          <p:nvPr/>
        </p:nvSpPr>
        <p:spPr>
          <a:xfrm>
            <a:off x="612648" y="2551176"/>
            <a:ext cx="3118104" cy="182880"/>
          </a:xfrm>
          <a:prstGeom prst="rect">
            <a:avLst/>
          </a:prstGeom>
          <a:noFill/>
          <a:ln/>
        </p:spPr>
        <p:txBody>
          <a:bodyPr wrap="square" lIns="0" tIns="0" rIns="0" bIns="0" rtlCol="0" anchor="ctr"/>
          <a:lstStyle/>
          <a:p>
            <a:pPr algn="l" indent="0" marL="0">
              <a:buNone/>
            </a:pPr>
            <a:r>
              <a:rPr lang="en-US" sz="1100" dirty="0">
                <a:solidFill>
                  <a:srgbClr val="243044"/>
                </a:solidFill>
                <a:latin typeface="Calibri" pitchFamily="34" charset="0"/>
                <a:ea typeface="Calibri" pitchFamily="34" charset="-122"/>
                <a:cs typeface="Calibri" pitchFamily="34" charset="-120"/>
              </a:rPr>
              <a:t>Algunas veces</a:t>
            </a:r>
            <a:endParaRPr lang="en-US" sz="1100" dirty="0"/>
          </a:p>
        </p:txBody>
      </p:sp>
      <p:sp>
        <p:nvSpPr>
          <p:cNvPr id="24" name="Text 21"/>
          <p:cNvSpPr txBox="1"/>
          <p:nvPr/>
        </p:nvSpPr>
        <p:spPr>
          <a:xfrm>
            <a:off x="3730752" y="2551176"/>
            <a:ext cx="640080" cy="182880"/>
          </a:xfrm>
          <a:prstGeom prst="rect">
            <a:avLst/>
          </a:prstGeom>
          <a:noFill/>
          <a:ln/>
        </p:spPr>
        <p:txBody>
          <a:bodyPr wrap="square" lIns="0" tIns="0" rIns="0" bIns="0" rtlCol="0" anchor="ctr"/>
          <a:lstStyle/>
          <a:p>
            <a:pPr algn="r" indent="0" marL="0">
              <a:buNone/>
            </a:pPr>
            <a:r>
              <a:rPr lang="en-US" sz="1200" b="1" dirty="0">
                <a:solidFill>
                  <a:srgbClr val="A6650F"/>
                </a:solidFill>
                <a:latin typeface="Calibri" pitchFamily="34" charset="0"/>
                <a:ea typeface="Calibri" pitchFamily="34" charset="-122"/>
                <a:cs typeface="Calibri" pitchFamily="34" charset="-120"/>
              </a:rPr>
              <a:t>35.3%</a:t>
            </a:r>
            <a:endParaRPr lang="en-US" sz="1200" dirty="0"/>
          </a:p>
        </p:txBody>
      </p:sp>
      <p:sp>
        <p:nvSpPr>
          <p:cNvPr id="25" name="Shape 22"/>
          <p:cNvSpPr/>
          <p:nvPr/>
        </p:nvSpPr>
        <p:spPr>
          <a:xfrm>
            <a:off x="612648" y="2770632"/>
            <a:ext cx="3758184" cy="109728"/>
          </a:xfrm>
          <a:prstGeom prst="roundRect">
            <a:avLst>
              <a:gd name="adj" fmla="val 50000"/>
            </a:avLst>
          </a:prstGeom>
          <a:solidFill>
            <a:srgbClr val="E7ECF3"/>
          </a:solidFill>
          <a:ln/>
        </p:spPr>
      </p:sp>
      <p:sp>
        <p:nvSpPr>
          <p:cNvPr id="26" name="Shape 23"/>
          <p:cNvSpPr/>
          <p:nvPr/>
        </p:nvSpPr>
        <p:spPr>
          <a:xfrm>
            <a:off x="612648" y="2770632"/>
            <a:ext cx="1326639" cy="109728"/>
          </a:xfrm>
          <a:prstGeom prst="roundRect">
            <a:avLst>
              <a:gd name="adj" fmla="val 50000"/>
            </a:avLst>
          </a:prstGeom>
          <a:solidFill>
            <a:srgbClr val="A6650F"/>
          </a:solidFill>
          <a:ln/>
        </p:spPr>
      </p:sp>
      <p:sp>
        <p:nvSpPr>
          <p:cNvPr id="27" name="Shape 24"/>
          <p:cNvSpPr/>
          <p:nvPr/>
        </p:nvSpPr>
        <p:spPr>
          <a:xfrm>
            <a:off x="7619695" y="1289304"/>
            <a:ext cx="4160520" cy="2606040"/>
          </a:xfrm>
          <a:prstGeom prst="roundRect">
            <a:avLst>
              <a:gd name="adj" fmla="val 2807"/>
            </a:avLst>
          </a:prstGeom>
          <a:solidFill>
            <a:srgbClr val="FFFFFF"/>
          </a:solidFill>
          <a:ln/>
          <a:effectLst>
            <a:outerShdw sx="100000" sy="100000" kx="0" ky="0" algn="bl" rotWithShape="0" blurRad="101600" dist="25400" dir="5400000">
              <a:srgbClr val="0F2F4E">
                <a:alpha val="18000"/>
              </a:srgbClr>
            </a:outerShdw>
          </a:effectLst>
        </p:spPr>
      </p:sp>
      <p:sp>
        <p:nvSpPr>
          <p:cNvPr id="28" name="Shape 25"/>
          <p:cNvSpPr/>
          <p:nvPr/>
        </p:nvSpPr>
        <p:spPr>
          <a:xfrm>
            <a:off x="7619695" y="1289304"/>
            <a:ext cx="4160520" cy="50292"/>
          </a:xfrm>
          <a:prstGeom prst="rect">
            <a:avLst/>
          </a:prstGeom>
          <a:solidFill>
            <a:srgbClr val="1D63A1"/>
          </a:solidFill>
          <a:ln/>
        </p:spPr>
      </p:sp>
      <p:sp>
        <p:nvSpPr>
          <p:cNvPr id="29" name="Shape 26"/>
          <p:cNvSpPr/>
          <p:nvPr/>
        </p:nvSpPr>
        <p:spPr>
          <a:xfrm>
            <a:off x="7820863" y="1490472"/>
            <a:ext cx="384048" cy="384048"/>
          </a:xfrm>
          <a:prstGeom prst="ellipse">
            <a:avLst/>
          </a:prstGeom>
          <a:solidFill>
            <a:srgbClr val="E8F1FA"/>
          </a:solidFill>
          <a:ln/>
        </p:spPr>
      </p:sp>
      <p:pic>
        <p:nvPicPr>
          <p:cNvPr id="30" name="Image 1" descr="/tmp/claude-0/-home-user-riesgo/579fb8c8-70e5-51d5-80ec-6ed51cc2e8df/scratchpad/pptx-build/icons/sliders_1E8449.png">    </p:cNvPr>
          <p:cNvPicPr>
            <a:picLocks noChangeAspect="1"/>
          </p:cNvPicPr>
          <p:nvPr/>
        </p:nvPicPr>
        <p:blipFill>
          <a:blip r:embed="rId2"/>
          <a:stretch>
            <a:fillRect/>
          </a:stretch>
        </p:blipFill>
        <p:spPr>
          <a:xfrm>
            <a:off x="7905354" y="1574963"/>
            <a:ext cx="215067" cy="215067"/>
          </a:xfrm>
          <a:prstGeom prst="rect">
            <a:avLst/>
          </a:prstGeom>
        </p:spPr>
      </p:pic>
      <p:sp>
        <p:nvSpPr>
          <p:cNvPr id="31" name="Text 27"/>
          <p:cNvSpPr txBox="1"/>
          <p:nvPr/>
        </p:nvSpPr>
        <p:spPr>
          <a:xfrm>
            <a:off x="8332927" y="1490472"/>
            <a:ext cx="3264408" cy="384048"/>
          </a:xfrm>
          <a:prstGeom prst="rect">
            <a:avLst/>
          </a:prstGeom>
          <a:noFill/>
          <a:ln/>
        </p:spPr>
        <p:txBody>
          <a:bodyPr wrap="square" lIns="0" tIns="0" rIns="0" bIns="0" rtlCol="0" anchor="ctr"/>
          <a:lstStyle/>
          <a:p>
            <a:pPr algn="l" indent="0" marL="0">
              <a:buNone/>
            </a:pPr>
            <a:r>
              <a:rPr lang="en-US" sz="1400" b="1" dirty="0">
                <a:solidFill>
                  <a:srgbClr val="17223A"/>
                </a:solidFill>
                <a:latin typeface="Calibri" pitchFamily="34" charset="0"/>
                <a:ea typeface="Calibri" pitchFamily="34" charset="-122"/>
                <a:cs typeface="Calibri" pitchFamily="34" charset="-120"/>
              </a:rPr>
              <a:t>Facilidad de Gestión</a:t>
            </a:r>
            <a:endParaRPr lang="en-US" sz="1400" dirty="0"/>
          </a:p>
        </p:txBody>
      </p:sp>
      <p:sp>
        <p:nvSpPr>
          <p:cNvPr id="32" name="Text 28"/>
          <p:cNvSpPr txBox="1"/>
          <p:nvPr/>
        </p:nvSpPr>
        <p:spPr>
          <a:xfrm>
            <a:off x="7820863" y="2075688"/>
            <a:ext cx="3118104" cy="182880"/>
          </a:xfrm>
          <a:prstGeom prst="rect">
            <a:avLst/>
          </a:prstGeom>
          <a:noFill/>
          <a:ln/>
        </p:spPr>
        <p:txBody>
          <a:bodyPr wrap="square" lIns="0" tIns="0" rIns="0" bIns="0" rtlCol="0" anchor="ctr"/>
          <a:lstStyle/>
          <a:p>
            <a:pPr algn="l" indent="0" marL="0">
              <a:buNone/>
            </a:pPr>
            <a:r>
              <a:rPr lang="en-US" sz="1100" dirty="0">
                <a:solidFill>
                  <a:srgbClr val="243044"/>
                </a:solidFill>
                <a:latin typeface="Calibri" pitchFamily="34" charset="0"/>
                <a:ea typeface="Calibri" pitchFamily="34" charset="-122"/>
                <a:cs typeface="Calibri" pitchFamily="34" charset="-120"/>
              </a:rPr>
              <a:t>Regular</a:t>
            </a:r>
            <a:endParaRPr lang="en-US" sz="1100" dirty="0"/>
          </a:p>
        </p:txBody>
      </p:sp>
      <p:sp>
        <p:nvSpPr>
          <p:cNvPr id="33" name="Text 29"/>
          <p:cNvSpPr txBox="1"/>
          <p:nvPr/>
        </p:nvSpPr>
        <p:spPr>
          <a:xfrm>
            <a:off x="10938967" y="2075688"/>
            <a:ext cx="640080" cy="182880"/>
          </a:xfrm>
          <a:prstGeom prst="rect">
            <a:avLst/>
          </a:prstGeom>
          <a:noFill/>
          <a:ln/>
        </p:spPr>
        <p:txBody>
          <a:bodyPr wrap="square" lIns="0" tIns="0" rIns="0" bIns="0" rtlCol="0" anchor="ctr"/>
          <a:lstStyle/>
          <a:p>
            <a:pPr algn="r" indent="0" marL="0">
              <a:buNone/>
            </a:pPr>
            <a:r>
              <a:rPr lang="en-US" sz="1200" b="1" dirty="0">
                <a:solidFill>
                  <a:srgbClr val="1D63A1"/>
                </a:solidFill>
                <a:latin typeface="Calibri" pitchFamily="34" charset="0"/>
                <a:ea typeface="Calibri" pitchFamily="34" charset="-122"/>
                <a:cs typeface="Calibri" pitchFamily="34" charset="-120"/>
              </a:rPr>
              <a:t>52.9%</a:t>
            </a:r>
            <a:endParaRPr lang="en-US" sz="1200" dirty="0"/>
          </a:p>
        </p:txBody>
      </p:sp>
      <p:sp>
        <p:nvSpPr>
          <p:cNvPr id="34" name="Shape 30"/>
          <p:cNvSpPr/>
          <p:nvPr/>
        </p:nvSpPr>
        <p:spPr>
          <a:xfrm>
            <a:off x="7820863" y="2295144"/>
            <a:ext cx="3758184" cy="109728"/>
          </a:xfrm>
          <a:prstGeom prst="roundRect">
            <a:avLst>
              <a:gd name="adj" fmla="val 50000"/>
            </a:avLst>
          </a:prstGeom>
          <a:solidFill>
            <a:srgbClr val="E7ECF3"/>
          </a:solidFill>
          <a:ln/>
        </p:spPr>
      </p:sp>
      <p:sp>
        <p:nvSpPr>
          <p:cNvPr id="35" name="Shape 31"/>
          <p:cNvSpPr/>
          <p:nvPr/>
        </p:nvSpPr>
        <p:spPr>
          <a:xfrm>
            <a:off x="7820863" y="2295144"/>
            <a:ext cx="1988079" cy="109728"/>
          </a:xfrm>
          <a:prstGeom prst="roundRect">
            <a:avLst>
              <a:gd name="adj" fmla="val 50000"/>
            </a:avLst>
          </a:prstGeom>
          <a:solidFill>
            <a:srgbClr val="A6650F"/>
          </a:solidFill>
          <a:ln/>
        </p:spPr>
      </p:sp>
      <p:sp>
        <p:nvSpPr>
          <p:cNvPr id="36" name="Text 32"/>
          <p:cNvSpPr txBox="1"/>
          <p:nvPr/>
        </p:nvSpPr>
        <p:spPr>
          <a:xfrm>
            <a:off x="7820863" y="2551176"/>
            <a:ext cx="3118104" cy="182880"/>
          </a:xfrm>
          <a:prstGeom prst="rect">
            <a:avLst/>
          </a:prstGeom>
          <a:noFill/>
          <a:ln/>
        </p:spPr>
        <p:txBody>
          <a:bodyPr wrap="square" lIns="0" tIns="0" rIns="0" bIns="0" rtlCol="0" anchor="ctr"/>
          <a:lstStyle/>
          <a:p>
            <a:pPr algn="l" indent="0" marL="0">
              <a:buNone/>
            </a:pPr>
            <a:r>
              <a:rPr lang="en-US" sz="1100" dirty="0">
                <a:solidFill>
                  <a:srgbClr val="243044"/>
                </a:solidFill>
                <a:latin typeface="Calibri" pitchFamily="34" charset="0"/>
                <a:ea typeface="Calibri" pitchFamily="34" charset="-122"/>
                <a:cs typeface="Calibri" pitchFamily="34" charset="-120"/>
              </a:rPr>
              <a:t>Fácil</a:t>
            </a:r>
            <a:endParaRPr lang="en-US" sz="1100" dirty="0"/>
          </a:p>
        </p:txBody>
      </p:sp>
      <p:sp>
        <p:nvSpPr>
          <p:cNvPr id="37" name="Text 33"/>
          <p:cNvSpPr txBox="1"/>
          <p:nvPr/>
        </p:nvSpPr>
        <p:spPr>
          <a:xfrm>
            <a:off x="10938967" y="2551176"/>
            <a:ext cx="640080" cy="182880"/>
          </a:xfrm>
          <a:prstGeom prst="rect">
            <a:avLst/>
          </a:prstGeom>
          <a:noFill/>
          <a:ln/>
        </p:spPr>
        <p:txBody>
          <a:bodyPr wrap="square" lIns="0" tIns="0" rIns="0" bIns="0" rtlCol="0" anchor="ctr"/>
          <a:lstStyle/>
          <a:p>
            <a:pPr algn="r" indent="0" marL="0">
              <a:buNone/>
            </a:pPr>
            <a:r>
              <a:rPr lang="en-US" sz="1200" b="1" dirty="0">
                <a:solidFill>
                  <a:srgbClr val="1D63A1"/>
                </a:solidFill>
                <a:latin typeface="Calibri" pitchFamily="34" charset="0"/>
                <a:ea typeface="Calibri" pitchFamily="34" charset="-122"/>
                <a:cs typeface="Calibri" pitchFamily="34" charset="-120"/>
              </a:rPr>
              <a:t>35.3%</a:t>
            </a:r>
            <a:endParaRPr lang="en-US" sz="1200" dirty="0"/>
          </a:p>
        </p:txBody>
      </p:sp>
      <p:sp>
        <p:nvSpPr>
          <p:cNvPr id="38" name="Shape 34"/>
          <p:cNvSpPr/>
          <p:nvPr/>
        </p:nvSpPr>
        <p:spPr>
          <a:xfrm>
            <a:off x="7820863" y="2770632"/>
            <a:ext cx="3758184" cy="109728"/>
          </a:xfrm>
          <a:prstGeom prst="roundRect">
            <a:avLst>
              <a:gd name="adj" fmla="val 50000"/>
            </a:avLst>
          </a:prstGeom>
          <a:solidFill>
            <a:srgbClr val="E7ECF3"/>
          </a:solidFill>
          <a:ln/>
        </p:spPr>
      </p:sp>
      <p:sp>
        <p:nvSpPr>
          <p:cNvPr id="39" name="Shape 35"/>
          <p:cNvSpPr/>
          <p:nvPr/>
        </p:nvSpPr>
        <p:spPr>
          <a:xfrm>
            <a:off x="7820863" y="2770632"/>
            <a:ext cx="1326639" cy="109728"/>
          </a:xfrm>
          <a:prstGeom prst="roundRect">
            <a:avLst>
              <a:gd name="adj" fmla="val 50000"/>
            </a:avLst>
          </a:prstGeom>
          <a:solidFill>
            <a:srgbClr val="1E8449"/>
          </a:solidFill>
          <a:ln/>
        </p:spPr>
      </p:sp>
      <p:sp>
        <p:nvSpPr>
          <p:cNvPr id="40" name="Shape 36"/>
          <p:cNvSpPr/>
          <p:nvPr/>
        </p:nvSpPr>
        <p:spPr>
          <a:xfrm>
            <a:off x="4754880" y="1289304"/>
            <a:ext cx="2864815" cy="2606040"/>
          </a:xfrm>
          <a:prstGeom prst="roundRect">
            <a:avLst>
              <a:gd name="adj" fmla="val 2807"/>
            </a:avLst>
          </a:prstGeom>
          <a:solidFill>
            <a:srgbClr val="133B6C"/>
          </a:solidFill>
          <a:ln/>
        </p:spPr>
      </p:sp>
      <p:pic>
        <p:nvPicPr>
          <p:cNvPr id="41" name="Image 2" descr="/tmp/claude-0/-home-user-riesgo/579fb8c8-70e5-51d5-80ec-6ed51cc2e8df/scratchpad/pptx-build/icons/star_FFFFFF.png">    </p:cNvPr>
          <p:cNvPicPr>
            <a:picLocks noChangeAspect="1"/>
          </p:cNvPicPr>
          <p:nvPr/>
        </p:nvPicPr>
        <p:blipFill>
          <a:blip r:embed="rId3"/>
          <a:stretch>
            <a:fillRect/>
          </a:stretch>
        </p:blipFill>
        <p:spPr>
          <a:xfrm>
            <a:off x="5986120" y="1508760"/>
            <a:ext cx="402336" cy="402336"/>
          </a:xfrm>
          <a:prstGeom prst="rect">
            <a:avLst/>
          </a:prstGeom>
        </p:spPr>
      </p:pic>
      <p:sp>
        <p:nvSpPr>
          <p:cNvPr id="42" name="Text 37"/>
          <p:cNvSpPr txBox="1"/>
          <p:nvPr/>
        </p:nvSpPr>
        <p:spPr>
          <a:xfrm>
            <a:off x="4754880" y="1975104"/>
            <a:ext cx="2864815" cy="640080"/>
          </a:xfrm>
          <a:prstGeom prst="rect">
            <a:avLst/>
          </a:prstGeom>
          <a:noFill/>
          <a:ln/>
        </p:spPr>
        <p:txBody>
          <a:bodyPr wrap="square" lIns="0" tIns="0" rIns="0" bIns="0" rtlCol="0" anchor="ctr"/>
          <a:lstStyle/>
          <a:p>
            <a:pPr algn="ctr" indent="0" marL="0">
              <a:buNone/>
            </a:pPr>
            <a:r>
              <a:rPr lang="en-US" sz="4400" b="1" dirty="0">
                <a:solidFill>
                  <a:srgbClr val="FFFFFF"/>
                </a:solidFill>
                <a:latin typeface="Calibri" pitchFamily="34" charset="0"/>
                <a:ea typeface="Calibri" pitchFamily="34" charset="-122"/>
                <a:cs typeface="Calibri" pitchFamily="34" charset="-120"/>
              </a:rPr>
              <a:t>3.71</a:t>
            </a:r>
            <a:endParaRPr lang="en-US" sz="4400" dirty="0"/>
          </a:p>
        </p:txBody>
      </p:sp>
      <p:sp>
        <p:nvSpPr>
          <p:cNvPr id="43" name="Text 38"/>
          <p:cNvSpPr txBox="1"/>
          <p:nvPr/>
        </p:nvSpPr>
        <p:spPr>
          <a:xfrm>
            <a:off x="4754880" y="2496312"/>
            <a:ext cx="2864815" cy="274320"/>
          </a:xfrm>
          <a:prstGeom prst="rect">
            <a:avLst/>
          </a:prstGeom>
          <a:noFill/>
          <a:ln/>
        </p:spPr>
        <p:txBody>
          <a:bodyPr wrap="square" lIns="0" tIns="0" rIns="0" bIns="0" rtlCol="0" anchor="ctr"/>
          <a:lstStyle/>
          <a:p>
            <a:pPr algn="ctr" indent="0" marL="0">
              <a:buNone/>
            </a:pPr>
            <a:r>
              <a:rPr lang="en-US" sz="1400" dirty="0">
                <a:solidFill>
                  <a:srgbClr val="97D8DB"/>
                </a:solidFill>
                <a:latin typeface="Calibri" pitchFamily="34" charset="0"/>
                <a:ea typeface="Calibri" pitchFamily="34" charset="-122"/>
                <a:cs typeface="Calibri" pitchFamily="34" charset="-120"/>
              </a:rPr>
              <a:t>/ 5.0</a:t>
            </a:r>
            <a:endParaRPr lang="en-US" sz="1400" dirty="0"/>
          </a:p>
        </p:txBody>
      </p:sp>
      <p:sp>
        <p:nvSpPr>
          <p:cNvPr id="44" name="Text 39"/>
          <p:cNvSpPr txBox="1"/>
          <p:nvPr/>
        </p:nvSpPr>
        <p:spPr>
          <a:xfrm>
            <a:off x="4892040" y="2825496"/>
            <a:ext cx="2590495" cy="274320"/>
          </a:xfrm>
          <a:prstGeom prst="rect">
            <a:avLst/>
          </a:prstGeom>
          <a:noFill/>
          <a:ln/>
        </p:spPr>
        <p:txBody>
          <a:bodyPr wrap="square" lIns="0" tIns="0" rIns="0" bIns="0" rtlCol="0" anchor="ctr"/>
          <a:lstStyle/>
          <a:p>
            <a:pPr algn="ctr" indent="0" marL="0">
              <a:buNone/>
            </a:pPr>
            <a:r>
              <a:rPr lang="en-US" sz="850" b="1" spc="40" kern="0" dirty="0">
                <a:solidFill>
                  <a:srgbClr val="8CBCE0"/>
                </a:solidFill>
                <a:latin typeface="Calibri" pitchFamily="34" charset="0"/>
                <a:ea typeface="Calibri" pitchFamily="34" charset="-122"/>
                <a:cs typeface="Calibri" pitchFamily="34" charset="-120"/>
              </a:rPr>
              <a:t>CALIFICACIÓN GENERAL PROMEDIO</a:t>
            </a:r>
            <a:endParaRPr lang="en-US" sz="850" dirty="0"/>
          </a:p>
        </p:txBody>
      </p:sp>
      <p:sp>
        <p:nvSpPr>
          <p:cNvPr id="45" name="Text 40"/>
          <p:cNvSpPr txBox="1"/>
          <p:nvPr/>
        </p:nvSpPr>
        <p:spPr>
          <a:xfrm>
            <a:off x="4892040" y="3163824"/>
            <a:ext cx="2590495" cy="548640"/>
          </a:xfrm>
          <a:prstGeom prst="rect">
            <a:avLst/>
          </a:prstGeom>
          <a:noFill/>
          <a:ln/>
        </p:spPr>
        <p:txBody>
          <a:bodyPr wrap="square" lIns="0" tIns="0" rIns="0" bIns="0" rtlCol="0" anchor="t"/>
          <a:lstStyle/>
          <a:p>
            <a:pPr algn="ctr" indent="0" marL="0">
              <a:lnSpc>
                <a:spcPct val="115000"/>
              </a:lnSpc>
              <a:buNone/>
            </a:pPr>
            <a:r>
              <a:rPr lang="en-US" sz="1000" dirty="0">
                <a:solidFill>
                  <a:srgbClr val="97D8DB"/>
                </a:solidFill>
                <a:latin typeface="Calibri" pitchFamily="34" charset="0"/>
                <a:ea typeface="Calibri" pitchFamily="34" charset="-122"/>
                <a:cs typeface="Calibri" pitchFamily="34" charset="-120"/>
              </a:rPr>
              <a:t>70.6% de las agencias calificó el servicio con nota 4</a:t>
            </a:r>
            <a:endParaRPr lang="en-US" sz="10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3B6C"/>
          </a:solidFill>
          <a:ln/>
        </p:spPr>
      </p:sp>
      <p:sp>
        <p:nvSpPr>
          <p:cNvPr id="3" name="Shape 1"/>
          <p:cNvSpPr/>
          <p:nvPr/>
        </p:nvSpPr>
        <p:spPr>
          <a:xfrm>
            <a:off x="0" y="0"/>
            <a:ext cx="4876678" cy="868680"/>
          </a:xfrm>
          <a:prstGeom prst="rect">
            <a:avLst/>
          </a:prstGeom>
          <a:solidFill>
            <a:srgbClr val="0A1F3B"/>
          </a:solidFill>
          <a:ln/>
        </p:spPr>
      </p:sp>
      <p:sp>
        <p:nvSpPr>
          <p:cNvPr id="4" name="Shape 2"/>
          <p:cNvSpPr/>
          <p:nvPr/>
        </p:nvSpPr>
        <p:spPr>
          <a:xfrm>
            <a:off x="10241024" y="0"/>
            <a:ext cx="1950671" cy="868680"/>
          </a:xfrm>
          <a:prstGeom prst="rect">
            <a:avLst/>
          </a:prstGeom>
          <a:solidFill>
            <a:srgbClr val="106B78"/>
          </a:solidFill>
          <a:ln/>
        </p:spPr>
      </p:sp>
      <p:sp>
        <p:nvSpPr>
          <p:cNvPr id="5" name="Shape 3"/>
          <p:cNvSpPr/>
          <p:nvPr/>
        </p:nvSpPr>
        <p:spPr>
          <a:xfrm>
            <a:off x="0" y="841248"/>
            <a:ext cx="12191695" cy="27432"/>
          </a:xfrm>
          <a:prstGeom prst="rect">
            <a:avLst/>
          </a:prstGeom>
          <a:solidFill>
            <a:srgbClr val="17A9B0"/>
          </a:solidFill>
          <a:ln/>
        </p:spPr>
      </p:sp>
      <p:sp>
        <p:nvSpPr>
          <p:cNvPr id="6" name="Text 4"/>
          <p:cNvSpPr txBox="1"/>
          <p:nvPr/>
        </p:nvSpPr>
        <p:spPr>
          <a:xfrm>
            <a:off x="411480" y="128016"/>
            <a:ext cx="9144000" cy="182880"/>
          </a:xfrm>
          <a:prstGeom prst="rect">
            <a:avLst/>
          </a:prstGeom>
          <a:noFill/>
          <a:ln/>
        </p:spPr>
        <p:txBody>
          <a:bodyPr wrap="square" lIns="0" tIns="0" rIns="0" bIns="0" rtlCol="0" anchor="ctr"/>
          <a:lstStyle/>
          <a:p>
            <a:pPr algn="l" indent="0" marL="0">
              <a:buNone/>
            </a:pPr>
            <a:r>
              <a:rPr lang="en-US" sz="950" b="1" spc="160" kern="0" dirty="0">
                <a:solidFill>
                  <a:srgbClr val="97D8DB"/>
                </a:solidFill>
                <a:latin typeface="Calibri" pitchFamily="34" charset="0"/>
                <a:ea typeface="Calibri" pitchFamily="34" charset="-122"/>
                <a:cs typeface="Calibri" pitchFamily="34" charset="-120"/>
              </a:rPr>
              <a:t>PRINCIPALES HALLAZGOS</a:t>
            </a:r>
            <a:endParaRPr lang="en-US" sz="950" dirty="0"/>
          </a:p>
        </p:txBody>
      </p:sp>
      <p:sp>
        <p:nvSpPr>
          <p:cNvPr id="7" name="Text 5"/>
          <p:cNvSpPr txBox="1"/>
          <p:nvPr/>
        </p:nvSpPr>
        <p:spPr>
          <a:xfrm>
            <a:off x="411480" y="320040"/>
            <a:ext cx="9875520" cy="475488"/>
          </a:xfrm>
          <a:prstGeom prst="rect">
            <a:avLst/>
          </a:prstGeom>
          <a:noFill/>
          <a:ln/>
        </p:spPr>
        <p:txBody>
          <a:bodyPr wrap="square" lIns="0" tIns="0" rIns="0" bIns="0" rtlCol="0" anchor="t"/>
          <a:lstStyle/>
          <a:p>
            <a:pPr algn="l" indent="0" marL="0">
              <a:lnSpc>
                <a:spcPct val="98000"/>
              </a:lnSpc>
              <a:buNone/>
            </a:pPr>
            <a:r>
              <a:rPr lang="en-US" sz="2200" b="1" dirty="0">
                <a:solidFill>
                  <a:srgbClr val="FFFFFF"/>
                </a:solidFill>
                <a:latin typeface="Calibri" pitchFamily="34" charset="0"/>
                <a:ea typeface="Calibri" pitchFamily="34" charset="-122"/>
                <a:cs typeface="Calibri" pitchFamily="34" charset="-120"/>
              </a:rPr>
              <a:t>Disonancia Operativa y Resiliencia de las Agencias</a:t>
            </a:r>
            <a:endParaRPr lang="en-US" sz="2200" dirty="0"/>
          </a:p>
        </p:txBody>
      </p:sp>
      <p:sp>
        <p:nvSpPr>
          <p:cNvPr id="8" name="Shape 6"/>
          <p:cNvSpPr/>
          <p:nvPr/>
        </p:nvSpPr>
        <p:spPr>
          <a:xfrm>
            <a:off x="11323015" y="219456"/>
            <a:ext cx="457200" cy="457200"/>
          </a:xfrm>
          <a:prstGeom prst="ellipse">
            <a:avLst/>
          </a:prstGeom>
          <a:solidFill>
            <a:srgbClr val="17A9B0"/>
          </a:solidFill>
          <a:ln/>
        </p:spPr>
      </p:sp>
      <p:sp>
        <p:nvSpPr>
          <p:cNvPr id="9" name="Text 7"/>
          <p:cNvSpPr txBox="1"/>
          <p:nvPr/>
        </p:nvSpPr>
        <p:spPr>
          <a:xfrm>
            <a:off x="11323015" y="2194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5</a:t>
            </a:r>
            <a:endParaRPr lang="en-US" sz="1600" dirty="0"/>
          </a:p>
        </p:txBody>
      </p:sp>
      <p:sp>
        <p:nvSpPr>
          <p:cNvPr id="10" name="Shape 8"/>
          <p:cNvSpPr/>
          <p:nvPr/>
        </p:nvSpPr>
        <p:spPr>
          <a:xfrm>
            <a:off x="0" y="6565392"/>
            <a:ext cx="12191695" cy="292608"/>
          </a:xfrm>
          <a:prstGeom prst="rect">
            <a:avLst/>
          </a:prstGeom>
          <a:solidFill>
            <a:srgbClr val="F2F5F9"/>
          </a:solidFill>
          <a:ln w="9525">
            <a:solidFill>
              <a:srgbClr val="DDE3EC"/>
            </a:solidFill>
            <a:prstDash val="solid"/>
          </a:ln>
        </p:spPr>
      </p:sp>
      <p:sp>
        <p:nvSpPr>
          <p:cNvPr id="11" name="Text 9"/>
          <p:cNvSpPr txBox="1"/>
          <p:nvPr/>
        </p:nvSpPr>
        <p:spPr>
          <a:xfrm>
            <a:off x="411480" y="6565392"/>
            <a:ext cx="4572000" cy="292608"/>
          </a:xfrm>
          <a:prstGeom prst="rect">
            <a:avLst/>
          </a:prstGeom>
          <a:noFill/>
          <a:ln/>
        </p:spPr>
        <p:txBody>
          <a:bodyPr wrap="square" lIns="0" tIns="0" rIns="0" bIns="0" rtlCol="0" anchor="ctr"/>
          <a:lstStyle/>
          <a:p>
            <a:pPr algn="l" indent="0" marL="0">
              <a:buNone/>
            </a:pPr>
            <a:r>
              <a:rPr lang="en-US" sz="850" b="1" dirty="0">
                <a:solidFill>
                  <a:srgbClr val="5B6B82"/>
                </a:solidFill>
                <a:latin typeface="Calibri" pitchFamily="34" charset="0"/>
                <a:ea typeface="Calibri" pitchFamily="34" charset="-122"/>
                <a:cs typeface="Calibri" pitchFamily="34" charset="-120"/>
              </a:rPr>
              <a:t>CONFIDENCIAL · Gerencia General</a:t>
            </a:r>
            <a:endParaRPr lang="en-US" sz="850" dirty="0"/>
          </a:p>
        </p:txBody>
      </p:sp>
      <p:sp>
        <p:nvSpPr>
          <p:cNvPr id="12" name="Text 10"/>
          <p:cNvSpPr txBox="1"/>
          <p:nvPr/>
        </p:nvSpPr>
        <p:spPr>
          <a:xfrm>
            <a:off x="7208215" y="6565392"/>
            <a:ext cx="4572000" cy="292608"/>
          </a:xfrm>
          <a:prstGeom prst="rect">
            <a:avLst/>
          </a:prstGeom>
          <a:noFill/>
          <a:ln/>
        </p:spPr>
        <p:txBody>
          <a:bodyPr wrap="square" lIns="0" tIns="0" rIns="0" bIns="0" rtlCol="0" anchor="ctr"/>
          <a:lstStyle/>
          <a:p>
            <a:pPr algn="r" indent="0" marL="0">
              <a:buNone/>
            </a:pPr>
            <a:r>
              <a:rPr lang="en-US" sz="850" dirty="0">
                <a:solidFill>
                  <a:srgbClr val="5B6B82"/>
                </a:solidFill>
                <a:latin typeface="Calibri" pitchFamily="34" charset="0"/>
                <a:ea typeface="Calibri" pitchFamily="34" charset="-122"/>
                <a:cs typeface="Calibri" pitchFamily="34" charset="-120"/>
              </a:rPr>
              <a:t>Análisis de Servicio EVERTEC · Encuesta a Agencias</a:t>
            </a:r>
            <a:endParaRPr lang="en-US" sz="850" dirty="0"/>
          </a:p>
        </p:txBody>
      </p:sp>
      <p:sp>
        <p:nvSpPr>
          <p:cNvPr id="13" name="Text 11"/>
          <p:cNvSpPr txBox="1"/>
          <p:nvPr/>
        </p:nvSpPr>
        <p:spPr>
          <a:xfrm>
            <a:off x="411480" y="1051560"/>
            <a:ext cx="10058400" cy="164592"/>
          </a:xfrm>
          <a:prstGeom prst="rect">
            <a:avLst/>
          </a:prstGeom>
          <a:noFill/>
          <a:ln/>
        </p:spPr>
        <p:txBody>
          <a:bodyPr wrap="square" lIns="0" tIns="0" rIns="0" bIns="0" rtlCol="0" anchor="ctr"/>
          <a:lstStyle/>
          <a:p>
            <a:pPr algn="l" indent="0" marL="0">
              <a:buNone/>
            </a:pPr>
            <a:r>
              <a:rPr lang="en-US" sz="800" i="1" dirty="0">
                <a:solidFill>
                  <a:srgbClr val="5B6B82"/>
                </a:solidFill>
                <a:latin typeface="Calibri" pitchFamily="34" charset="0"/>
                <a:ea typeface="Calibri" pitchFamily="34" charset="-122"/>
                <a:cs typeface="Calibri" pitchFamily="34" charset="-120"/>
              </a:rPr>
              <a:t>Layout: Viñetas con iconos — tres hallazgos clave</a:t>
            </a:r>
            <a:endParaRPr lang="en-US" sz="800" dirty="0"/>
          </a:p>
        </p:txBody>
      </p:sp>
      <p:sp>
        <p:nvSpPr>
          <p:cNvPr id="14" name="Shape 12"/>
          <p:cNvSpPr/>
          <p:nvPr/>
        </p:nvSpPr>
        <p:spPr>
          <a:xfrm>
            <a:off x="411480" y="1344168"/>
            <a:ext cx="384048" cy="384048"/>
          </a:xfrm>
          <a:prstGeom prst="ellipse">
            <a:avLst/>
          </a:prstGeom>
          <a:solidFill>
            <a:srgbClr val="EAF0F8"/>
          </a:solidFill>
          <a:ln/>
        </p:spPr>
      </p:sp>
      <p:pic>
        <p:nvPicPr>
          <p:cNvPr id="15" name="Image 0" descr="/tmp/claude-0/-home-user-riesgo/579fb8c8-70e5-51d5-80ec-6ed51cc2e8df/scratchpad/pptx-build/icons/zap_1B4F91.png">    </p:cNvPr>
          <p:cNvPicPr>
            <a:picLocks noChangeAspect="1"/>
          </p:cNvPicPr>
          <p:nvPr/>
        </p:nvPicPr>
        <p:blipFill>
          <a:blip r:embed="rId1"/>
          <a:stretch>
            <a:fillRect/>
          </a:stretch>
        </p:blipFill>
        <p:spPr>
          <a:xfrm>
            <a:off x="495971" y="1428659"/>
            <a:ext cx="215067" cy="215067"/>
          </a:xfrm>
          <a:prstGeom prst="rect">
            <a:avLst/>
          </a:prstGeom>
        </p:spPr>
      </p:pic>
      <p:sp>
        <p:nvSpPr>
          <p:cNvPr id="16" name="Text 13"/>
          <p:cNvSpPr txBox="1"/>
          <p:nvPr/>
        </p:nvSpPr>
        <p:spPr>
          <a:xfrm>
            <a:off x="960120" y="1316736"/>
            <a:ext cx="10820095" cy="237744"/>
          </a:xfrm>
          <a:prstGeom prst="rect">
            <a:avLst/>
          </a:prstGeom>
          <a:noFill/>
          <a:ln/>
        </p:spPr>
        <p:txBody>
          <a:bodyPr wrap="square" lIns="0" tIns="0" rIns="0" bIns="0" rtlCol="0" anchor="t"/>
          <a:lstStyle/>
          <a:p>
            <a:pPr algn="l" indent="0" marL="0">
              <a:buNone/>
            </a:pPr>
            <a:r>
              <a:rPr lang="en-US" sz="1400" b="1" dirty="0">
                <a:solidFill>
                  <a:srgbClr val="1B4F91"/>
                </a:solidFill>
                <a:latin typeface="Calibri" pitchFamily="34" charset="0"/>
                <a:ea typeface="Calibri" pitchFamily="34" charset="-122"/>
                <a:cs typeface="Calibri" pitchFamily="34" charset="-120"/>
              </a:rPr>
              <a:t>Disonancia Operativa</a:t>
            </a:r>
            <a:endParaRPr lang="en-US" sz="1400" dirty="0"/>
          </a:p>
        </p:txBody>
      </p:sp>
      <p:sp>
        <p:nvSpPr>
          <p:cNvPr id="17" name="Text 14"/>
          <p:cNvSpPr txBox="1"/>
          <p:nvPr/>
        </p:nvSpPr>
        <p:spPr>
          <a:xfrm>
            <a:off x="960120" y="1536192"/>
            <a:ext cx="10820095" cy="822960"/>
          </a:xfrm>
          <a:prstGeom prst="rect">
            <a:avLst/>
          </a:prstGeom>
          <a:noFill/>
          <a:ln/>
        </p:spPr>
        <p:txBody>
          <a:bodyPr wrap="square" lIns="0" tIns="0" rIns="0" bIns="0" rtlCol="0" anchor="t"/>
          <a:lstStyle/>
          <a:p>
            <a:pPr algn="l" indent="0" marL="0">
              <a:lnSpc>
                <a:spcPct val="115000"/>
              </a:lnSpc>
              <a:buNone/>
            </a:pPr>
            <a:r>
              <a:rPr lang="en-US" sz="1200" dirty="0">
                <a:solidFill>
                  <a:srgbClr val="243044"/>
                </a:solidFill>
                <a:latin typeface="Calibri" pitchFamily="34" charset="0"/>
                <a:ea typeface="Calibri" pitchFamily="34" charset="-122"/>
                <a:cs typeface="Calibri" pitchFamily="34" charset="-120"/>
              </a:rPr>
              <a:t>Existe una brecha entre la inestabilidad técnica reportada (88.2% de agencias con fallas) y la calificación general aceptable (3.71/5), lo que indica que las agencias han desarrollado mecanismos internos para amortiguar el impacto de las fallas ante los asociados.</a:t>
            </a:r>
            <a:endParaRPr lang="en-US" sz="1200" dirty="0"/>
          </a:p>
        </p:txBody>
      </p:sp>
      <p:sp>
        <p:nvSpPr>
          <p:cNvPr id="18" name="Shape 15"/>
          <p:cNvSpPr/>
          <p:nvPr/>
        </p:nvSpPr>
        <p:spPr>
          <a:xfrm>
            <a:off x="411480" y="2212848"/>
            <a:ext cx="384048" cy="384048"/>
          </a:xfrm>
          <a:prstGeom prst="ellipse">
            <a:avLst/>
          </a:prstGeom>
          <a:solidFill>
            <a:srgbClr val="E4F5F3"/>
          </a:solidFill>
          <a:ln/>
        </p:spPr>
      </p:sp>
      <p:pic>
        <p:nvPicPr>
          <p:cNvPr id="19" name="Image 1" descr="/tmp/claude-0/-home-user-riesgo/579fb8c8-70e5-51d5-80ec-6ed51cc2e8df/scratchpad/pptx-build/icons/shield_0F766E.png">    </p:cNvPr>
          <p:cNvPicPr>
            <a:picLocks noChangeAspect="1"/>
          </p:cNvPicPr>
          <p:nvPr/>
        </p:nvPicPr>
        <p:blipFill>
          <a:blip r:embed="rId2"/>
          <a:stretch>
            <a:fillRect/>
          </a:stretch>
        </p:blipFill>
        <p:spPr>
          <a:xfrm>
            <a:off x="495971" y="2297339"/>
            <a:ext cx="215067" cy="215067"/>
          </a:xfrm>
          <a:prstGeom prst="rect">
            <a:avLst/>
          </a:prstGeom>
        </p:spPr>
      </p:pic>
      <p:sp>
        <p:nvSpPr>
          <p:cNvPr id="20" name="Text 16"/>
          <p:cNvSpPr txBox="1"/>
          <p:nvPr/>
        </p:nvSpPr>
        <p:spPr>
          <a:xfrm>
            <a:off x="960120" y="2185416"/>
            <a:ext cx="10820095" cy="237744"/>
          </a:xfrm>
          <a:prstGeom prst="rect">
            <a:avLst/>
          </a:prstGeom>
          <a:noFill/>
          <a:ln/>
        </p:spPr>
        <p:txBody>
          <a:bodyPr wrap="square" lIns="0" tIns="0" rIns="0" bIns="0" rtlCol="0" anchor="t"/>
          <a:lstStyle/>
          <a:p>
            <a:pPr algn="l" indent="0" marL="0">
              <a:buNone/>
            </a:pPr>
            <a:r>
              <a:rPr lang="en-US" sz="1400" b="1" dirty="0">
                <a:solidFill>
                  <a:srgbClr val="0F766E"/>
                </a:solidFill>
                <a:latin typeface="Calibri" pitchFamily="34" charset="0"/>
                <a:ea typeface="Calibri" pitchFamily="34" charset="-122"/>
                <a:cs typeface="Calibri" pitchFamily="34" charset="-120"/>
              </a:rPr>
              <a:t>Resiliencia de las Agencias</a:t>
            </a:r>
            <a:endParaRPr lang="en-US" sz="1400" dirty="0"/>
          </a:p>
        </p:txBody>
      </p:sp>
      <p:sp>
        <p:nvSpPr>
          <p:cNvPr id="21" name="Text 17"/>
          <p:cNvSpPr txBox="1"/>
          <p:nvPr/>
        </p:nvSpPr>
        <p:spPr>
          <a:xfrm>
            <a:off x="960120" y="2404872"/>
            <a:ext cx="10820095" cy="822960"/>
          </a:xfrm>
          <a:prstGeom prst="rect">
            <a:avLst/>
          </a:prstGeom>
          <a:noFill/>
          <a:ln/>
        </p:spPr>
        <p:txBody>
          <a:bodyPr wrap="square" lIns="0" tIns="0" rIns="0" bIns="0" rtlCol="0" anchor="t"/>
          <a:lstStyle/>
          <a:p>
            <a:pPr algn="l" indent="0" marL="0">
              <a:lnSpc>
                <a:spcPct val="115000"/>
              </a:lnSpc>
              <a:buNone/>
            </a:pPr>
            <a:r>
              <a:rPr lang="en-US" sz="1200" dirty="0">
                <a:solidFill>
                  <a:srgbClr val="243044"/>
                </a:solidFill>
                <a:latin typeface="Calibri" pitchFamily="34" charset="0"/>
                <a:ea typeface="Calibri" pitchFamily="34" charset="-122"/>
                <a:cs typeface="Calibri" pitchFamily="34" charset="-120"/>
              </a:rPr>
              <a:t>El soporte oportuno (70.6%) actúa como principal amortiguador, permitiendo sostener la operación diaria pese a la inestabilidad de la plataforma tecnológica de EVERTEC.</a:t>
            </a:r>
            <a:endParaRPr lang="en-US" sz="1200" dirty="0"/>
          </a:p>
        </p:txBody>
      </p:sp>
      <p:sp>
        <p:nvSpPr>
          <p:cNvPr id="22" name="Shape 18"/>
          <p:cNvSpPr/>
          <p:nvPr/>
        </p:nvSpPr>
        <p:spPr>
          <a:xfrm>
            <a:off x="411480" y="3081528"/>
            <a:ext cx="384048" cy="384048"/>
          </a:xfrm>
          <a:prstGeom prst="ellipse">
            <a:avLst/>
          </a:prstGeom>
          <a:solidFill>
            <a:srgbClr val="FBE9E7"/>
          </a:solidFill>
          <a:ln/>
        </p:spPr>
      </p:sp>
      <p:pic>
        <p:nvPicPr>
          <p:cNvPr id="23" name="Image 2" descr="/tmp/claude-0/-home-user-riesgo/579fb8c8-70e5-51d5-80ec-6ed51cc2e8df/scratchpad/pptx-build/icons/alerttriangle_E0392B.png">    </p:cNvPr>
          <p:cNvPicPr>
            <a:picLocks noChangeAspect="1"/>
          </p:cNvPicPr>
          <p:nvPr/>
        </p:nvPicPr>
        <p:blipFill>
          <a:blip r:embed="rId3"/>
          <a:stretch>
            <a:fillRect/>
          </a:stretch>
        </p:blipFill>
        <p:spPr>
          <a:xfrm>
            <a:off x="495971" y="3166019"/>
            <a:ext cx="215067" cy="215067"/>
          </a:xfrm>
          <a:prstGeom prst="rect">
            <a:avLst/>
          </a:prstGeom>
        </p:spPr>
      </p:pic>
      <p:sp>
        <p:nvSpPr>
          <p:cNvPr id="24" name="Text 19"/>
          <p:cNvSpPr txBox="1"/>
          <p:nvPr/>
        </p:nvSpPr>
        <p:spPr>
          <a:xfrm>
            <a:off x="960120" y="3054096"/>
            <a:ext cx="10820095" cy="237744"/>
          </a:xfrm>
          <a:prstGeom prst="rect">
            <a:avLst/>
          </a:prstGeom>
          <a:noFill/>
          <a:ln/>
        </p:spPr>
        <p:txBody>
          <a:bodyPr wrap="square" lIns="0" tIns="0" rIns="0" bIns="0" rtlCol="0" anchor="t"/>
          <a:lstStyle/>
          <a:p>
            <a:pPr algn="l" indent="0" marL="0">
              <a:buNone/>
            </a:pPr>
            <a:r>
              <a:rPr lang="en-US" sz="1400" b="1" dirty="0">
                <a:solidFill>
                  <a:srgbClr val="E0392B"/>
                </a:solidFill>
                <a:latin typeface="Calibri" pitchFamily="34" charset="0"/>
                <a:ea typeface="Calibri" pitchFamily="34" charset="-122"/>
                <a:cs typeface="Calibri" pitchFamily="34" charset="-120"/>
              </a:rPr>
              <a:t>Riesgo Latente de Erosión de Confianza</a:t>
            </a:r>
            <a:endParaRPr lang="en-US" sz="1400" dirty="0"/>
          </a:p>
        </p:txBody>
      </p:sp>
      <p:sp>
        <p:nvSpPr>
          <p:cNvPr id="25" name="Text 20"/>
          <p:cNvSpPr txBox="1"/>
          <p:nvPr/>
        </p:nvSpPr>
        <p:spPr>
          <a:xfrm>
            <a:off x="960120" y="3273552"/>
            <a:ext cx="10820095" cy="822960"/>
          </a:xfrm>
          <a:prstGeom prst="rect">
            <a:avLst/>
          </a:prstGeom>
          <a:noFill/>
          <a:ln/>
        </p:spPr>
        <p:txBody>
          <a:bodyPr wrap="square" lIns="0" tIns="0" rIns="0" bIns="0" rtlCol="0" anchor="t"/>
          <a:lstStyle/>
          <a:p>
            <a:pPr algn="l" indent="0" marL="0">
              <a:lnSpc>
                <a:spcPct val="115000"/>
              </a:lnSpc>
              <a:buNone/>
            </a:pPr>
            <a:r>
              <a:rPr lang="en-US" sz="1200" dirty="0">
                <a:solidFill>
                  <a:srgbClr val="243044"/>
                </a:solidFill>
                <a:latin typeface="Calibri" pitchFamily="34" charset="0"/>
                <a:ea typeface="Calibri" pitchFamily="34" charset="-122"/>
                <a:cs typeface="Calibri" pitchFamily="34" charset="-120"/>
              </a:rPr>
              <a:t>El alto nivel de reclamos de asociados (76.5% frecuente o algunas veces) sugiere que la resiliencia operativa tiene un límite y podría no ser sostenible si las fallas persisten o aumentan en frecuencia.</a:t>
            </a:r>
            <a:endParaRPr lang="en-US" sz="12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3B6C"/>
          </a:solidFill>
          <a:ln/>
        </p:spPr>
      </p:sp>
      <p:sp>
        <p:nvSpPr>
          <p:cNvPr id="3" name="Shape 1"/>
          <p:cNvSpPr/>
          <p:nvPr/>
        </p:nvSpPr>
        <p:spPr>
          <a:xfrm>
            <a:off x="0" y="0"/>
            <a:ext cx="4876678" cy="868680"/>
          </a:xfrm>
          <a:prstGeom prst="rect">
            <a:avLst/>
          </a:prstGeom>
          <a:solidFill>
            <a:srgbClr val="0A1F3B"/>
          </a:solidFill>
          <a:ln/>
        </p:spPr>
      </p:sp>
      <p:sp>
        <p:nvSpPr>
          <p:cNvPr id="4" name="Shape 2"/>
          <p:cNvSpPr/>
          <p:nvPr/>
        </p:nvSpPr>
        <p:spPr>
          <a:xfrm>
            <a:off x="10241024" y="0"/>
            <a:ext cx="1950671" cy="868680"/>
          </a:xfrm>
          <a:prstGeom prst="rect">
            <a:avLst/>
          </a:prstGeom>
          <a:solidFill>
            <a:srgbClr val="106B78"/>
          </a:solidFill>
          <a:ln/>
        </p:spPr>
      </p:sp>
      <p:sp>
        <p:nvSpPr>
          <p:cNvPr id="5" name="Shape 3"/>
          <p:cNvSpPr/>
          <p:nvPr/>
        </p:nvSpPr>
        <p:spPr>
          <a:xfrm>
            <a:off x="0" y="841248"/>
            <a:ext cx="12191695" cy="27432"/>
          </a:xfrm>
          <a:prstGeom prst="rect">
            <a:avLst/>
          </a:prstGeom>
          <a:solidFill>
            <a:srgbClr val="17A9B0"/>
          </a:solidFill>
          <a:ln/>
        </p:spPr>
      </p:sp>
      <p:sp>
        <p:nvSpPr>
          <p:cNvPr id="6" name="Text 4"/>
          <p:cNvSpPr txBox="1"/>
          <p:nvPr/>
        </p:nvSpPr>
        <p:spPr>
          <a:xfrm>
            <a:off x="411480" y="128016"/>
            <a:ext cx="9144000" cy="182880"/>
          </a:xfrm>
          <a:prstGeom prst="rect">
            <a:avLst/>
          </a:prstGeom>
          <a:noFill/>
          <a:ln/>
        </p:spPr>
        <p:txBody>
          <a:bodyPr wrap="square" lIns="0" tIns="0" rIns="0" bIns="0" rtlCol="0" anchor="ctr"/>
          <a:lstStyle/>
          <a:p>
            <a:pPr algn="l" indent="0" marL="0">
              <a:buNone/>
            </a:pPr>
            <a:r>
              <a:rPr lang="en-US" sz="950" b="1" spc="160" kern="0" dirty="0">
                <a:solidFill>
                  <a:srgbClr val="97D8DB"/>
                </a:solidFill>
                <a:latin typeface="Calibri" pitchFamily="34" charset="0"/>
                <a:ea typeface="Calibri" pitchFamily="34" charset="-122"/>
                <a:cs typeface="Calibri" pitchFamily="34" charset="-120"/>
              </a:rPr>
              <a:t>ANÁLISIS CUALITATIVO</a:t>
            </a:r>
            <a:endParaRPr lang="en-US" sz="950" dirty="0"/>
          </a:p>
        </p:txBody>
      </p:sp>
      <p:sp>
        <p:nvSpPr>
          <p:cNvPr id="7" name="Text 5"/>
          <p:cNvSpPr txBox="1"/>
          <p:nvPr/>
        </p:nvSpPr>
        <p:spPr>
          <a:xfrm>
            <a:off x="411480" y="320040"/>
            <a:ext cx="9875520" cy="475488"/>
          </a:xfrm>
          <a:prstGeom prst="rect">
            <a:avLst/>
          </a:prstGeom>
          <a:noFill/>
          <a:ln/>
        </p:spPr>
        <p:txBody>
          <a:bodyPr wrap="square" lIns="0" tIns="0" rIns="0" bIns="0" rtlCol="0" anchor="t"/>
          <a:lstStyle/>
          <a:p>
            <a:pPr algn="l" indent="0" marL="0">
              <a:lnSpc>
                <a:spcPct val="98000"/>
              </a:lnSpc>
              <a:buNone/>
            </a:pPr>
            <a:r>
              <a:rPr lang="en-US" sz="2200" b="1" dirty="0">
                <a:solidFill>
                  <a:srgbClr val="FFFFFF"/>
                </a:solidFill>
                <a:latin typeface="Calibri" pitchFamily="34" charset="0"/>
                <a:ea typeface="Calibri" pitchFamily="34" charset="-122"/>
                <a:cs typeface="Calibri" pitchFamily="34" charset="-120"/>
              </a:rPr>
              <a:t>Análisis de Comentarios Abiertos por Categoría Crítica</a:t>
            </a:r>
            <a:endParaRPr lang="en-US" sz="2200" dirty="0"/>
          </a:p>
        </p:txBody>
      </p:sp>
      <p:sp>
        <p:nvSpPr>
          <p:cNvPr id="8" name="Shape 6"/>
          <p:cNvSpPr/>
          <p:nvPr/>
        </p:nvSpPr>
        <p:spPr>
          <a:xfrm>
            <a:off x="11323015" y="219456"/>
            <a:ext cx="457200" cy="457200"/>
          </a:xfrm>
          <a:prstGeom prst="ellipse">
            <a:avLst/>
          </a:prstGeom>
          <a:solidFill>
            <a:srgbClr val="17A9B0"/>
          </a:solidFill>
          <a:ln/>
        </p:spPr>
      </p:sp>
      <p:sp>
        <p:nvSpPr>
          <p:cNvPr id="9" name="Text 7"/>
          <p:cNvSpPr txBox="1"/>
          <p:nvPr/>
        </p:nvSpPr>
        <p:spPr>
          <a:xfrm>
            <a:off x="11323015" y="2194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6</a:t>
            </a:r>
            <a:endParaRPr lang="en-US" sz="1600" dirty="0"/>
          </a:p>
        </p:txBody>
      </p:sp>
      <p:sp>
        <p:nvSpPr>
          <p:cNvPr id="10" name="Shape 8"/>
          <p:cNvSpPr/>
          <p:nvPr/>
        </p:nvSpPr>
        <p:spPr>
          <a:xfrm>
            <a:off x="0" y="6565392"/>
            <a:ext cx="12191695" cy="292608"/>
          </a:xfrm>
          <a:prstGeom prst="rect">
            <a:avLst/>
          </a:prstGeom>
          <a:solidFill>
            <a:srgbClr val="F2F5F9"/>
          </a:solidFill>
          <a:ln w="9525">
            <a:solidFill>
              <a:srgbClr val="DDE3EC"/>
            </a:solidFill>
            <a:prstDash val="solid"/>
          </a:ln>
        </p:spPr>
      </p:sp>
      <p:sp>
        <p:nvSpPr>
          <p:cNvPr id="11" name="Text 9"/>
          <p:cNvSpPr txBox="1"/>
          <p:nvPr/>
        </p:nvSpPr>
        <p:spPr>
          <a:xfrm>
            <a:off x="411480" y="6565392"/>
            <a:ext cx="4572000" cy="292608"/>
          </a:xfrm>
          <a:prstGeom prst="rect">
            <a:avLst/>
          </a:prstGeom>
          <a:noFill/>
          <a:ln/>
        </p:spPr>
        <p:txBody>
          <a:bodyPr wrap="square" lIns="0" tIns="0" rIns="0" bIns="0" rtlCol="0" anchor="ctr"/>
          <a:lstStyle/>
          <a:p>
            <a:pPr algn="l" indent="0" marL="0">
              <a:buNone/>
            </a:pPr>
            <a:r>
              <a:rPr lang="en-US" sz="850" b="1" dirty="0">
                <a:solidFill>
                  <a:srgbClr val="5B6B82"/>
                </a:solidFill>
                <a:latin typeface="Calibri" pitchFamily="34" charset="0"/>
                <a:ea typeface="Calibri" pitchFamily="34" charset="-122"/>
                <a:cs typeface="Calibri" pitchFamily="34" charset="-120"/>
              </a:rPr>
              <a:t>CONFIDENCIAL · Gerencia General</a:t>
            </a:r>
            <a:endParaRPr lang="en-US" sz="850" dirty="0"/>
          </a:p>
        </p:txBody>
      </p:sp>
      <p:sp>
        <p:nvSpPr>
          <p:cNvPr id="12" name="Text 10"/>
          <p:cNvSpPr txBox="1"/>
          <p:nvPr/>
        </p:nvSpPr>
        <p:spPr>
          <a:xfrm>
            <a:off x="7208215" y="6565392"/>
            <a:ext cx="4572000" cy="292608"/>
          </a:xfrm>
          <a:prstGeom prst="rect">
            <a:avLst/>
          </a:prstGeom>
          <a:noFill/>
          <a:ln/>
        </p:spPr>
        <p:txBody>
          <a:bodyPr wrap="square" lIns="0" tIns="0" rIns="0" bIns="0" rtlCol="0" anchor="ctr"/>
          <a:lstStyle/>
          <a:p>
            <a:pPr algn="r" indent="0" marL="0">
              <a:buNone/>
            </a:pPr>
            <a:r>
              <a:rPr lang="en-US" sz="850" dirty="0">
                <a:solidFill>
                  <a:srgbClr val="5B6B82"/>
                </a:solidFill>
                <a:latin typeface="Calibri" pitchFamily="34" charset="0"/>
                <a:ea typeface="Calibri" pitchFamily="34" charset="-122"/>
                <a:cs typeface="Calibri" pitchFamily="34" charset="-120"/>
              </a:rPr>
              <a:t>Análisis de Servicio EVERTEC · Encuesta a Agencias</a:t>
            </a:r>
            <a:endParaRPr lang="en-US" sz="850" dirty="0"/>
          </a:p>
        </p:txBody>
      </p:sp>
      <p:sp>
        <p:nvSpPr>
          <p:cNvPr id="13" name="Text 11"/>
          <p:cNvSpPr txBox="1"/>
          <p:nvPr/>
        </p:nvSpPr>
        <p:spPr>
          <a:xfrm>
            <a:off x="411480" y="1051560"/>
            <a:ext cx="10058400" cy="164592"/>
          </a:xfrm>
          <a:prstGeom prst="rect">
            <a:avLst/>
          </a:prstGeom>
          <a:noFill/>
          <a:ln/>
        </p:spPr>
        <p:txBody>
          <a:bodyPr wrap="square" lIns="0" tIns="0" rIns="0" bIns="0" rtlCol="0" anchor="ctr"/>
          <a:lstStyle/>
          <a:p>
            <a:pPr algn="l" indent="0" marL="0">
              <a:buNone/>
            </a:pPr>
            <a:r>
              <a:rPr lang="en-US" sz="800" i="1" dirty="0">
                <a:solidFill>
                  <a:srgbClr val="5B6B82"/>
                </a:solidFill>
                <a:latin typeface="Calibri" pitchFamily="34" charset="0"/>
                <a:ea typeface="Calibri" pitchFamily="34" charset="-122"/>
                <a:cs typeface="Calibri" pitchFamily="34" charset="-120"/>
              </a:rPr>
              <a:t>Layout: Viñetas con iconos — 4 categorías críticas identificadas</a:t>
            </a:r>
            <a:endParaRPr lang="en-US" sz="800" dirty="0"/>
          </a:p>
        </p:txBody>
      </p:sp>
      <p:sp>
        <p:nvSpPr>
          <p:cNvPr id="14" name="Shape 12"/>
          <p:cNvSpPr/>
          <p:nvPr/>
        </p:nvSpPr>
        <p:spPr>
          <a:xfrm>
            <a:off x="411480" y="1344168"/>
            <a:ext cx="5524348" cy="2418588"/>
          </a:xfrm>
          <a:prstGeom prst="roundRect">
            <a:avLst>
              <a:gd name="adj" fmla="val 3025"/>
            </a:avLst>
          </a:prstGeom>
          <a:solidFill>
            <a:srgbClr val="FFFFFF"/>
          </a:solidFill>
          <a:ln/>
          <a:effectLst>
            <a:outerShdw sx="100000" sy="100000" kx="0" ky="0" algn="bl" rotWithShape="0" blurRad="76200" dist="25400" dir="5400000">
              <a:srgbClr val="0F2F4E">
                <a:alpha val="14000"/>
              </a:srgbClr>
            </a:outerShdw>
          </a:effectLst>
        </p:spPr>
      </p:sp>
      <p:sp>
        <p:nvSpPr>
          <p:cNvPr id="15" name="Shape 13"/>
          <p:cNvSpPr/>
          <p:nvPr/>
        </p:nvSpPr>
        <p:spPr>
          <a:xfrm>
            <a:off x="411480" y="1344168"/>
            <a:ext cx="5524348" cy="45720"/>
          </a:xfrm>
          <a:prstGeom prst="rect">
            <a:avLst/>
          </a:prstGeom>
          <a:solidFill>
            <a:srgbClr val="1D63A1"/>
          </a:solidFill>
          <a:ln/>
        </p:spPr>
      </p:sp>
      <p:sp>
        <p:nvSpPr>
          <p:cNvPr id="16" name="Shape 14"/>
          <p:cNvSpPr/>
          <p:nvPr/>
        </p:nvSpPr>
        <p:spPr>
          <a:xfrm>
            <a:off x="594360" y="1527048"/>
            <a:ext cx="384048" cy="384048"/>
          </a:xfrm>
          <a:prstGeom prst="ellipse">
            <a:avLst/>
          </a:prstGeom>
          <a:solidFill>
            <a:srgbClr val="E8F1FA"/>
          </a:solidFill>
          <a:ln/>
        </p:spPr>
      </p:sp>
      <p:pic>
        <p:nvPicPr>
          <p:cNvPr id="17" name="Image 0" descr="/tmp/claude-0/-home-user-riesgo/579fb8c8-70e5-51d5-80ec-6ed51cc2e8df/scratchpad/pptx-build/icons/refreshcw_1D63A1.png">    </p:cNvPr>
          <p:cNvPicPr>
            <a:picLocks noChangeAspect="1"/>
          </p:cNvPicPr>
          <p:nvPr/>
        </p:nvPicPr>
        <p:blipFill>
          <a:blip r:embed="rId1"/>
          <a:stretch>
            <a:fillRect/>
          </a:stretch>
        </p:blipFill>
        <p:spPr>
          <a:xfrm>
            <a:off x="678851" y="1611539"/>
            <a:ext cx="215067" cy="215067"/>
          </a:xfrm>
          <a:prstGeom prst="rect">
            <a:avLst/>
          </a:prstGeom>
        </p:spPr>
      </p:pic>
      <p:sp>
        <p:nvSpPr>
          <p:cNvPr id="18" name="Text 15"/>
          <p:cNvSpPr txBox="1"/>
          <p:nvPr/>
        </p:nvSpPr>
        <p:spPr>
          <a:xfrm>
            <a:off x="1143000" y="1499616"/>
            <a:ext cx="4609948" cy="237744"/>
          </a:xfrm>
          <a:prstGeom prst="rect">
            <a:avLst/>
          </a:prstGeom>
          <a:noFill/>
          <a:ln/>
        </p:spPr>
        <p:txBody>
          <a:bodyPr wrap="square" lIns="0" tIns="0" rIns="0" bIns="0" rtlCol="0" anchor="t"/>
          <a:lstStyle/>
          <a:p>
            <a:pPr algn="l" indent="0" marL="0">
              <a:buNone/>
            </a:pPr>
            <a:r>
              <a:rPr lang="en-US" sz="1250" b="1" dirty="0">
                <a:solidFill>
                  <a:srgbClr val="1D63A1"/>
                </a:solidFill>
                <a:latin typeface="Calibri" pitchFamily="34" charset="0"/>
                <a:ea typeface="Calibri" pitchFamily="34" charset="-122"/>
                <a:cs typeface="Calibri" pitchFamily="34" charset="-120"/>
              </a:rPr>
              <a:t>Reversas y Conciliación</a:t>
            </a:r>
            <a:endParaRPr lang="en-US" sz="1250" dirty="0"/>
          </a:p>
        </p:txBody>
      </p:sp>
      <p:sp>
        <p:nvSpPr>
          <p:cNvPr id="19" name="Text 16"/>
          <p:cNvSpPr txBox="1"/>
          <p:nvPr/>
        </p:nvSpPr>
        <p:spPr>
          <a:xfrm>
            <a:off x="1143000" y="1719072"/>
            <a:ext cx="4609948" cy="822960"/>
          </a:xfrm>
          <a:prstGeom prst="rect">
            <a:avLst/>
          </a:prstGeom>
          <a:noFill/>
          <a:ln/>
        </p:spPr>
        <p:txBody>
          <a:bodyPr wrap="square" lIns="0" tIns="0" rIns="0" bIns="0" rtlCol="0" anchor="t"/>
          <a:lstStyle/>
          <a:p>
            <a:pPr algn="l" indent="0" marL="0">
              <a:lnSpc>
                <a:spcPct val="115000"/>
              </a:lnSpc>
              <a:buNone/>
            </a:pPr>
            <a:r>
              <a:rPr lang="en-US" sz="1050" dirty="0">
                <a:solidFill>
                  <a:srgbClr val="243044"/>
                </a:solidFill>
                <a:latin typeface="Calibri" pitchFamily="34" charset="0"/>
                <a:ea typeface="Calibri" pitchFamily="34" charset="-122"/>
                <a:cs typeface="Calibri" pitchFamily="34" charset="-120"/>
              </a:rPr>
              <a:t>Desfase entre reversas aceptadas y rechazadas por EVERTEC, generando descuadres contables y reprocesos manuales en las agencias.</a:t>
            </a:r>
            <a:endParaRPr lang="en-US" sz="1050" dirty="0"/>
          </a:p>
        </p:txBody>
      </p:sp>
      <p:sp>
        <p:nvSpPr>
          <p:cNvPr id="20" name="Shape 17"/>
          <p:cNvSpPr/>
          <p:nvPr/>
        </p:nvSpPr>
        <p:spPr>
          <a:xfrm>
            <a:off x="6255868" y="1344168"/>
            <a:ext cx="5524348" cy="2418588"/>
          </a:xfrm>
          <a:prstGeom prst="roundRect">
            <a:avLst>
              <a:gd name="adj" fmla="val 3025"/>
            </a:avLst>
          </a:prstGeom>
          <a:solidFill>
            <a:srgbClr val="FFFFFF"/>
          </a:solidFill>
          <a:ln/>
          <a:effectLst>
            <a:outerShdw sx="100000" sy="100000" kx="0" ky="0" algn="bl" rotWithShape="0" blurRad="76200" dist="25400" dir="5400000">
              <a:srgbClr val="0F2F4E">
                <a:alpha val="14000"/>
              </a:srgbClr>
            </a:outerShdw>
          </a:effectLst>
        </p:spPr>
      </p:sp>
      <p:sp>
        <p:nvSpPr>
          <p:cNvPr id="21" name="Shape 18"/>
          <p:cNvSpPr/>
          <p:nvPr/>
        </p:nvSpPr>
        <p:spPr>
          <a:xfrm>
            <a:off x="6255868" y="1344168"/>
            <a:ext cx="5524348" cy="45720"/>
          </a:xfrm>
          <a:prstGeom prst="rect">
            <a:avLst/>
          </a:prstGeom>
          <a:solidFill>
            <a:srgbClr val="E0392B"/>
          </a:solidFill>
          <a:ln/>
        </p:spPr>
      </p:sp>
      <p:sp>
        <p:nvSpPr>
          <p:cNvPr id="22" name="Shape 19"/>
          <p:cNvSpPr/>
          <p:nvPr/>
        </p:nvSpPr>
        <p:spPr>
          <a:xfrm>
            <a:off x="6438748" y="1527048"/>
            <a:ext cx="384048" cy="384048"/>
          </a:xfrm>
          <a:prstGeom prst="ellipse">
            <a:avLst/>
          </a:prstGeom>
          <a:solidFill>
            <a:srgbClr val="FBE9E7"/>
          </a:solidFill>
          <a:ln/>
        </p:spPr>
      </p:sp>
      <p:pic>
        <p:nvPicPr>
          <p:cNvPr id="23" name="Image 1" descr="/tmp/claude-0/-home-user-riesgo/579fb8c8-70e5-51d5-80ec-6ed51cc2e8df/scratchpad/pptx-build/icons/copy_E0392B.png">    </p:cNvPr>
          <p:cNvPicPr>
            <a:picLocks noChangeAspect="1"/>
          </p:cNvPicPr>
          <p:nvPr/>
        </p:nvPicPr>
        <p:blipFill>
          <a:blip r:embed="rId2"/>
          <a:stretch>
            <a:fillRect/>
          </a:stretch>
        </p:blipFill>
        <p:spPr>
          <a:xfrm>
            <a:off x="6523238" y="1611539"/>
            <a:ext cx="215067" cy="215067"/>
          </a:xfrm>
          <a:prstGeom prst="rect">
            <a:avLst/>
          </a:prstGeom>
        </p:spPr>
      </p:pic>
      <p:sp>
        <p:nvSpPr>
          <p:cNvPr id="24" name="Text 20"/>
          <p:cNvSpPr txBox="1"/>
          <p:nvPr/>
        </p:nvSpPr>
        <p:spPr>
          <a:xfrm>
            <a:off x="6987388" y="1499616"/>
            <a:ext cx="4609948" cy="237744"/>
          </a:xfrm>
          <a:prstGeom prst="rect">
            <a:avLst/>
          </a:prstGeom>
          <a:noFill/>
          <a:ln/>
        </p:spPr>
        <p:txBody>
          <a:bodyPr wrap="square" lIns="0" tIns="0" rIns="0" bIns="0" rtlCol="0" anchor="t"/>
          <a:lstStyle/>
          <a:p>
            <a:pPr algn="l" indent="0" marL="0">
              <a:buNone/>
            </a:pPr>
            <a:r>
              <a:rPr lang="en-US" sz="1250" b="1" dirty="0">
                <a:solidFill>
                  <a:srgbClr val="E0392B"/>
                </a:solidFill>
                <a:latin typeface="Calibri" pitchFamily="34" charset="0"/>
                <a:ea typeface="Calibri" pitchFamily="34" charset="-122"/>
                <a:cs typeface="Calibri" pitchFamily="34" charset="-120"/>
              </a:rPr>
              <a:t>Duplicidad de Pagos</a:t>
            </a:r>
            <a:endParaRPr lang="en-US" sz="1250" dirty="0"/>
          </a:p>
        </p:txBody>
      </p:sp>
      <p:sp>
        <p:nvSpPr>
          <p:cNvPr id="25" name="Text 21"/>
          <p:cNvSpPr txBox="1"/>
          <p:nvPr/>
        </p:nvSpPr>
        <p:spPr>
          <a:xfrm>
            <a:off x="6987388" y="1719072"/>
            <a:ext cx="4609948" cy="822960"/>
          </a:xfrm>
          <a:prstGeom prst="rect">
            <a:avLst/>
          </a:prstGeom>
          <a:noFill/>
          <a:ln/>
        </p:spPr>
        <p:txBody>
          <a:bodyPr wrap="square" lIns="0" tIns="0" rIns="0" bIns="0" rtlCol="0" anchor="t"/>
          <a:lstStyle/>
          <a:p>
            <a:pPr algn="l" indent="0" marL="0">
              <a:lnSpc>
                <a:spcPct val="115000"/>
              </a:lnSpc>
              <a:buNone/>
            </a:pPr>
            <a:r>
              <a:rPr lang="en-US" sz="1050" dirty="0">
                <a:solidFill>
                  <a:srgbClr val="243044"/>
                </a:solidFill>
                <a:latin typeface="Calibri" pitchFamily="34" charset="0"/>
                <a:ea typeface="Calibri" pitchFamily="34" charset="-122"/>
                <a:cs typeface="Calibri" pitchFamily="34" charset="-120"/>
              </a:rPr>
              <a:t>Cobros duplicados a asociados durante caídas del sistema, con impacto directo en la confianza del cliente final.</a:t>
            </a:r>
            <a:endParaRPr lang="en-US" sz="1050" dirty="0"/>
          </a:p>
        </p:txBody>
      </p:sp>
      <p:sp>
        <p:nvSpPr>
          <p:cNvPr id="26" name="Shape 22"/>
          <p:cNvSpPr/>
          <p:nvPr/>
        </p:nvSpPr>
        <p:spPr>
          <a:xfrm>
            <a:off x="411480" y="3982212"/>
            <a:ext cx="5524348" cy="2418588"/>
          </a:xfrm>
          <a:prstGeom prst="roundRect">
            <a:avLst>
              <a:gd name="adj" fmla="val 3025"/>
            </a:avLst>
          </a:prstGeom>
          <a:solidFill>
            <a:srgbClr val="FFFFFF"/>
          </a:solidFill>
          <a:ln/>
          <a:effectLst>
            <a:outerShdw sx="100000" sy="100000" kx="0" ky="0" algn="bl" rotWithShape="0" blurRad="76200" dist="25400" dir="5400000">
              <a:srgbClr val="0F2F4E">
                <a:alpha val="14000"/>
              </a:srgbClr>
            </a:outerShdw>
          </a:effectLst>
        </p:spPr>
      </p:sp>
      <p:sp>
        <p:nvSpPr>
          <p:cNvPr id="27" name="Shape 23"/>
          <p:cNvSpPr/>
          <p:nvPr/>
        </p:nvSpPr>
        <p:spPr>
          <a:xfrm>
            <a:off x="411480" y="3982212"/>
            <a:ext cx="5524348" cy="45720"/>
          </a:xfrm>
          <a:prstGeom prst="rect">
            <a:avLst/>
          </a:prstGeom>
          <a:solidFill>
            <a:srgbClr val="A6650F"/>
          </a:solidFill>
          <a:ln/>
        </p:spPr>
      </p:sp>
      <p:sp>
        <p:nvSpPr>
          <p:cNvPr id="28" name="Shape 24"/>
          <p:cNvSpPr/>
          <p:nvPr/>
        </p:nvSpPr>
        <p:spPr>
          <a:xfrm>
            <a:off x="594360" y="4165092"/>
            <a:ext cx="384048" cy="384048"/>
          </a:xfrm>
          <a:prstGeom prst="ellipse">
            <a:avLst/>
          </a:prstGeom>
          <a:solidFill>
            <a:srgbClr val="FDF3E7"/>
          </a:solidFill>
          <a:ln/>
        </p:spPr>
      </p:sp>
      <p:pic>
        <p:nvPicPr>
          <p:cNvPr id="29" name="Image 2" descr="/tmp/claude-0/-home-user-riesgo/579fb8c8-70e5-51d5-80ec-6ed51cc2e8df/scratchpad/pptx-build/icons/clock_A6650F.png">    </p:cNvPr>
          <p:cNvPicPr>
            <a:picLocks noChangeAspect="1"/>
          </p:cNvPicPr>
          <p:nvPr/>
        </p:nvPicPr>
        <p:blipFill>
          <a:blip r:embed="rId3"/>
          <a:stretch>
            <a:fillRect/>
          </a:stretch>
        </p:blipFill>
        <p:spPr>
          <a:xfrm>
            <a:off x="678851" y="4249583"/>
            <a:ext cx="215067" cy="215067"/>
          </a:xfrm>
          <a:prstGeom prst="rect">
            <a:avLst/>
          </a:prstGeom>
        </p:spPr>
      </p:pic>
      <p:sp>
        <p:nvSpPr>
          <p:cNvPr id="30" name="Text 25"/>
          <p:cNvSpPr txBox="1"/>
          <p:nvPr/>
        </p:nvSpPr>
        <p:spPr>
          <a:xfrm>
            <a:off x="1143000" y="4137660"/>
            <a:ext cx="4609948" cy="237744"/>
          </a:xfrm>
          <a:prstGeom prst="rect">
            <a:avLst/>
          </a:prstGeom>
          <a:noFill/>
          <a:ln/>
        </p:spPr>
        <p:txBody>
          <a:bodyPr wrap="square" lIns="0" tIns="0" rIns="0" bIns="0" rtlCol="0" anchor="t"/>
          <a:lstStyle/>
          <a:p>
            <a:pPr algn="l" indent="0" marL="0">
              <a:buNone/>
            </a:pPr>
            <a:r>
              <a:rPr lang="en-US" sz="1250" b="1" dirty="0">
                <a:solidFill>
                  <a:srgbClr val="A6650F"/>
                </a:solidFill>
                <a:latin typeface="Calibri" pitchFamily="34" charset="0"/>
                <a:ea typeface="Calibri" pitchFamily="34" charset="-122"/>
                <a:cs typeface="Calibri" pitchFamily="34" charset="-120"/>
              </a:rPr>
              <a:t>Soporte y Tiempos de Respuesta</a:t>
            </a:r>
            <a:endParaRPr lang="en-US" sz="1250" dirty="0"/>
          </a:p>
        </p:txBody>
      </p:sp>
      <p:sp>
        <p:nvSpPr>
          <p:cNvPr id="31" name="Text 26"/>
          <p:cNvSpPr txBox="1"/>
          <p:nvPr/>
        </p:nvSpPr>
        <p:spPr>
          <a:xfrm>
            <a:off x="1143000" y="4357116"/>
            <a:ext cx="4609948" cy="822960"/>
          </a:xfrm>
          <a:prstGeom prst="rect">
            <a:avLst/>
          </a:prstGeom>
          <a:noFill/>
          <a:ln/>
        </p:spPr>
        <p:txBody>
          <a:bodyPr wrap="square" lIns="0" tIns="0" rIns="0" bIns="0" rtlCol="0" anchor="t"/>
          <a:lstStyle/>
          <a:p>
            <a:pPr algn="l" indent="0" marL="0">
              <a:lnSpc>
                <a:spcPct val="115000"/>
              </a:lnSpc>
              <a:buNone/>
            </a:pPr>
            <a:r>
              <a:rPr lang="en-US" sz="1050" dirty="0">
                <a:solidFill>
                  <a:srgbClr val="243044"/>
                </a:solidFill>
                <a:latin typeface="Calibri" pitchFamily="34" charset="0"/>
                <a:ea typeface="Calibri" pitchFamily="34" charset="-122"/>
                <a:cs typeface="Calibri" pitchFamily="34" charset="-120"/>
              </a:rPr>
              <a:t>Demoras puntuales en la atención de incidentes críticos, especialmente en horarios de alta afluencia de asociados.</a:t>
            </a:r>
            <a:endParaRPr lang="en-US" sz="1050" dirty="0"/>
          </a:p>
        </p:txBody>
      </p:sp>
      <p:sp>
        <p:nvSpPr>
          <p:cNvPr id="32" name="Shape 27"/>
          <p:cNvSpPr/>
          <p:nvPr/>
        </p:nvSpPr>
        <p:spPr>
          <a:xfrm>
            <a:off x="6255868" y="3982212"/>
            <a:ext cx="5524348" cy="2418588"/>
          </a:xfrm>
          <a:prstGeom prst="roundRect">
            <a:avLst>
              <a:gd name="adj" fmla="val 3025"/>
            </a:avLst>
          </a:prstGeom>
          <a:solidFill>
            <a:srgbClr val="FFFFFF"/>
          </a:solidFill>
          <a:ln/>
          <a:effectLst>
            <a:outerShdw sx="100000" sy="100000" kx="0" ky="0" algn="bl" rotWithShape="0" blurRad="76200" dist="25400" dir="5400000">
              <a:srgbClr val="0F2F4E">
                <a:alpha val="14000"/>
              </a:srgbClr>
            </a:outerShdw>
          </a:effectLst>
        </p:spPr>
      </p:sp>
      <p:sp>
        <p:nvSpPr>
          <p:cNvPr id="33" name="Shape 28"/>
          <p:cNvSpPr/>
          <p:nvPr/>
        </p:nvSpPr>
        <p:spPr>
          <a:xfrm>
            <a:off x="6255868" y="3982212"/>
            <a:ext cx="5524348" cy="45720"/>
          </a:xfrm>
          <a:prstGeom prst="rect">
            <a:avLst/>
          </a:prstGeom>
          <a:solidFill>
            <a:srgbClr val="A6650F"/>
          </a:solidFill>
          <a:ln/>
        </p:spPr>
      </p:sp>
      <p:sp>
        <p:nvSpPr>
          <p:cNvPr id="34" name="Shape 29"/>
          <p:cNvSpPr/>
          <p:nvPr/>
        </p:nvSpPr>
        <p:spPr>
          <a:xfrm>
            <a:off x="6438748" y="4165092"/>
            <a:ext cx="384048" cy="384048"/>
          </a:xfrm>
          <a:prstGeom prst="ellipse">
            <a:avLst/>
          </a:prstGeom>
          <a:solidFill>
            <a:srgbClr val="FDF3E7"/>
          </a:solidFill>
          <a:ln/>
        </p:spPr>
      </p:sp>
      <p:pic>
        <p:nvPicPr>
          <p:cNvPr id="35" name="Image 3" descr="/tmp/claude-0/-home-user-riesgo/579fb8c8-70e5-51d5-80ec-6ed51cc2e8df/scratchpad/pptx-build/icons/shield_A6650F.png">    </p:cNvPr>
          <p:cNvPicPr>
            <a:picLocks noChangeAspect="1"/>
          </p:cNvPicPr>
          <p:nvPr/>
        </p:nvPicPr>
        <p:blipFill>
          <a:blip r:embed="rId4"/>
          <a:stretch>
            <a:fillRect/>
          </a:stretch>
        </p:blipFill>
        <p:spPr>
          <a:xfrm>
            <a:off x="6523238" y="4249583"/>
            <a:ext cx="215067" cy="215067"/>
          </a:xfrm>
          <a:prstGeom prst="rect">
            <a:avLst/>
          </a:prstGeom>
        </p:spPr>
      </p:pic>
      <p:sp>
        <p:nvSpPr>
          <p:cNvPr id="36" name="Text 30"/>
          <p:cNvSpPr txBox="1"/>
          <p:nvPr/>
        </p:nvSpPr>
        <p:spPr>
          <a:xfrm>
            <a:off x="6987388" y="4137660"/>
            <a:ext cx="4609948" cy="237744"/>
          </a:xfrm>
          <a:prstGeom prst="rect">
            <a:avLst/>
          </a:prstGeom>
          <a:noFill/>
          <a:ln/>
        </p:spPr>
        <p:txBody>
          <a:bodyPr wrap="square" lIns="0" tIns="0" rIns="0" bIns="0" rtlCol="0" anchor="t"/>
          <a:lstStyle/>
          <a:p>
            <a:pPr algn="l" indent="0" marL="0">
              <a:buNone/>
            </a:pPr>
            <a:r>
              <a:rPr lang="en-US" sz="1250" b="1" dirty="0">
                <a:solidFill>
                  <a:srgbClr val="A6650F"/>
                </a:solidFill>
                <a:latin typeface="Calibri" pitchFamily="34" charset="0"/>
                <a:ea typeface="Calibri" pitchFamily="34" charset="-122"/>
                <a:cs typeface="Calibri" pitchFamily="34" charset="-120"/>
              </a:rPr>
              <a:t>Gestión de Fraude</a:t>
            </a:r>
            <a:endParaRPr lang="en-US" sz="1250" dirty="0"/>
          </a:p>
        </p:txBody>
      </p:sp>
      <p:sp>
        <p:nvSpPr>
          <p:cNvPr id="37" name="Text 31"/>
          <p:cNvSpPr txBox="1"/>
          <p:nvPr/>
        </p:nvSpPr>
        <p:spPr>
          <a:xfrm>
            <a:off x="6987388" y="4357116"/>
            <a:ext cx="4609948" cy="822960"/>
          </a:xfrm>
          <a:prstGeom prst="rect">
            <a:avLst/>
          </a:prstGeom>
          <a:noFill/>
          <a:ln/>
        </p:spPr>
        <p:txBody>
          <a:bodyPr wrap="square" lIns="0" tIns="0" rIns="0" bIns="0" rtlCol="0" anchor="t"/>
          <a:lstStyle/>
          <a:p>
            <a:pPr algn="l" indent="0" marL="0">
              <a:lnSpc>
                <a:spcPct val="115000"/>
              </a:lnSpc>
              <a:buNone/>
            </a:pPr>
            <a:r>
              <a:rPr lang="en-US" sz="1050" dirty="0">
                <a:solidFill>
                  <a:srgbClr val="243044"/>
                </a:solidFill>
                <a:latin typeface="Calibri" pitchFamily="34" charset="0"/>
                <a:ea typeface="Calibri" pitchFamily="34" charset="-122"/>
                <a:cs typeface="Calibri" pitchFamily="34" charset="-120"/>
              </a:rPr>
              <a:t>Debilidades percibidas en los tiempos y protocolos de respuesta ante casos de fraude reportado por las agencias.</a:t>
            </a:r>
            <a:endParaRPr lang="en-US" sz="10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3B6C"/>
          </a:solidFill>
          <a:ln/>
        </p:spPr>
      </p:sp>
      <p:sp>
        <p:nvSpPr>
          <p:cNvPr id="3" name="Shape 1"/>
          <p:cNvSpPr/>
          <p:nvPr/>
        </p:nvSpPr>
        <p:spPr>
          <a:xfrm>
            <a:off x="0" y="0"/>
            <a:ext cx="4876678" cy="868680"/>
          </a:xfrm>
          <a:prstGeom prst="rect">
            <a:avLst/>
          </a:prstGeom>
          <a:solidFill>
            <a:srgbClr val="0A1F3B"/>
          </a:solidFill>
          <a:ln/>
        </p:spPr>
      </p:sp>
      <p:sp>
        <p:nvSpPr>
          <p:cNvPr id="4" name="Shape 2"/>
          <p:cNvSpPr/>
          <p:nvPr/>
        </p:nvSpPr>
        <p:spPr>
          <a:xfrm>
            <a:off x="10241024" y="0"/>
            <a:ext cx="1950671" cy="868680"/>
          </a:xfrm>
          <a:prstGeom prst="rect">
            <a:avLst/>
          </a:prstGeom>
          <a:solidFill>
            <a:srgbClr val="106B78"/>
          </a:solidFill>
          <a:ln/>
        </p:spPr>
      </p:sp>
      <p:sp>
        <p:nvSpPr>
          <p:cNvPr id="5" name="Shape 3"/>
          <p:cNvSpPr/>
          <p:nvPr/>
        </p:nvSpPr>
        <p:spPr>
          <a:xfrm>
            <a:off x="0" y="841248"/>
            <a:ext cx="12191695" cy="27432"/>
          </a:xfrm>
          <a:prstGeom prst="rect">
            <a:avLst/>
          </a:prstGeom>
          <a:solidFill>
            <a:srgbClr val="17A9B0"/>
          </a:solidFill>
          <a:ln/>
        </p:spPr>
      </p:sp>
      <p:sp>
        <p:nvSpPr>
          <p:cNvPr id="6" name="Text 4"/>
          <p:cNvSpPr txBox="1"/>
          <p:nvPr/>
        </p:nvSpPr>
        <p:spPr>
          <a:xfrm>
            <a:off x="411480" y="128016"/>
            <a:ext cx="9144000" cy="182880"/>
          </a:xfrm>
          <a:prstGeom prst="rect">
            <a:avLst/>
          </a:prstGeom>
          <a:noFill/>
          <a:ln/>
        </p:spPr>
        <p:txBody>
          <a:bodyPr wrap="square" lIns="0" tIns="0" rIns="0" bIns="0" rtlCol="0" anchor="ctr"/>
          <a:lstStyle/>
          <a:p>
            <a:pPr algn="l" indent="0" marL="0">
              <a:buNone/>
            </a:pPr>
            <a:r>
              <a:rPr lang="en-US" sz="950" b="1" spc="160" kern="0" dirty="0">
                <a:solidFill>
                  <a:srgbClr val="97D8DB"/>
                </a:solidFill>
                <a:latin typeface="Calibri" pitchFamily="34" charset="0"/>
                <a:ea typeface="Calibri" pitchFamily="34" charset="-122"/>
                <a:cs typeface="Calibri" pitchFamily="34" charset="-120"/>
              </a:rPr>
              <a:t>BALANCE DEL SERVICIO</a:t>
            </a:r>
            <a:endParaRPr lang="en-US" sz="950" dirty="0"/>
          </a:p>
        </p:txBody>
      </p:sp>
      <p:sp>
        <p:nvSpPr>
          <p:cNvPr id="7" name="Text 5"/>
          <p:cNvSpPr txBox="1"/>
          <p:nvPr/>
        </p:nvSpPr>
        <p:spPr>
          <a:xfrm>
            <a:off x="411480" y="320040"/>
            <a:ext cx="9875520" cy="475488"/>
          </a:xfrm>
          <a:prstGeom prst="rect">
            <a:avLst/>
          </a:prstGeom>
          <a:noFill/>
          <a:ln/>
        </p:spPr>
        <p:txBody>
          <a:bodyPr wrap="square" lIns="0" tIns="0" rIns="0" bIns="0" rtlCol="0" anchor="t"/>
          <a:lstStyle/>
          <a:p>
            <a:pPr algn="l" indent="0" marL="0">
              <a:lnSpc>
                <a:spcPct val="98000"/>
              </a:lnSpc>
              <a:buNone/>
            </a:pPr>
            <a:r>
              <a:rPr lang="en-US" sz="2200" b="1" dirty="0">
                <a:solidFill>
                  <a:srgbClr val="FFFFFF"/>
                </a:solidFill>
                <a:latin typeface="Calibri" pitchFamily="34" charset="0"/>
                <a:ea typeface="Calibri" pitchFamily="34" charset="-122"/>
                <a:cs typeface="Calibri" pitchFamily="34" charset="-120"/>
              </a:rPr>
              <a:t>Fortalezas y Oportunidades de Mejora</a:t>
            </a:r>
            <a:endParaRPr lang="en-US" sz="2200" dirty="0"/>
          </a:p>
        </p:txBody>
      </p:sp>
      <p:sp>
        <p:nvSpPr>
          <p:cNvPr id="8" name="Shape 6"/>
          <p:cNvSpPr/>
          <p:nvPr/>
        </p:nvSpPr>
        <p:spPr>
          <a:xfrm>
            <a:off x="11323015" y="219456"/>
            <a:ext cx="457200" cy="457200"/>
          </a:xfrm>
          <a:prstGeom prst="ellipse">
            <a:avLst/>
          </a:prstGeom>
          <a:solidFill>
            <a:srgbClr val="17A9B0"/>
          </a:solidFill>
          <a:ln/>
        </p:spPr>
      </p:sp>
      <p:sp>
        <p:nvSpPr>
          <p:cNvPr id="9" name="Text 7"/>
          <p:cNvSpPr txBox="1"/>
          <p:nvPr/>
        </p:nvSpPr>
        <p:spPr>
          <a:xfrm>
            <a:off x="11323015" y="2194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7</a:t>
            </a:r>
            <a:endParaRPr lang="en-US" sz="1600" dirty="0"/>
          </a:p>
        </p:txBody>
      </p:sp>
      <p:sp>
        <p:nvSpPr>
          <p:cNvPr id="10" name="Shape 8"/>
          <p:cNvSpPr/>
          <p:nvPr/>
        </p:nvSpPr>
        <p:spPr>
          <a:xfrm>
            <a:off x="0" y="6565392"/>
            <a:ext cx="12191695" cy="292608"/>
          </a:xfrm>
          <a:prstGeom prst="rect">
            <a:avLst/>
          </a:prstGeom>
          <a:solidFill>
            <a:srgbClr val="F2F5F9"/>
          </a:solidFill>
          <a:ln w="9525">
            <a:solidFill>
              <a:srgbClr val="DDE3EC"/>
            </a:solidFill>
            <a:prstDash val="solid"/>
          </a:ln>
        </p:spPr>
      </p:sp>
      <p:sp>
        <p:nvSpPr>
          <p:cNvPr id="11" name="Text 9"/>
          <p:cNvSpPr txBox="1"/>
          <p:nvPr/>
        </p:nvSpPr>
        <p:spPr>
          <a:xfrm>
            <a:off x="411480" y="6565392"/>
            <a:ext cx="4572000" cy="292608"/>
          </a:xfrm>
          <a:prstGeom prst="rect">
            <a:avLst/>
          </a:prstGeom>
          <a:noFill/>
          <a:ln/>
        </p:spPr>
        <p:txBody>
          <a:bodyPr wrap="square" lIns="0" tIns="0" rIns="0" bIns="0" rtlCol="0" anchor="ctr"/>
          <a:lstStyle/>
          <a:p>
            <a:pPr algn="l" indent="0" marL="0">
              <a:buNone/>
            </a:pPr>
            <a:r>
              <a:rPr lang="en-US" sz="850" b="1" dirty="0">
                <a:solidFill>
                  <a:srgbClr val="5B6B82"/>
                </a:solidFill>
                <a:latin typeface="Calibri" pitchFamily="34" charset="0"/>
                <a:ea typeface="Calibri" pitchFamily="34" charset="-122"/>
                <a:cs typeface="Calibri" pitchFamily="34" charset="-120"/>
              </a:rPr>
              <a:t>CONFIDENCIAL · Gerencia General</a:t>
            </a:r>
            <a:endParaRPr lang="en-US" sz="850" dirty="0"/>
          </a:p>
        </p:txBody>
      </p:sp>
      <p:sp>
        <p:nvSpPr>
          <p:cNvPr id="12" name="Text 10"/>
          <p:cNvSpPr txBox="1"/>
          <p:nvPr/>
        </p:nvSpPr>
        <p:spPr>
          <a:xfrm>
            <a:off x="7208215" y="6565392"/>
            <a:ext cx="4572000" cy="292608"/>
          </a:xfrm>
          <a:prstGeom prst="rect">
            <a:avLst/>
          </a:prstGeom>
          <a:noFill/>
          <a:ln/>
        </p:spPr>
        <p:txBody>
          <a:bodyPr wrap="square" lIns="0" tIns="0" rIns="0" bIns="0" rtlCol="0" anchor="ctr"/>
          <a:lstStyle/>
          <a:p>
            <a:pPr algn="r" indent="0" marL="0">
              <a:buNone/>
            </a:pPr>
            <a:r>
              <a:rPr lang="en-US" sz="850" dirty="0">
                <a:solidFill>
                  <a:srgbClr val="5B6B82"/>
                </a:solidFill>
                <a:latin typeface="Calibri" pitchFamily="34" charset="0"/>
                <a:ea typeface="Calibri" pitchFamily="34" charset="-122"/>
                <a:cs typeface="Calibri" pitchFamily="34" charset="-120"/>
              </a:rPr>
              <a:t>Análisis de Servicio EVERTEC · Encuesta a Agencias</a:t>
            </a:r>
            <a:endParaRPr lang="en-US" sz="850" dirty="0"/>
          </a:p>
        </p:txBody>
      </p:sp>
      <p:sp>
        <p:nvSpPr>
          <p:cNvPr id="13" name="Shape 11"/>
          <p:cNvSpPr/>
          <p:nvPr/>
        </p:nvSpPr>
        <p:spPr>
          <a:xfrm>
            <a:off x="411480" y="1161288"/>
            <a:ext cx="5501488" cy="5294376"/>
          </a:xfrm>
          <a:prstGeom prst="roundRect">
            <a:avLst>
              <a:gd name="adj" fmla="val 1382"/>
            </a:avLst>
          </a:prstGeom>
          <a:solidFill>
            <a:srgbClr val="FFFFFF"/>
          </a:solidFill>
          <a:ln/>
          <a:effectLst>
            <a:outerShdw sx="100000" sy="100000" kx="0" ky="0" algn="bl" rotWithShape="0" blurRad="88900" dist="25400" dir="5400000">
              <a:srgbClr val="0F2F4E">
                <a:alpha val="15000"/>
              </a:srgbClr>
            </a:outerShdw>
          </a:effectLst>
        </p:spPr>
      </p:sp>
      <p:sp>
        <p:nvSpPr>
          <p:cNvPr id="14" name="Shape 12"/>
          <p:cNvSpPr/>
          <p:nvPr/>
        </p:nvSpPr>
        <p:spPr>
          <a:xfrm>
            <a:off x="411480" y="1161288"/>
            <a:ext cx="5501488" cy="50292"/>
          </a:xfrm>
          <a:prstGeom prst="rect">
            <a:avLst/>
          </a:prstGeom>
          <a:solidFill>
            <a:srgbClr val="1E8449"/>
          </a:solidFill>
          <a:ln/>
        </p:spPr>
      </p:sp>
      <p:pic>
        <p:nvPicPr>
          <p:cNvPr id="15" name="Image 0" descr="/tmp/claude-0/-home-user-riesgo/579fb8c8-70e5-51d5-80ec-6ed51cc2e8df/scratchpad/pptx-build/icons/thumbsup_1E8449.png">    </p:cNvPr>
          <p:cNvPicPr>
            <a:picLocks noChangeAspect="1"/>
          </p:cNvPicPr>
          <p:nvPr/>
        </p:nvPicPr>
        <p:blipFill>
          <a:blip r:embed="rId1"/>
          <a:stretch>
            <a:fillRect/>
          </a:stretch>
        </p:blipFill>
        <p:spPr>
          <a:xfrm>
            <a:off x="630936" y="1362456"/>
            <a:ext cx="310896" cy="310896"/>
          </a:xfrm>
          <a:prstGeom prst="rect">
            <a:avLst/>
          </a:prstGeom>
        </p:spPr>
      </p:pic>
      <p:sp>
        <p:nvSpPr>
          <p:cNvPr id="16" name="Text 13"/>
          <p:cNvSpPr txBox="1"/>
          <p:nvPr/>
        </p:nvSpPr>
        <p:spPr>
          <a:xfrm>
            <a:off x="1051560" y="1344168"/>
            <a:ext cx="4678528" cy="329184"/>
          </a:xfrm>
          <a:prstGeom prst="rect">
            <a:avLst/>
          </a:prstGeom>
          <a:noFill/>
          <a:ln/>
        </p:spPr>
        <p:txBody>
          <a:bodyPr wrap="square" lIns="0" tIns="0" rIns="0" bIns="0" rtlCol="0" anchor="ctr"/>
          <a:lstStyle/>
          <a:p>
            <a:pPr algn="l" indent="0" marL="0">
              <a:buNone/>
            </a:pPr>
            <a:r>
              <a:rPr lang="en-US" sz="1500" b="1" dirty="0">
                <a:solidFill>
                  <a:srgbClr val="1E8449"/>
                </a:solidFill>
                <a:latin typeface="Calibri" pitchFamily="34" charset="0"/>
                <a:ea typeface="Calibri" pitchFamily="34" charset="-122"/>
                <a:cs typeface="Calibri" pitchFamily="34" charset="-120"/>
              </a:rPr>
              <a:t>Fortalezas</a:t>
            </a:r>
            <a:endParaRPr lang="en-US" sz="1500" dirty="0"/>
          </a:p>
        </p:txBody>
      </p:sp>
      <p:sp>
        <p:nvSpPr>
          <p:cNvPr id="17" name="Shape 14"/>
          <p:cNvSpPr/>
          <p:nvPr/>
        </p:nvSpPr>
        <p:spPr>
          <a:xfrm>
            <a:off x="630936" y="1901952"/>
            <a:ext cx="73152" cy="73152"/>
          </a:xfrm>
          <a:prstGeom prst="ellipse">
            <a:avLst/>
          </a:prstGeom>
          <a:solidFill>
            <a:srgbClr val="1E8449"/>
          </a:solidFill>
          <a:ln/>
        </p:spPr>
      </p:sp>
      <p:sp>
        <p:nvSpPr>
          <p:cNvPr id="18" name="Text 15"/>
          <p:cNvSpPr txBox="1"/>
          <p:nvPr/>
        </p:nvSpPr>
        <p:spPr>
          <a:xfrm>
            <a:off x="832104" y="1801368"/>
            <a:ext cx="4861408" cy="365760"/>
          </a:xfrm>
          <a:prstGeom prst="rect">
            <a:avLst/>
          </a:prstGeom>
          <a:noFill/>
          <a:ln/>
        </p:spPr>
        <p:txBody>
          <a:bodyPr wrap="square" lIns="0" tIns="0" rIns="0" bIns="0" rtlCol="0" anchor="t"/>
          <a:lstStyle/>
          <a:p>
            <a:pPr algn="l" indent="0" marL="0">
              <a:lnSpc>
                <a:spcPct val="118000"/>
              </a:lnSpc>
              <a:buNone/>
            </a:pPr>
            <a:r>
              <a:rPr lang="en-US" sz="1200" dirty="0">
                <a:solidFill>
                  <a:srgbClr val="243044"/>
                </a:solidFill>
                <a:latin typeface="Calibri" pitchFamily="34" charset="0"/>
                <a:ea typeface="Calibri" pitchFamily="34" charset="-122"/>
                <a:cs typeface="Calibri" pitchFamily="34" charset="-120"/>
              </a:rPr>
              <a:t>Soporte técnico oportuno en el 70.6% de los casos.</a:t>
            </a:r>
            <a:endParaRPr lang="en-US" sz="1200" dirty="0"/>
          </a:p>
        </p:txBody>
      </p:sp>
      <p:sp>
        <p:nvSpPr>
          <p:cNvPr id="19" name="Shape 16"/>
          <p:cNvSpPr/>
          <p:nvPr/>
        </p:nvSpPr>
        <p:spPr>
          <a:xfrm>
            <a:off x="630936" y="2414016"/>
            <a:ext cx="73152" cy="73152"/>
          </a:xfrm>
          <a:prstGeom prst="ellipse">
            <a:avLst/>
          </a:prstGeom>
          <a:solidFill>
            <a:srgbClr val="1E8449"/>
          </a:solidFill>
          <a:ln/>
        </p:spPr>
      </p:sp>
      <p:sp>
        <p:nvSpPr>
          <p:cNvPr id="20" name="Text 17"/>
          <p:cNvSpPr txBox="1"/>
          <p:nvPr/>
        </p:nvSpPr>
        <p:spPr>
          <a:xfrm>
            <a:off x="832104" y="2313432"/>
            <a:ext cx="4861408" cy="493776"/>
          </a:xfrm>
          <a:prstGeom prst="rect">
            <a:avLst/>
          </a:prstGeom>
          <a:noFill/>
          <a:ln/>
        </p:spPr>
        <p:txBody>
          <a:bodyPr wrap="square" lIns="0" tIns="0" rIns="0" bIns="0" rtlCol="0" anchor="t"/>
          <a:lstStyle/>
          <a:p>
            <a:pPr algn="l" indent="0" marL="0">
              <a:lnSpc>
                <a:spcPct val="118000"/>
              </a:lnSpc>
              <a:buNone/>
            </a:pPr>
            <a:r>
              <a:rPr lang="en-US" sz="1200" dirty="0">
                <a:solidFill>
                  <a:srgbClr val="243044"/>
                </a:solidFill>
                <a:latin typeface="Calibri" pitchFamily="34" charset="0"/>
                <a:ea typeface="Calibri" pitchFamily="34" charset="-122"/>
                <a:cs typeface="Calibri" pitchFamily="34" charset="-120"/>
              </a:rPr>
              <a:t>Calificación general aceptable (3.71/5), con mayoría de notas 4.</a:t>
            </a:r>
            <a:endParaRPr lang="en-US" sz="1200" dirty="0"/>
          </a:p>
        </p:txBody>
      </p:sp>
      <p:sp>
        <p:nvSpPr>
          <p:cNvPr id="21" name="Shape 18"/>
          <p:cNvSpPr/>
          <p:nvPr/>
        </p:nvSpPr>
        <p:spPr>
          <a:xfrm>
            <a:off x="630936" y="3054096"/>
            <a:ext cx="73152" cy="73152"/>
          </a:xfrm>
          <a:prstGeom prst="ellipse">
            <a:avLst/>
          </a:prstGeom>
          <a:solidFill>
            <a:srgbClr val="1E8449"/>
          </a:solidFill>
          <a:ln/>
        </p:spPr>
      </p:sp>
      <p:sp>
        <p:nvSpPr>
          <p:cNvPr id="22" name="Text 19"/>
          <p:cNvSpPr txBox="1"/>
          <p:nvPr/>
        </p:nvSpPr>
        <p:spPr>
          <a:xfrm>
            <a:off x="832104" y="2953512"/>
            <a:ext cx="4861408" cy="493776"/>
          </a:xfrm>
          <a:prstGeom prst="rect">
            <a:avLst/>
          </a:prstGeom>
          <a:noFill/>
          <a:ln/>
        </p:spPr>
        <p:txBody>
          <a:bodyPr wrap="square" lIns="0" tIns="0" rIns="0" bIns="0" rtlCol="0" anchor="t"/>
          <a:lstStyle/>
          <a:p>
            <a:pPr algn="l" indent="0" marL="0">
              <a:lnSpc>
                <a:spcPct val="118000"/>
              </a:lnSpc>
              <a:buNone/>
            </a:pPr>
            <a:r>
              <a:rPr lang="en-US" sz="1200" dirty="0">
                <a:solidFill>
                  <a:srgbClr val="243044"/>
                </a:solidFill>
                <a:latin typeface="Calibri" pitchFamily="34" charset="0"/>
                <a:ea typeface="Calibri" pitchFamily="34" charset="-122"/>
                <a:cs typeface="Calibri" pitchFamily="34" charset="-120"/>
              </a:rPr>
              <a:t>Cobertura de soporte a nivel nacional, incluyendo agencias móviles.</a:t>
            </a:r>
            <a:endParaRPr lang="en-US" sz="1200" dirty="0"/>
          </a:p>
        </p:txBody>
      </p:sp>
      <p:sp>
        <p:nvSpPr>
          <p:cNvPr id="23" name="Shape 20"/>
          <p:cNvSpPr/>
          <p:nvPr/>
        </p:nvSpPr>
        <p:spPr>
          <a:xfrm>
            <a:off x="6278728" y="1161288"/>
            <a:ext cx="5501488" cy="5294376"/>
          </a:xfrm>
          <a:prstGeom prst="roundRect">
            <a:avLst>
              <a:gd name="adj" fmla="val 1382"/>
            </a:avLst>
          </a:prstGeom>
          <a:solidFill>
            <a:srgbClr val="FFFFFF"/>
          </a:solidFill>
          <a:ln/>
          <a:effectLst>
            <a:outerShdw sx="100000" sy="100000" kx="0" ky="0" algn="bl" rotWithShape="0" blurRad="88900" dist="25400" dir="5400000">
              <a:srgbClr val="0F2F4E">
                <a:alpha val="15000"/>
              </a:srgbClr>
            </a:outerShdw>
          </a:effectLst>
        </p:spPr>
      </p:sp>
      <p:sp>
        <p:nvSpPr>
          <p:cNvPr id="24" name="Shape 21"/>
          <p:cNvSpPr/>
          <p:nvPr/>
        </p:nvSpPr>
        <p:spPr>
          <a:xfrm>
            <a:off x="6278728" y="1161288"/>
            <a:ext cx="5501488" cy="50292"/>
          </a:xfrm>
          <a:prstGeom prst="rect">
            <a:avLst/>
          </a:prstGeom>
          <a:solidFill>
            <a:srgbClr val="E0392B"/>
          </a:solidFill>
          <a:ln/>
        </p:spPr>
      </p:sp>
      <p:pic>
        <p:nvPicPr>
          <p:cNvPr id="25" name="Image 1" descr="/tmp/claude-0/-home-user-riesgo/579fb8c8-70e5-51d5-80ec-6ed51cc2e8df/scratchpad/pptx-build/icons/alerttriangle_E0392B.png">    </p:cNvPr>
          <p:cNvPicPr>
            <a:picLocks noChangeAspect="1"/>
          </p:cNvPicPr>
          <p:nvPr/>
        </p:nvPicPr>
        <p:blipFill>
          <a:blip r:embed="rId2"/>
          <a:stretch>
            <a:fillRect/>
          </a:stretch>
        </p:blipFill>
        <p:spPr>
          <a:xfrm>
            <a:off x="6498184" y="1362456"/>
            <a:ext cx="310896" cy="310896"/>
          </a:xfrm>
          <a:prstGeom prst="rect">
            <a:avLst/>
          </a:prstGeom>
        </p:spPr>
      </p:pic>
      <p:sp>
        <p:nvSpPr>
          <p:cNvPr id="26" name="Text 22"/>
          <p:cNvSpPr txBox="1"/>
          <p:nvPr/>
        </p:nvSpPr>
        <p:spPr>
          <a:xfrm>
            <a:off x="6918808" y="1344168"/>
            <a:ext cx="4678528" cy="329184"/>
          </a:xfrm>
          <a:prstGeom prst="rect">
            <a:avLst/>
          </a:prstGeom>
          <a:noFill/>
          <a:ln/>
        </p:spPr>
        <p:txBody>
          <a:bodyPr wrap="square" lIns="0" tIns="0" rIns="0" bIns="0" rtlCol="0" anchor="ctr"/>
          <a:lstStyle/>
          <a:p>
            <a:pPr algn="l" indent="0" marL="0">
              <a:buNone/>
            </a:pPr>
            <a:r>
              <a:rPr lang="en-US" sz="1500" b="1" dirty="0">
                <a:solidFill>
                  <a:srgbClr val="E0392B"/>
                </a:solidFill>
                <a:latin typeface="Calibri" pitchFamily="34" charset="0"/>
                <a:ea typeface="Calibri" pitchFamily="34" charset="-122"/>
                <a:cs typeface="Calibri" pitchFamily="34" charset="-120"/>
              </a:rPr>
              <a:t>Oportunidades de Mejora</a:t>
            </a:r>
            <a:endParaRPr lang="en-US" sz="1500" dirty="0"/>
          </a:p>
        </p:txBody>
      </p:sp>
      <p:sp>
        <p:nvSpPr>
          <p:cNvPr id="27" name="Shape 23"/>
          <p:cNvSpPr/>
          <p:nvPr/>
        </p:nvSpPr>
        <p:spPr>
          <a:xfrm>
            <a:off x="6498184" y="1901952"/>
            <a:ext cx="73152" cy="73152"/>
          </a:xfrm>
          <a:prstGeom prst="ellipse">
            <a:avLst/>
          </a:prstGeom>
          <a:solidFill>
            <a:srgbClr val="E0392B"/>
          </a:solidFill>
          <a:ln/>
        </p:spPr>
      </p:sp>
      <p:sp>
        <p:nvSpPr>
          <p:cNvPr id="28" name="Text 24"/>
          <p:cNvSpPr txBox="1"/>
          <p:nvPr/>
        </p:nvSpPr>
        <p:spPr>
          <a:xfrm>
            <a:off x="6699352" y="1801368"/>
            <a:ext cx="4861408" cy="493776"/>
          </a:xfrm>
          <a:prstGeom prst="rect">
            <a:avLst/>
          </a:prstGeom>
          <a:noFill/>
          <a:ln/>
        </p:spPr>
        <p:txBody>
          <a:bodyPr wrap="square" lIns="0" tIns="0" rIns="0" bIns="0" rtlCol="0" anchor="t"/>
          <a:lstStyle/>
          <a:p>
            <a:pPr algn="l" indent="0" marL="0">
              <a:lnSpc>
                <a:spcPct val="118000"/>
              </a:lnSpc>
              <a:buNone/>
            </a:pPr>
            <a:r>
              <a:rPr lang="en-US" sz="1200" dirty="0">
                <a:solidFill>
                  <a:srgbClr val="243044"/>
                </a:solidFill>
                <a:latin typeface="Calibri" pitchFamily="34" charset="0"/>
                <a:ea typeface="Calibri" pitchFamily="34" charset="-122"/>
                <a:cs typeface="Calibri" pitchFamily="34" charset="-120"/>
              </a:rPr>
              <a:t>Reducir la frecuencia de fallas del sistema (88.2% de agencias afectadas).</a:t>
            </a:r>
            <a:endParaRPr lang="en-US" sz="1200" dirty="0"/>
          </a:p>
        </p:txBody>
      </p:sp>
      <p:sp>
        <p:nvSpPr>
          <p:cNvPr id="29" name="Shape 25"/>
          <p:cNvSpPr/>
          <p:nvPr/>
        </p:nvSpPr>
        <p:spPr>
          <a:xfrm>
            <a:off x="6498184" y="2505456"/>
            <a:ext cx="73152" cy="73152"/>
          </a:xfrm>
          <a:prstGeom prst="ellipse">
            <a:avLst/>
          </a:prstGeom>
          <a:solidFill>
            <a:srgbClr val="E0392B"/>
          </a:solidFill>
          <a:ln/>
        </p:spPr>
      </p:sp>
      <p:sp>
        <p:nvSpPr>
          <p:cNvPr id="30" name="Text 26"/>
          <p:cNvSpPr txBox="1"/>
          <p:nvPr/>
        </p:nvSpPr>
        <p:spPr>
          <a:xfrm>
            <a:off x="6699352" y="2404872"/>
            <a:ext cx="4861408" cy="365760"/>
          </a:xfrm>
          <a:prstGeom prst="rect">
            <a:avLst/>
          </a:prstGeom>
          <a:noFill/>
          <a:ln/>
        </p:spPr>
        <p:txBody>
          <a:bodyPr wrap="square" lIns="0" tIns="0" rIns="0" bIns="0" rtlCol="0" anchor="t"/>
          <a:lstStyle/>
          <a:p>
            <a:pPr algn="l" indent="0" marL="0">
              <a:lnSpc>
                <a:spcPct val="118000"/>
              </a:lnSpc>
              <a:buNone/>
            </a:pPr>
            <a:r>
              <a:rPr lang="en-US" sz="1200" dirty="0">
                <a:solidFill>
                  <a:srgbClr val="243044"/>
                </a:solidFill>
                <a:latin typeface="Calibri" pitchFamily="34" charset="0"/>
                <a:ea typeface="Calibri" pitchFamily="34" charset="-122"/>
                <a:cs typeface="Calibri" pitchFamily="34" charset="-120"/>
              </a:rPr>
              <a:t>Resolver el desfase en reversas EVERTEC vs. agencia.</a:t>
            </a:r>
            <a:endParaRPr lang="en-US" sz="1200" dirty="0"/>
          </a:p>
        </p:txBody>
      </p:sp>
      <p:sp>
        <p:nvSpPr>
          <p:cNvPr id="31" name="Shape 27"/>
          <p:cNvSpPr/>
          <p:nvPr/>
        </p:nvSpPr>
        <p:spPr>
          <a:xfrm>
            <a:off x="6498184" y="2980944"/>
            <a:ext cx="73152" cy="73152"/>
          </a:xfrm>
          <a:prstGeom prst="ellipse">
            <a:avLst/>
          </a:prstGeom>
          <a:solidFill>
            <a:srgbClr val="E0392B"/>
          </a:solidFill>
          <a:ln/>
        </p:spPr>
      </p:sp>
      <p:sp>
        <p:nvSpPr>
          <p:cNvPr id="32" name="Text 28"/>
          <p:cNvSpPr txBox="1"/>
          <p:nvPr/>
        </p:nvSpPr>
        <p:spPr>
          <a:xfrm>
            <a:off x="6699352" y="2880360"/>
            <a:ext cx="4861408" cy="365760"/>
          </a:xfrm>
          <a:prstGeom prst="rect">
            <a:avLst/>
          </a:prstGeom>
          <a:noFill/>
          <a:ln/>
        </p:spPr>
        <p:txBody>
          <a:bodyPr wrap="square" lIns="0" tIns="0" rIns="0" bIns="0" rtlCol="0" anchor="t"/>
          <a:lstStyle/>
          <a:p>
            <a:pPr algn="l" indent="0" marL="0">
              <a:lnSpc>
                <a:spcPct val="118000"/>
              </a:lnSpc>
              <a:buNone/>
            </a:pPr>
            <a:r>
              <a:rPr lang="en-US" sz="1200" dirty="0">
                <a:solidFill>
                  <a:srgbClr val="243044"/>
                </a:solidFill>
                <a:latin typeface="Calibri" pitchFamily="34" charset="0"/>
                <a:ea typeface="Calibri" pitchFamily="34" charset="-122"/>
                <a:cs typeface="Calibri" pitchFamily="34" charset="-120"/>
              </a:rPr>
              <a:t>Prevenir la duplicidad de pagos durante caídas del sistema.</a:t>
            </a:r>
            <a:endParaRPr lang="en-US" sz="1200" dirty="0"/>
          </a:p>
        </p:txBody>
      </p:sp>
      <p:sp>
        <p:nvSpPr>
          <p:cNvPr id="33" name="Shape 29"/>
          <p:cNvSpPr/>
          <p:nvPr/>
        </p:nvSpPr>
        <p:spPr>
          <a:xfrm>
            <a:off x="6498184" y="3456432"/>
            <a:ext cx="73152" cy="73152"/>
          </a:xfrm>
          <a:prstGeom prst="ellipse">
            <a:avLst/>
          </a:prstGeom>
          <a:solidFill>
            <a:srgbClr val="E0392B"/>
          </a:solidFill>
          <a:ln/>
        </p:spPr>
      </p:sp>
      <p:sp>
        <p:nvSpPr>
          <p:cNvPr id="34" name="Text 30"/>
          <p:cNvSpPr txBox="1"/>
          <p:nvPr/>
        </p:nvSpPr>
        <p:spPr>
          <a:xfrm>
            <a:off x="6699352" y="3355848"/>
            <a:ext cx="4861408" cy="365760"/>
          </a:xfrm>
          <a:prstGeom prst="rect">
            <a:avLst/>
          </a:prstGeom>
          <a:noFill/>
          <a:ln/>
        </p:spPr>
        <p:txBody>
          <a:bodyPr wrap="square" lIns="0" tIns="0" rIns="0" bIns="0" rtlCol="0" anchor="t"/>
          <a:lstStyle/>
          <a:p>
            <a:pPr algn="l" indent="0" marL="0">
              <a:lnSpc>
                <a:spcPct val="118000"/>
              </a:lnSpc>
              <a:buNone/>
            </a:pPr>
            <a:r>
              <a:rPr lang="en-US" sz="1200" dirty="0">
                <a:solidFill>
                  <a:srgbClr val="243044"/>
                </a:solidFill>
                <a:latin typeface="Calibri" pitchFamily="34" charset="0"/>
                <a:ea typeface="Calibri" pitchFamily="34" charset="-122"/>
                <a:cs typeface="Calibri" pitchFamily="34" charset="-120"/>
              </a:rPr>
              <a:t>Fortalecer los protocolos de gestión de fraude.</a:t>
            </a:r>
            <a:endParaRPr lang="en-US" sz="12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3B6C"/>
          </a:solidFill>
          <a:ln/>
        </p:spPr>
      </p:sp>
      <p:sp>
        <p:nvSpPr>
          <p:cNvPr id="3" name="Shape 1"/>
          <p:cNvSpPr/>
          <p:nvPr/>
        </p:nvSpPr>
        <p:spPr>
          <a:xfrm>
            <a:off x="0" y="0"/>
            <a:ext cx="4876678" cy="868680"/>
          </a:xfrm>
          <a:prstGeom prst="rect">
            <a:avLst/>
          </a:prstGeom>
          <a:solidFill>
            <a:srgbClr val="0A1F3B"/>
          </a:solidFill>
          <a:ln/>
        </p:spPr>
      </p:sp>
      <p:sp>
        <p:nvSpPr>
          <p:cNvPr id="4" name="Shape 2"/>
          <p:cNvSpPr/>
          <p:nvPr/>
        </p:nvSpPr>
        <p:spPr>
          <a:xfrm>
            <a:off x="10241024" y="0"/>
            <a:ext cx="1950671" cy="868680"/>
          </a:xfrm>
          <a:prstGeom prst="rect">
            <a:avLst/>
          </a:prstGeom>
          <a:solidFill>
            <a:srgbClr val="106B78"/>
          </a:solidFill>
          <a:ln/>
        </p:spPr>
      </p:sp>
      <p:sp>
        <p:nvSpPr>
          <p:cNvPr id="5" name="Shape 3"/>
          <p:cNvSpPr/>
          <p:nvPr/>
        </p:nvSpPr>
        <p:spPr>
          <a:xfrm>
            <a:off x="0" y="841248"/>
            <a:ext cx="12191695" cy="27432"/>
          </a:xfrm>
          <a:prstGeom prst="rect">
            <a:avLst/>
          </a:prstGeom>
          <a:solidFill>
            <a:srgbClr val="17A9B0"/>
          </a:solidFill>
          <a:ln/>
        </p:spPr>
      </p:sp>
      <p:sp>
        <p:nvSpPr>
          <p:cNvPr id="6" name="Text 4"/>
          <p:cNvSpPr txBox="1"/>
          <p:nvPr/>
        </p:nvSpPr>
        <p:spPr>
          <a:xfrm>
            <a:off x="411480" y="128016"/>
            <a:ext cx="9144000" cy="182880"/>
          </a:xfrm>
          <a:prstGeom prst="rect">
            <a:avLst/>
          </a:prstGeom>
          <a:noFill/>
          <a:ln/>
        </p:spPr>
        <p:txBody>
          <a:bodyPr wrap="square" lIns="0" tIns="0" rIns="0" bIns="0" rtlCol="0" anchor="ctr"/>
          <a:lstStyle/>
          <a:p>
            <a:pPr algn="l" indent="0" marL="0">
              <a:buNone/>
            </a:pPr>
            <a:r>
              <a:rPr lang="en-US" sz="950" b="1" spc="160" kern="0" dirty="0">
                <a:solidFill>
                  <a:srgbClr val="97D8DB"/>
                </a:solidFill>
                <a:latin typeface="Calibri" pitchFamily="34" charset="0"/>
                <a:ea typeface="Calibri" pitchFamily="34" charset="-122"/>
                <a:cs typeface="Calibri" pitchFamily="34" charset="-120"/>
              </a:rPr>
              <a:t>PLAN DE ACCIÓN</a:t>
            </a:r>
            <a:endParaRPr lang="en-US" sz="950" dirty="0"/>
          </a:p>
        </p:txBody>
      </p:sp>
      <p:sp>
        <p:nvSpPr>
          <p:cNvPr id="7" name="Text 5"/>
          <p:cNvSpPr txBox="1"/>
          <p:nvPr/>
        </p:nvSpPr>
        <p:spPr>
          <a:xfrm>
            <a:off x="411480" y="320040"/>
            <a:ext cx="9875520" cy="475488"/>
          </a:xfrm>
          <a:prstGeom prst="rect">
            <a:avLst/>
          </a:prstGeom>
          <a:noFill/>
          <a:ln/>
        </p:spPr>
        <p:txBody>
          <a:bodyPr wrap="square" lIns="0" tIns="0" rIns="0" bIns="0" rtlCol="0" anchor="t"/>
          <a:lstStyle/>
          <a:p>
            <a:pPr algn="l" indent="0" marL="0">
              <a:lnSpc>
                <a:spcPct val="98000"/>
              </a:lnSpc>
              <a:buNone/>
            </a:pPr>
            <a:r>
              <a:rPr lang="en-US" sz="2200" b="1" dirty="0">
                <a:solidFill>
                  <a:srgbClr val="FFFFFF"/>
                </a:solidFill>
                <a:latin typeface="Calibri" pitchFamily="34" charset="0"/>
                <a:ea typeface="Calibri" pitchFamily="34" charset="-122"/>
                <a:cs typeface="Calibri" pitchFamily="34" charset="-120"/>
              </a:rPr>
              <a:t>Recomendaciones Priorizadas</a:t>
            </a:r>
            <a:endParaRPr lang="en-US" sz="2200" dirty="0"/>
          </a:p>
        </p:txBody>
      </p:sp>
      <p:sp>
        <p:nvSpPr>
          <p:cNvPr id="8" name="Shape 6"/>
          <p:cNvSpPr/>
          <p:nvPr/>
        </p:nvSpPr>
        <p:spPr>
          <a:xfrm>
            <a:off x="11323015" y="219456"/>
            <a:ext cx="457200" cy="457200"/>
          </a:xfrm>
          <a:prstGeom prst="ellipse">
            <a:avLst/>
          </a:prstGeom>
          <a:solidFill>
            <a:srgbClr val="17A9B0"/>
          </a:solidFill>
          <a:ln/>
        </p:spPr>
      </p:sp>
      <p:sp>
        <p:nvSpPr>
          <p:cNvPr id="9" name="Text 7"/>
          <p:cNvSpPr txBox="1"/>
          <p:nvPr/>
        </p:nvSpPr>
        <p:spPr>
          <a:xfrm>
            <a:off x="11323015" y="2194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8</a:t>
            </a:r>
            <a:endParaRPr lang="en-US" sz="1600" dirty="0"/>
          </a:p>
        </p:txBody>
      </p:sp>
      <p:sp>
        <p:nvSpPr>
          <p:cNvPr id="10" name="Shape 8"/>
          <p:cNvSpPr/>
          <p:nvPr/>
        </p:nvSpPr>
        <p:spPr>
          <a:xfrm>
            <a:off x="0" y="6565392"/>
            <a:ext cx="12191695" cy="292608"/>
          </a:xfrm>
          <a:prstGeom prst="rect">
            <a:avLst/>
          </a:prstGeom>
          <a:solidFill>
            <a:srgbClr val="F2F5F9"/>
          </a:solidFill>
          <a:ln w="9525">
            <a:solidFill>
              <a:srgbClr val="DDE3EC"/>
            </a:solidFill>
            <a:prstDash val="solid"/>
          </a:ln>
        </p:spPr>
      </p:sp>
      <p:sp>
        <p:nvSpPr>
          <p:cNvPr id="11" name="Text 9"/>
          <p:cNvSpPr txBox="1"/>
          <p:nvPr/>
        </p:nvSpPr>
        <p:spPr>
          <a:xfrm>
            <a:off x="411480" y="6565392"/>
            <a:ext cx="4572000" cy="292608"/>
          </a:xfrm>
          <a:prstGeom prst="rect">
            <a:avLst/>
          </a:prstGeom>
          <a:noFill/>
          <a:ln/>
        </p:spPr>
        <p:txBody>
          <a:bodyPr wrap="square" lIns="0" tIns="0" rIns="0" bIns="0" rtlCol="0" anchor="ctr"/>
          <a:lstStyle/>
          <a:p>
            <a:pPr algn="l" indent="0" marL="0">
              <a:buNone/>
            </a:pPr>
            <a:r>
              <a:rPr lang="en-US" sz="850" b="1" dirty="0">
                <a:solidFill>
                  <a:srgbClr val="5B6B82"/>
                </a:solidFill>
                <a:latin typeface="Calibri" pitchFamily="34" charset="0"/>
                <a:ea typeface="Calibri" pitchFamily="34" charset="-122"/>
                <a:cs typeface="Calibri" pitchFamily="34" charset="-120"/>
              </a:rPr>
              <a:t>CONFIDENCIAL · Gerencia General</a:t>
            </a:r>
            <a:endParaRPr lang="en-US" sz="850" dirty="0"/>
          </a:p>
        </p:txBody>
      </p:sp>
      <p:sp>
        <p:nvSpPr>
          <p:cNvPr id="12" name="Text 10"/>
          <p:cNvSpPr txBox="1"/>
          <p:nvPr/>
        </p:nvSpPr>
        <p:spPr>
          <a:xfrm>
            <a:off x="7208215" y="6565392"/>
            <a:ext cx="4572000" cy="292608"/>
          </a:xfrm>
          <a:prstGeom prst="rect">
            <a:avLst/>
          </a:prstGeom>
          <a:noFill/>
          <a:ln/>
        </p:spPr>
        <p:txBody>
          <a:bodyPr wrap="square" lIns="0" tIns="0" rIns="0" bIns="0" rtlCol="0" anchor="ctr"/>
          <a:lstStyle/>
          <a:p>
            <a:pPr algn="r" indent="0" marL="0">
              <a:buNone/>
            </a:pPr>
            <a:r>
              <a:rPr lang="en-US" sz="850" dirty="0">
                <a:solidFill>
                  <a:srgbClr val="5B6B82"/>
                </a:solidFill>
                <a:latin typeface="Calibri" pitchFamily="34" charset="0"/>
                <a:ea typeface="Calibri" pitchFamily="34" charset="-122"/>
                <a:cs typeface="Calibri" pitchFamily="34" charset="-120"/>
              </a:rPr>
              <a:t>Análisis de Servicio EVERTEC · Encuesta a Agencias</a:t>
            </a:r>
            <a:endParaRPr lang="en-US" sz="850" dirty="0"/>
          </a:p>
        </p:txBody>
      </p:sp>
      <p:sp>
        <p:nvSpPr>
          <p:cNvPr id="13" name="Shape 11"/>
          <p:cNvSpPr/>
          <p:nvPr/>
        </p:nvSpPr>
        <p:spPr>
          <a:xfrm>
            <a:off x="411480" y="1161288"/>
            <a:ext cx="3637178" cy="5294376"/>
          </a:xfrm>
          <a:prstGeom prst="roundRect">
            <a:avLst>
              <a:gd name="adj" fmla="val 2011"/>
            </a:avLst>
          </a:prstGeom>
          <a:solidFill>
            <a:srgbClr val="FFFFFF"/>
          </a:solidFill>
          <a:ln/>
          <a:effectLst>
            <a:outerShdw sx="100000" sy="100000" kx="0" ky="0" algn="bl" rotWithShape="0" blurRad="88900" dist="25400" dir="5400000">
              <a:srgbClr val="0F2F4E">
                <a:alpha val="16000"/>
              </a:srgbClr>
            </a:outerShdw>
          </a:effectLst>
        </p:spPr>
      </p:sp>
      <p:sp>
        <p:nvSpPr>
          <p:cNvPr id="14" name="Shape 12"/>
          <p:cNvSpPr/>
          <p:nvPr/>
        </p:nvSpPr>
        <p:spPr>
          <a:xfrm>
            <a:off x="411480" y="1161288"/>
            <a:ext cx="3637178" cy="50292"/>
          </a:xfrm>
          <a:prstGeom prst="rect">
            <a:avLst/>
          </a:prstGeom>
          <a:solidFill>
            <a:srgbClr val="E0392B"/>
          </a:solidFill>
          <a:ln/>
        </p:spPr>
      </p:sp>
      <p:sp>
        <p:nvSpPr>
          <p:cNvPr id="15" name="Shape 13"/>
          <p:cNvSpPr/>
          <p:nvPr/>
        </p:nvSpPr>
        <p:spPr>
          <a:xfrm>
            <a:off x="594360" y="1344168"/>
            <a:ext cx="3271418" cy="292608"/>
          </a:xfrm>
          <a:prstGeom prst="roundRect">
            <a:avLst>
              <a:gd name="adj" fmla="val 50000"/>
            </a:avLst>
          </a:prstGeom>
          <a:solidFill>
            <a:srgbClr val="FBE9E7"/>
          </a:solidFill>
          <a:ln/>
        </p:spPr>
      </p:sp>
      <p:pic>
        <p:nvPicPr>
          <p:cNvPr id="16" name="Image 0" descr="/tmp/claude-0/-home-user-riesgo/579fb8c8-70e5-51d5-80ec-6ed51cc2e8df/scratchpad/pptx-build/icons/alerttriangle_E0392B.png">    </p:cNvPr>
          <p:cNvPicPr>
            <a:picLocks noChangeAspect="1"/>
          </p:cNvPicPr>
          <p:nvPr/>
        </p:nvPicPr>
        <p:blipFill>
          <a:blip r:embed="rId1"/>
          <a:stretch>
            <a:fillRect/>
          </a:stretch>
        </p:blipFill>
        <p:spPr>
          <a:xfrm>
            <a:off x="704088" y="1408176"/>
            <a:ext cx="164592" cy="164592"/>
          </a:xfrm>
          <a:prstGeom prst="rect">
            <a:avLst/>
          </a:prstGeom>
        </p:spPr>
      </p:pic>
      <p:sp>
        <p:nvSpPr>
          <p:cNvPr id="17" name="Text 14"/>
          <p:cNvSpPr txBox="1"/>
          <p:nvPr/>
        </p:nvSpPr>
        <p:spPr>
          <a:xfrm>
            <a:off x="941832" y="1344168"/>
            <a:ext cx="2905658" cy="292608"/>
          </a:xfrm>
          <a:prstGeom prst="rect">
            <a:avLst/>
          </a:prstGeom>
          <a:noFill/>
          <a:ln/>
        </p:spPr>
        <p:txBody>
          <a:bodyPr wrap="square" lIns="0" tIns="0" rIns="0" bIns="0" rtlCol="0" anchor="ctr"/>
          <a:lstStyle/>
          <a:p>
            <a:pPr algn="l" indent="0" marL="0">
              <a:buNone/>
            </a:pPr>
            <a:r>
              <a:rPr lang="en-US" sz="1250" b="1" spc="40" kern="0" dirty="0">
                <a:solidFill>
                  <a:srgbClr val="E0392B"/>
                </a:solidFill>
                <a:latin typeface="Calibri" pitchFamily="34" charset="0"/>
                <a:ea typeface="Calibri" pitchFamily="34" charset="-122"/>
                <a:cs typeface="Calibri" pitchFamily="34" charset="-120"/>
              </a:rPr>
              <a:t>ALTA PRIORIDAD</a:t>
            </a:r>
            <a:endParaRPr lang="en-US" sz="1250" dirty="0"/>
          </a:p>
        </p:txBody>
      </p:sp>
      <p:sp>
        <p:nvSpPr>
          <p:cNvPr id="18" name="Shape 15"/>
          <p:cNvSpPr/>
          <p:nvPr/>
        </p:nvSpPr>
        <p:spPr>
          <a:xfrm>
            <a:off x="630936" y="1810512"/>
            <a:ext cx="54864" cy="54864"/>
          </a:xfrm>
          <a:prstGeom prst="ellipse">
            <a:avLst/>
          </a:prstGeom>
          <a:solidFill>
            <a:srgbClr val="E0392B"/>
          </a:solidFill>
          <a:ln/>
        </p:spPr>
      </p:sp>
      <p:sp>
        <p:nvSpPr>
          <p:cNvPr id="19" name="Text 16"/>
          <p:cNvSpPr txBox="1"/>
          <p:nvPr/>
        </p:nvSpPr>
        <p:spPr>
          <a:xfrm>
            <a:off x="777240" y="1746504"/>
            <a:ext cx="3070250" cy="498348"/>
          </a:xfrm>
          <a:prstGeom prst="rect">
            <a:avLst/>
          </a:prstGeom>
          <a:noFill/>
          <a:ln/>
        </p:spPr>
        <p:txBody>
          <a:bodyPr wrap="square" lIns="0" tIns="0" rIns="0" bIns="0" rtlCol="0" anchor="t"/>
          <a:lstStyle/>
          <a:p>
            <a:pPr algn="l" indent="0" marL="0">
              <a:lnSpc>
                <a:spcPct val="112000"/>
              </a:lnSpc>
              <a:buNone/>
            </a:pPr>
            <a:r>
              <a:rPr lang="en-US" sz="1050" dirty="0">
                <a:solidFill>
                  <a:srgbClr val="243044"/>
                </a:solidFill>
                <a:latin typeface="Calibri" pitchFamily="34" charset="0"/>
                <a:ea typeface="Calibri" pitchFamily="34" charset="-122"/>
                <a:cs typeface="Calibri" pitchFamily="34" charset="-120"/>
              </a:rPr>
              <a:t>Exigir a EVERTEC un plan de estabilización técnica con métricas de disponibilidad (SLA).</a:t>
            </a:r>
            <a:endParaRPr lang="en-US" sz="1050" dirty="0"/>
          </a:p>
        </p:txBody>
      </p:sp>
      <p:sp>
        <p:nvSpPr>
          <p:cNvPr id="20" name="Shape 17"/>
          <p:cNvSpPr/>
          <p:nvPr/>
        </p:nvSpPr>
        <p:spPr>
          <a:xfrm>
            <a:off x="630936" y="2372868"/>
            <a:ext cx="54864" cy="54864"/>
          </a:xfrm>
          <a:prstGeom prst="ellipse">
            <a:avLst/>
          </a:prstGeom>
          <a:solidFill>
            <a:srgbClr val="E0392B"/>
          </a:solidFill>
          <a:ln/>
        </p:spPr>
      </p:sp>
      <p:sp>
        <p:nvSpPr>
          <p:cNvPr id="21" name="Text 18"/>
          <p:cNvSpPr txBox="1"/>
          <p:nvPr/>
        </p:nvSpPr>
        <p:spPr>
          <a:xfrm>
            <a:off x="777240" y="2308860"/>
            <a:ext cx="3070250" cy="347472"/>
          </a:xfrm>
          <a:prstGeom prst="rect">
            <a:avLst/>
          </a:prstGeom>
          <a:noFill/>
          <a:ln/>
        </p:spPr>
        <p:txBody>
          <a:bodyPr wrap="square" lIns="0" tIns="0" rIns="0" bIns="0" rtlCol="0" anchor="t"/>
          <a:lstStyle/>
          <a:p>
            <a:pPr algn="l" indent="0" marL="0">
              <a:lnSpc>
                <a:spcPct val="112000"/>
              </a:lnSpc>
              <a:buNone/>
            </a:pPr>
            <a:r>
              <a:rPr lang="en-US" sz="1050" dirty="0">
                <a:solidFill>
                  <a:srgbClr val="243044"/>
                </a:solidFill>
                <a:latin typeface="Calibri" pitchFamily="34" charset="0"/>
                <a:ea typeface="Calibri" pitchFamily="34" charset="-122"/>
                <a:cs typeface="Calibri" pitchFamily="34" charset="-120"/>
              </a:rPr>
              <a:t>Establecer un protocolo formal de conciliación de reversas EVERTEC–Agencia.</a:t>
            </a:r>
            <a:endParaRPr lang="en-US" sz="1050" dirty="0"/>
          </a:p>
        </p:txBody>
      </p:sp>
      <p:sp>
        <p:nvSpPr>
          <p:cNvPr id="22" name="Shape 19"/>
          <p:cNvSpPr/>
          <p:nvPr/>
        </p:nvSpPr>
        <p:spPr>
          <a:xfrm>
            <a:off x="630936" y="2784348"/>
            <a:ext cx="54864" cy="54864"/>
          </a:xfrm>
          <a:prstGeom prst="ellipse">
            <a:avLst/>
          </a:prstGeom>
          <a:solidFill>
            <a:srgbClr val="E0392B"/>
          </a:solidFill>
          <a:ln/>
        </p:spPr>
      </p:sp>
      <p:sp>
        <p:nvSpPr>
          <p:cNvPr id="23" name="Text 20"/>
          <p:cNvSpPr txBox="1"/>
          <p:nvPr/>
        </p:nvSpPr>
        <p:spPr>
          <a:xfrm>
            <a:off x="777240" y="2720340"/>
            <a:ext cx="3070250" cy="347472"/>
          </a:xfrm>
          <a:prstGeom prst="rect">
            <a:avLst/>
          </a:prstGeom>
          <a:noFill/>
          <a:ln/>
        </p:spPr>
        <p:txBody>
          <a:bodyPr wrap="square" lIns="0" tIns="0" rIns="0" bIns="0" rtlCol="0" anchor="t"/>
          <a:lstStyle/>
          <a:p>
            <a:pPr algn="l" indent="0" marL="0">
              <a:lnSpc>
                <a:spcPct val="112000"/>
              </a:lnSpc>
              <a:buNone/>
            </a:pPr>
            <a:r>
              <a:rPr lang="en-US" sz="1050" dirty="0">
                <a:solidFill>
                  <a:srgbClr val="243044"/>
                </a:solidFill>
                <a:latin typeface="Calibri" pitchFamily="34" charset="0"/>
                <a:ea typeface="Calibri" pitchFamily="34" charset="-122"/>
                <a:cs typeface="Calibri" pitchFamily="34" charset="-120"/>
              </a:rPr>
              <a:t>Implementar un control automático anti-duplicidad de pagos durante caídas del sistema.</a:t>
            </a:r>
            <a:endParaRPr lang="en-US" sz="1050" dirty="0"/>
          </a:p>
        </p:txBody>
      </p:sp>
      <p:sp>
        <p:nvSpPr>
          <p:cNvPr id="24" name="Shape 21"/>
          <p:cNvSpPr/>
          <p:nvPr/>
        </p:nvSpPr>
        <p:spPr>
          <a:xfrm>
            <a:off x="4277258" y="1161288"/>
            <a:ext cx="3637178" cy="5294376"/>
          </a:xfrm>
          <a:prstGeom prst="roundRect">
            <a:avLst>
              <a:gd name="adj" fmla="val 2011"/>
            </a:avLst>
          </a:prstGeom>
          <a:solidFill>
            <a:srgbClr val="FFFFFF"/>
          </a:solidFill>
          <a:ln/>
          <a:effectLst>
            <a:outerShdw sx="100000" sy="100000" kx="0" ky="0" algn="bl" rotWithShape="0" blurRad="88900" dist="25400" dir="5400000">
              <a:srgbClr val="0F2F4E">
                <a:alpha val="16000"/>
              </a:srgbClr>
            </a:outerShdw>
          </a:effectLst>
        </p:spPr>
      </p:sp>
      <p:sp>
        <p:nvSpPr>
          <p:cNvPr id="25" name="Shape 22"/>
          <p:cNvSpPr/>
          <p:nvPr/>
        </p:nvSpPr>
        <p:spPr>
          <a:xfrm>
            <a:off x="4277258" y="1161288"/>
            <a:ext cx="3637178" cy="50292"/>
          </a:xfrm>
          <a:prstGeom prst="rect">
            <a:avLst/>
          </a:prstGeom>
          <a:solidFill>
            <a:srgbClr val="A6650F"/>
          </a:solidFill>
          <a:ln/>
        </p:spPr>
      </p:sp>
      <p:sp>
        <p:nvSpPr>
          <p:cNvPr id="26" name="Shape 23"/>
          <p:cNvSpPr/>
          <p:nvPr/>
        </p:nvSpPr>
        <p:spPr>
          <a:xfrm>
            <a:off x="4460138" y="1344168"/>
            <a:ext cx="3271418" cy="292608"/>
          </a:xfrm>
          <a:prstGeom prst="roundRect">
            <a:avLst>
              <a:gd name="adj" fmla="val 50000"/>
            </a:avLst>
          </a:prstGeom>
          <a:solidFill>
            <a:srgbClr val="FDF3E7"/>
          </a:solidFill>
          <a:ln/>
        </p:spPr>
      </p:sp>
      <p:pic>
        <p:nvPicPr>
          <p:cNvPr id="27" name="Image 1" descr="/tmp/claude-0/-home-user-riesgo/579fb8c8-70e5-51d5-80ec-6ed51cc2e8df/scratchpad/pptx-build/icons/alertcircle_A6650F.png">    </p:cNvPr>
          <p:cNvPicPr>
            <a:picLocks noChangeAspect="1"/>
          </p:cNvPicPr>
          <p:nvPr/>
        </p:nvPicPr>
        <p:blipFill>
          <a:blip r:embed="rId2"/>
          <a:stretch>
            <a:fillRect/>
          </a:stretch>
        </p:blipFill>
        <p:spPr>
          <a:xfrm>
            <a:off x="4569866" y="1408176"/>
            <a:ext cx="164592" cy="164592"/>
          </a:xfrm>
          <a:prstGeom prst="rect">
            <a:avLst/>
          </a:prstGeom>
        </p:spPr>
      </p:pic>
      <p:sp>
        <p:nvSpPr>
          <p:cNvPr id="28" name="Text 24"/>
          <p:cNvSpPr txBox="1"/>
          <p:nvPr/>
        </p:nvSpPr>
        <p:spPr>
          <a:xfrm>
            <a:off x="4807610" y="1344168"/>
            <a:ext cx="2905658" cy="292608"/>
          </a:xfrm>
          <a:prstGeom prst="rect">
            <a:avLst/>
          </a:prstGeom>
          <a:noFill/>
          <a:ln/>
        </p:spPr>
        <p:txBody>
          <a:bodyPr wrap="square" lIns="0" tIns="0" rIns="0" bIns="0" rtlCol="0" anchor="ctr"/>
          <a:lstStyle/>
          <a:p>
            <a:pPr algn="l" indent="0" marL="0">
              <a:buNone/>
            </a:pPr>
            <a:r>
              <a:rPr lang="en-US" sz="1250" b="1" spc="40" kern="0" dirty="0">
                <a:solidFill>
                  <a:srgbClr val="A6650F"/>
                </a:solidFill>
                <a:latin typeface="Calibri" pitchFamily="34" charset="0"/>
                <a:ea typeface="Calibri" pitchFamily="34" charset="-122"/>
                <a:cs typeface="Calibri" pitchFamily="34" charset="-120"/>
              </a:rPr>
              <a:t>MEDIA PRIORIDAD</a:t>
            </a:r>
            <a:endParaRPr lang="en-US" sz="1250" dirty="0"/>
          </a:p>
        </p:txBody>
      </p:sp>
      <p:sp>
        <p:nvSpPr>
          <p:cNvPr id="29" name="Shape 25"/>
          <p:cNvSpPr/>
          <p:nvPr/>
        </p:nvSpPr>
        <p:spPr>
          <a:xfrm>
            <a:off x="4496714" y="1810512"/>
            <a:ext cx="54864" cy="54864"/>
          </a:xfrm>
          <a:prstGeom prst="ellipse">
            <a:avLst/>
          </a:prstGeom>
          <a:solidFill>
            <a:srgbClr val="A6650F"/>
          </a:solidFill>
          <a:ln/>
        </p:spPr>
      </p:sp>
      <p:sp>
        <p:nvSpPr>
          <p:cNvPr id="30" name="Text 26"/>
          <p:cNvSpPr txBox="1"/>
          <p:nvPr/>
        </p:nvSpPr>
        <p:spPr>
          <a:xfrm>
            <a:off x="4643018" y="1746504"/>
            <a:ext cx="3070250" cy="347472"/>
          </a:xfrm>
          <a:prstGeom prst="rect">
            <a:avLst/>
          </a:prstGeom>
          <a:noFill/>
          <a:ln/>
        </p:spPr>
        <p:txBody>
          <a:bodyPr wrap="square" lIns="0" tIns="0" rIns="0" bIns="0" rtlCol="0" anchor="t"/>
          <a:lstStyle/>
          <a:p>
            <a:pPr algn="l" indent="0" marL="0">
              <a:lnSpc>
                <a:spcPct val="112000"/>
              </a:lnSpc>
              <a:buNone/>
            </a:pPr>
            <a:r>
              <a:rPr lang="en-US" sz="1050" dirty="0">
                <a:solidFill>
                  <a:srgbClr val="243044"/>
                </a:solidFill>
                <a:latin typeface="Calibri" pitchFamily="34" charset="0"/>
                <a:ea typeface="Calibri" pitchFamily="34" charset="-122"/>
                <a:cs typeface="Calibri" pitchFamily="34" charset="-120"/>
              </a:rPr>
              <a:t>Reforzar el protocolo de gestión de fraude con tiempos de respuesta definidos.</a:t>
            </a:r>
            <a:endParaRPr lang="en-US" sz="1050" dirty="0"/>
          </a:p>
        </p:txBody>
      </p:sp>
      <p:sp>
        <p:nvSpPr>
          <p:cNvPr id="31" name="Shape 27"/>
          <p:cNvSpPr/>
          <p:nvPr/>
        </p:nvSpPr>
        <p:spPr>
          <a:xfrm>
            <a:off x="4496714" y="2221992"/>
            <a:ext cx="54864" cy="54864"/>
          </a:xfrm>
          <a:prstGeom prst="ellipse">
            <a:avLst/>
          </a:prstGeom>
          <a:solidFill>
            <a:srgbClr val="A6650F"/>
          </a:solidFill>
          <a:ln/>
        </p:spPr>
      </p:sp>
      <p:sp>
        <p:nvSpPr>
          <p:cNvPr id="32" name="Text 28"/>
          <p:cNvSpPr txBox="1"/>
          <p:nvPr/>
        </p:nvSpPr>
        <p:spPr>
          <a:xfrm>
            <a:off x="4643018" y="2157984"/>
            <a:ext cx="3070250" cy="347472"/>
          </a:xfrm>
          <a:prstGeom prst="rect">
            <a:avLst/>
          </a:prstGeom>
          <a:noFill/>
          <a:ln/>
        </p:spPr>
        <p:txBody>
          <a:bodyPr wrap="square" lIns="0" tIns="0" rIns="0" bIns="0" rtlCol="0" anchor="t"/>
          <a:lstStyle/>
          <a:p>
            <a:pPr algn="l" indent="0" marL="0">
              <a:lnSpc>
                <a:spcPct val="112000"/>
              </a:lnSpc>
              <a:buNone/>
            </a:pPr>
            <a:r>
              <a:rPr lang="en-US" sz="1050" dirty="0">
                <a:solidFill>
                  <a:srgbClr val="243044"/>
                </a:solidFill>
                <a:latin typeface="Calibri" pitchFamily="34" charset="0"/>
                <a:ea typeface="Calibri" pitchFamily="34" charset="-122"/>
                <a:cs typeface="Calibri" pitchFamily="34" charset="-120"/>
              </a:rPr>
              <a:t>Mejorar los canales y tiempos de soporte en horarios de alta afluencia.</a:t>
            </a:r>
            <a:endParaRPr lang="en-US" sz="1050" dirty="0"/>
          </a:p>
        </p:txBody>
      </p:sp>
      <p:sp>
        <p:nvSpPr>
          <p:cNvPr id="33" name="Shape 29"/>
          <p:cNvSpPr/>
          <p:nvPr/>
        </p:nvSpPr>
        <p:spPr>
          <a:xfrm>
            <a:off x="8143037" y="1161288"/>
            <a:ext cx="3637178" cy="5294376"/>
          </a:xfrm>
          <a:prstGeom prst="roundRect">
            <a:avLst>
              <a:gd name="adj" fmla="val 2011"/>
            </a:avLst>
          </a:prstGeom>
          <a:solidFill>
            <a:srgbClr val="FFFFFF"/>
          </a:solidFill>
          <a:ln/>
          <a:effectLst>
            <a:outerShdw sx="100000" sy="100000" kx="0" ky="0" algn="bl" rotWithShape="0" blurRad="88900" dist="25400" dir="5400000">
              <a:srgbClr val="0F2F4E">
                <a:alpha val="16000"/>
              </a:srgbClr>
            </a:outerShdw>
          </a:effectLst>
        </p:spPr>
      </p:sp>
      <p:sp>
        <p:nvSpPr>
          <p:cNvPr id="34" name="Shape 30"/>
          <p:cNvSpPr/>
          <p:nvPr/>
        </p:nvSpPr>
        <p:spPr>
          <a:xfrm>
            <a:off x="8143037" y="1161288"/>
            <a:ext cx="3637178" cy="50292"/>
          </a:xfrm>
          <a:prstGeom prst="rect">
            <a:avLst/>
          </a:prstGeom>
          <a:solidFill>
            <a:srgbClr val="1E8449"/>
          </a:solidFill>
          <a:ln/>
        </p:spPr>
      </p:sp>
      <p:sp>
        <p:nvSpPr>
          <p:cNvPr id="35" name="Shape 31"/>
          <p:cNvSpPr/>
          <p:nvPr/>
        </p:nvSpPr>
        <p:spPr>
          <a:xfrm>
            <a:off x="8325917" y="1344168"/>
            <a:ext cx="3271418" cy="292608"/>
          </a:xfrm>
          <a:prstGeom prst="roundRect">
            <a:avLst>
              <a:gd name="adj" fmla="val 50000"/>
            </a:avLst>
          </a:prstGeom>
          <a:solidFill>
            <a:srgbClr val="E4F5EA"/>
          </a:solidFill>
          <a:ln/>
        </p:spPr>
      </p:sp>
      <p:pic>
        <p:nvPicPr>
          <p:cNvPr id="36" name="Image 2" descr="/tmp/claude-0/-home-user-riesgo/579fb8c8-70e5-51d5-80ec-6ed51cc2e8df/scratchpad/pptx-build/icons/checkcircle_1E8449.png">    </p:cNvPr>
          <p:cNvPicPr>
            <a:picLocks noChangeAspect="1"/>
          </p:cNvPicPr>
          <p:nvPr/>
        </p:nvPicPr>
        <p:blipFill>
          <a:blip r:embed="rId3"/>
          <a:stretch>
            <a:fillRect/>
          </a:stretch>
        </p:blipFill>
        <p:spPr>
          <a:xfrm>
            <a:off x="8435645" y="1408176"/>
            <a:ext cx="164592" cy="164592"/>
          </a:xfrm>
          <a:prstGeom prst="rect">
            <a:avLst/>
          </a:prstGeom>
        </p:spPr>
      </p:pic>
      <p:sp>
        <p:nvSpPr>
          <p:cNvPr id="37" name="Text 32"/>
          <p:cNvSpPr txBox="1"/>
          <p:nvPr/>
        </p:nvSpPr>
        <p:spPr>
          <a:xfrm>
            <a:off x="8673389" y="1344168"/>
            <a:ext cx="2905658" cy="292608"/>
          </a:xfrm>
          <a:prstGeom prst="rect">
            <a:avLst/>
          </a:prstGeom>
          <a:noFill/>
          <a:ln/>
        </p:spPr>
        <p:txBody>
          <a:bodyPr wrap="square" lIns="0" tIns="0" rIns="0" bIns="0" rtlCol="0" anchor="ctr"/>
          <a:lstStyle/>
          <a:p>
            <a:pPr algn="l" indent="0" marL="0">
              <a:buNone/>
            </a:pPr>
            <a:r>
              <a:rPr lang="en-US" sz="1250" b="1" spc="40" kern="0" dirty="0">
                <a:solidFill>
                  <a:srgbClr val="1E8449"/>
                </a:solidFill>
                <a:latin typeface="Calibri" pitchFamily="34" charset="0"/>
                <a:ea typeface="Calibri" pitchFamily="34" charset="-122"/>
                <a:cs typeface="Calibri" pitchFamily="34" charset="-120"/>
              </a:rPr>
              <a:t>BAJA PRIORIDAD</a:t>
            </a:r>
            <a:endParaRPr lang="en-US" sz="1250" dirty="0"/>
          </a:p>
        </p:txBody>
      </p:sp>
      <p:sp>
        <p:nvSpPr>
          <p:cNvPr id="38" name="Shape 33"/>
          <p:cNvSpPr/>
          <p:nvPr/>
        </p:nvSpPr>
        <p:spPr>
          <a:xfrm>
            <a:off x="8362493" y="1810512"/>
            <a:ext cx="54864" cy="54864"/>
          </a:xfrm>
          <a:prstGeom prst="ellipse">
            <a:avLst/>
          </a:prstGeom>
          <a:solidFill>
            <a:srgbClr val="1E8449"/>
          </a:solidFill>
          <a:ln/>
        </p:spPr>
      </p:sp>
      <p:sp>
        <p:nvSpPr>
          <p:cNvPr id="39" name="Text 34"/>
          <p:cNvSpPr txBox="1"/>
          <p:nvPr/>
        </p:nvSpPr>
        <p:spPr>
          <a:xfrm>
            <a:off x="8508797" y="1746504"/>
            <a:ext cx="3070250" cy="347472"/>
          </a:xfrm>
          <a:prstGeom prst="rect">
            <a:avLst/>
          </a:prstGeom>
          <a:noFill/>
          <a:ln/>
        </p:spPr>
        <p:txBody>
          <a:bodyPr wrap="square" lIns="0" tIns="0" rIns="0" bIns="0" rtlCol="0" anchor="t"/>
          <a:lstStyle/>
          <a:p>
            <a:pPr algn="l" indent="0" marL="0">
              <a:lnSpc>
                <a:spcPct val="112000"/>
              </a:lnSpc>
              <a:buNone/>
            </a:pPr>
            <a:r>
              <a:rPr lang="en-US" sz="1050" dirty="0">
                <a:solidFill>
                  <a:srgbClr val="243044"/>
                </a:solidFill>
                <a:latin typeface="Calibri" pitchFamily="34" charset="0"/>
                <a:ea typeface="Calibri" pitchFamily="34" charset="-122"/>
                <a:cs typeface="Calibri" pitchFamily="34" charset="-120"/>
              </a:rPr>
              <a:t>Estandarizar la capacitación de agencias en el manejo de incidencias del sistema.</a:t>
            </a:r>
            <a:endParaRPr lang="en-US" sz="1050" dirty="0"/>
          </a:p>
        </p:txBody>
      </p:sp>
      <p:sp>
        <p:nvSpPr>
          <p:cNvPr id="40" name="Shape 35"/>
          <p:cNvSpPr/>
          <p:nvPr/>
        </p:nvSpPr>
        <p:spPr>
          <a:xfrm>
            <a:off x="8362493" y="2221992"/>
            <a:ext cx="54864" cy="54864"/>
          </a:xfrm>
          <a:prstGeom prst="ellipse">
            <a:avLst/>
          </a:prstGeom>
          <a:solidFill>
            <a:srgbClr val="1E8449"/>
          </a:solidFill>
          <a:ln/>
        </p:spPr>
      </p:sp>
      <p:sp>
        <p:nvSpPr>
          <p:cNvPr id="41" name="Text 36"/>
          <p:cNvSpPr txBox="1"/>
          <p:nvPr/>
        </p:nvSpPr>
        <p:spPr>
          <a:xfrm>
            <a:off x="8508797" y="2157984"/>
            <a:ext cx="3070250" cy="347472"/>
          </a:xfrm>
          <a:prstGeom prst="rect">
            <a:avLst/>
          </a:prstGeom>
          <a:noFill/>
          <a:ln/>
        </p:spPr>
        <p:txBody>
          <a:bodyPr wrap="square" lIns="0" tIns="0" rIns="0" bIns="0" rtlCol="0" anchor="t"/>
          <a:lstStyle/>
          <a:p>
            <a:pPr algn="l" indent="0" marL="0">
              <a:lnSpc>
                <a:spcPct val="112000"/>
              </a:lnSpc>
              <a:buNone/>
            </a:pPr>
            <a:r>
              <a:rPr lang="en-US" sz="1050" dirty="0">
                <a:solidFill>
                  <a:srgbClr val="243044"/>
                </a:solidFill>
                <a:latin typeface="Calibri" pitchFamily="34" charset="0"/>
                <a:ea typeface="Calibri" pitchFamily="34" charset="-122"/>
                <a:cs typeface="Calibri" pitchFamily="34" charset="-120"/>
              </a:rPr>
              <a:t>Automatizar la recolección de retroalimentación de agencias de forma trimestral.</a:t>
            </a:r>
            <a:endParaRPr lang="en-US" sz="10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3B6C"/>
          </a:solidFill>
          <a:ln/>
        </p:spPr>
      </p:sp>
      <p:sp>
        <p:nvSpPr>
          <p:cNvPr id="3" name="Shape 1"/>
          <p:cNvSpPr/>
          <p:nvPr/>
        </p:nvSpPr>
        <p:spPr>
          <a:xfrm>
            <a:off x="0" y="0"/>
            <a:ext cx="4876678" cy="868680"/>
          </a:xfrm>
          <a:prstGeom prst="rect">
            <a:avLst/>
          </a:prstGeom>
          <a:solidFill>
            <a:srgbClr val="0A1F3B"/>
          </a:solidFill>
          <a:ln/>
        </p:spPr>
      </p:sp>
      <p:sp>
        <p:nvSpPr>
          <p:cNvPr id="4" name="Shape 2"/>
          <p:cNvSpPr/>
          <p:nvPr/>
        </p:nvSpPr>
        <p:spPr>
          <a:xfrm>
            <a:off x="10241024" y="0"/>
            <a:ext cx="1950671" cy="868680"/>
          </a:xfrm>
          <a:prstGeom prst="rect">
            <a:avLst/>
          </a:prstGeom>
          <a:solidFill>
            <a:srgbClr val="106B78"/>
          </a:solidFill>
          <a:ln/>
        </p:spPr>
      </p:sp>
      <p:sp>
        <p:nvSpPr>
          <p:cNvPr id="5" name="Shape 3"/>
          <p:cNvSpPr/>
          <p:nvPr/>
        </p:nvSpPr>
        <p:spPr>
          <a:xfrm>
            <a:off x="0" y="841248"/>
            <a:ext cx="12191695" cy="27432"/>
          </a:xfrm>
          <a:prstGeom prst="rect">
            <a:avLst/>
          </a:prstGeom>
          <a:solidFill>
            <a:srgbClr val="17A9B0"/>
          </a:solidFill>
          <a:ln/>
        </p:spPr>
      </p:sp>
      <p:sp>
        <p:nvSpPr>
          <p:cNvPr id="6" name="Text 4"/>
          <p:cNvSpPr txBox="1"/>
          <p:nvPr/>
        </p:nvSpPr>
        <p:spPr>
          <a:xfrm>
            <a:off x="411480" y="128016"/>
            <a:ext cx="9144000" cy="182880"/>
          </a:xfrm>
          <a:prstGeom prst="rect">
            <a:avLst/>
          </a:prstGeom>
          <a:noFill/>
          <a:ln/>
        </p:spPr>
        <p:txBody>
          <a:bodyPr wrap="square" lIns="0" tIns="0" rIns="0" bIns="0" rtlCol="0" anchor="ctr"/>
          <a:lstStyle/>
          <a:p>
            <a:pPr algn="l" indent="0" marL="0">
              <a:buNone/>
            </a:pPr>
            <a:r>
              <a:rPr lang="en-US" sz="950" b="1" spc="160" kern="0" dirty="0">
                <a:solidFill>
                  <a:srgbClr val="97D8DB"/>
                </a:solidFill>
                <a:latin typeface="Calibri" pitchFamily="34" charset="0"/>
                <a:ea typeface="Calibri" pitchFamily="34" charset="-122"/>
                <a:cs typeface="Calibri" pitchFamily="34" charset="-120"/>
              </a:rPr>
              <a:t>MATRIZ DE RIESGOS</a:t>
            </a:r>
            <a:endParaRPr lang="en-US" sz="950" dirty="0"/>
          </a:p>
        </p:txBody>
      </p:sp>
      <p:sp>
        <p:nvSpPr>
          <p:cNvPr id="7" name="Text 5"/>
          <p:cNvSpPr txBox="1"/>
          <p:nvPr/>
        </p:nvSpPr>
        <p:spPr>
          <a:xfrm>
            <a:off x="411480" y="320040"/>
            <a:ext cx="9875520" cy="475488"/>
          </a:xfrm>
          <a:prstGeom prst="rect">
            <a:avLst/>
          </a:prstGeom>
          <a:noFill/>
          <a:ln/>
        </p:spPr>
        <p:txBody>
          <a:bodyPr wrap="square" lIns="0" tIns="0" rIns="0" bIns="0" rtlCol="0" anchor="t"/>
          <a:lstStyle/>
          <a:p>
            <a:pPr algn="l" indent="0" marL="0">
              <a:lnSpc>
                <a:spcPct val="98000"/>
              </a:lnSpc>
              <a:buNone/>
            </a:pPr>
            <a:r>
              <a:rPr lang="en-US" sz="2200" b="1" dirty="0">
                <a:solidFill>
                  <a:srgbClr val="FFFFFF"/>
                </a:solidFill>
                <a:latin typeface="Calibri" pitchFamily="34" charset="0"/>
                <a:ea typeface="Calibri" pitchFamily="34" charset="-122"/>
                <a:cs typeface="Calibri" pitchFamily="34" charset="-120"/>
              </a:rPr>
              <a:t>Matriz de Riesgos y Hallazgos Consolidados</a:t>
            </a:r>
            <a:endParaRPr lang="en-US" sz="2200" dirty="0"/>
          </a:p>
        </p:txBody>
      </p:sp>
      <p:sp>
        <p:nvSpPr>
          <p:cNvPr id="8" name="Shape 6"/>
          <p:cNvSpPr/>
          <p:nvPr/>
        </p:nvSpPr>
        <p:spPr>
          <a:xfrm>
            <a:off x="11323015" y="219456"/>
            <a:ext cx="457200" cy="457200"/>
          </a:xfrm>
          <a:prstGeom prst="ellipse">
            <a:avLst/>
          </a:prstGeom>
          <a:solidFill>
            <a:srgbClr val="17A9B0"/>
          </a:solidFill>
          <a:ln/>
        </p:spPr>
      </p:sp>
      <p:sp>
        <p:nvSpPr>
          <p:cNvPr id="9" name="Text 7"/>
          <p:cNvSpPr txBox="1"/>
          <p:nvPr/>
        </p:nvSpPr>
        <p:spPr>
          <a:xfrm>
            <a:off x="11323015" y="2194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9</a:t>
            </a:r>
            <a:endParaRPr lang="en-US" sz="1600" dirty="0"/>
          </a:p>
        </p:txBody>
      </p:sp>
      <p:sp>
        <p:nvSpPr>
          <p:cNvPr id="10" name="Shape 8"/>
          <p:cNvSpPr/>
          <p:nvPr/>
        </p:nvSpPr>
        <p:spPr>
          <a:xfrm>
            <a:off x="0" y="6565392"/>
            <a:ext cx="12191695" cy="292608"/>
          </a:xfrm>
          <a:prstGeom prst="rect">
            <a:avLst/>
          </a:prstGeom>
          <a:solidFill>
            <a:srgbClr val="F2F5F9"/>
          </a:solidFill>
          <a:ln w="9525">
            <a:solidFill>
              <a:srgbClr val="DDE3EC"/>
            </a:solidFill>
            <a:prstDash val="solid"/>
          </a:ln>
        </p:spPr>
      </p:sp>
      <p:sp>
        <p:nvSpPr>
          <p:cNvPr id="11" name="Text 9"/>
          <p:cNvSpPr txBox="1"/>
          <p:nvPr/>
        </p:nvSpPr>
        <p:spPr>
          <a:xfrm>
            <a:off x="411480" y="6565392"/>
            <a:ext cx="4572000" cy="292608"/>
          </a:xfrm>
          <a:prstGeom prst="rect">
            <a:avLst/>
          </a:prstGeom>
          <a:noFill/>
          <a:ln/>
        </p:spPr>
        <p:txBody>
          <a:bodyPr wrap="square" lIns="0" tIns="0" rIns="0" bIns="0" rtlCol="0" anchor="ctr"/>
          <a:lstStyle/>
          <a:p>
            <a:pPr algn="l" indent="0" marL="0">
              <a:buNone/>
            </a:pPr>
            <a:r>
              <a:rPr lang="en-US" sz="850" b="1" dirty="0">
                <a:solidFill>
                  <a:srgbClr val="5B6B82"/>
                </a:solidFill>
                <a:latin typeface="Calibri" pitchFamily="34" charset="0"/>
                <a:ea typeface="Calibri" pitchFamily="34" charset="-122"/>
                <a:cs typeface="Calibri" pitchFamily="34" charset="-120"/>
              </a:rPr>
              <a:t>CONFIDENCIAL · Gerencia General</a:t>
            </a:r>
            <a:endParaRPr lang="en-US" sz="850" dirty="0"/>
          </a:p>
        </p:txBody>
      </p:sp>
      <p:sp>
        <p:nvSpPr>
          <p:cNvPr id="12" name="Text 10"/>
          <p:cNvSpPr txBox="1"/>
          <p:nvPr/>
        </p:nvSpPr>
        <p:spPr>
          <a:xfrm>
            <a:off x="7208215" y="6565392"/>
            <a:ext cx="4572000" cy="292608"/>
          </a:xfrm>
          <a:prstGeom prst="rect">
            <a:avLst/>
          </a:prstGeom>
          <a:noFill/>
          <a:ln/>
        </p:spPr>
        <p:txBody>
          <a:bodyPr wrap="square" lIns="0" tIns="0" rIns="0" bIns="0" rtlCol="0" anchor="ctr"/>
          <a:lstStyle/>
          <a:p>
            <a:pPr algn="r" indent="0" marL="0">
              <a:buNone/>
            </a:pPr>
            <a:r>
              <a:rPr lang="en-US" sz="850" dirty="0">
                <a:solidFill>
                  <a:srgbClr val="5B6B82"/>
                </a:solidFill>
                <a:latin typeface="Calibri" pitchFamily="34" charset="0"/>
                <a:ea typeface="Calibri" pitchFamily="34" charset="-122"/>
                <a:cs typeface="Calibri" pitchFamily="34" charset="-120"/>
              </a:rPr>
              <a:t>Análisis de Servicio EVERTEC · Encuesta a Agencias</a:t>
            </a:r>
            <a:endParaRPr lang="en-US" sz="850" dirty="0"/>
          </a:p>
        </p:txBody>
      </p:sp>
      <p:sp>
        <p:nvSpPr>
          <p:cNvPr id="13" name="Text 11"/>
          <p:cNvSpPr txBox="1"/>
          <p:nvPr/>
        </p:nvSpPr>
        <p:spPr>
          <a:xfrm>
            <a:off x="411480" y="1051560"/>
            <a:ext cx="10058400" cy="164592"/>
          </a:xfrm>
          <a:prstGeom prst="rect">
            <a:avLst/>
          </a:prstGeom>
          <a:noFill/>
          <a:ln/>
        </p:spPr>
        <p:txBody>
          <a:bodyPr wrap="square" lIns="0" tIns="0" rIns="0" bIns="0" rtlCol="0" anchor="ctr"/>
          <a:lstStyle/>
          <a:p>
            <a:pPr algn="l" indent="0" marL="0">
              <a:buNone/>
            </a:pPr>
            <a:r>
              <a:rPr lang="en-US" sz="800" i="1" dirty="0">
                <a:solidFill>
                  <a:srgbClr val="5B6B82"/>
                </a:solidFill>
                <a:latin typeface="Calibri" pitchFamily="34" charset="0"/>
                <a:ea typeface="Calibri" pitchFamily="34" charset="-122"/>
                <a:cs typeface="Calibri" pitchFamily="34" charset="-120"/>
              </a:rPr>
              <a:t>Layout: Tabla ejecutiva</a:t>
            </a:r>
            <a:endParaRPr lang="en-US" sz="800" dirty="0"/>
          </a:p>
        </p:txBody>
      </p:sp>
      <p:sp>
        <p:nvSpPr>
          <p:cNvPr id="14" name="Shape 12"/>
          <p:cNvSpPr/>
          <p:nvPr/>
        </p:nvSpPr>
        <p:spPr>
          <a:xfrm>
            <a:off x="411480" y="1289304"/>
            <a:ext cx="11368735" cy="310896"/>
          </a:xfrm>
          <a:prstGeom prst="rect">
            <a:avLst/>
          </a:prstGeom>
          <a:solidFill>
            <a:srgbClr val="133B6C"/>
          </a:solidFill>
          <a:ln/>
        </p:spPr>
      </p:sp>
      <p:sp>
        <p:nvSpPr>
          <p:cNvPr id="15" name="Text 13"/>
          <p:cNvSpPr txBox="1"/>
          <p:nvPr/>
        </p:nvSpPr>
        <p:spPr>
          <a:xfrm>
            <a:off x="502920" y="1289304"/>
            <a:ext cx="4591989" cy="310896"/>
          </a:xfrm>
          <a:prstGeom prst="rect">
            <a:avLst/>
          </a:prstGeom>
          <a:noFill/>
          <a:ln/>
        </p:spPr>
        <p:txBody>
          <a:bodyPr wrap="square" lIns="0" tIns="0" rIns="0" bIns="0" rtlCol="0" anchor="ctr"/>
          <a:lstStyle/>
          <a:p>
            <a:pPr algn="l" indent="0" marL="0">
              <a:buNone/>
            </a:pPr>
            <a:r>
              <a:rPr lang="en-US" sz="1100" b="1" dirty="0">
                <a:solidFill>
                  <a:srgbClr val="FFFFFF"/>
                </a:solidFill>
                <a:latin typeface="Calibri" pitchFamily="34" charset="0"/>
                <a:ea typeface="Calibri" pitchFamily="34" charset="-122"/>
                <a:cs typeface="Calibri" pitchFamily="34" charset="-120"/>
              </a:rPr>
              <a:t>Problema</a:t>
            </a:r>
            <a:endParaRPr lang="en-US" sz="1100" dirty="0"/>
          </a:p>
        </p:txBody>
      </p:sp>
      <p:sp>
        <p:nvSpPr>
          <p:cNvPr id="16" name="Text 14"/>
          <p:cNvSpPr txBox="1"/>
          <p:nvPr/>
        </p:nvSpPr>
        <p:spPr>
          <a:xfrm>
            <a:off x="5277789" y="1289304"/>
            <a:ext cx="2090867"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Frecuencia</a:t>
            </a:r>
            <a:endParaRPr lang="en-US" sz="1100" dirty="0"/>
          </a:p>
        </p:txBody>
      </p:sp>
      <p:sp>
        <p:nvSpPr>
          <p:cNvPr id="17" name="Text 15"/>
          <p:cNvSpPr txBox="1"/>
          <p:nvPr/>
        </p:nvSpPr>
        <p:spPr>
          <a:xfrm>
            <a:off x="7551536" y="1289304"/>
            <a:ext cx="2318242"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Impacto</a:t>
            </a:r>
            <a:endParaRPr lang="en-US" sz="1100" dirty="0"/>
          </a:p>
        </p:txBody>
      </p:sp>
      <p:sp>
        <p:nvSpPr>
          <p:cNvPr id="18" name="Text 16"/>
          <p:cNvSpPr txBox="1"/>
          <p:nvPr/>
        </p:nvSpPr>
        <p:spPr>
          <a:xfrm>
            <a:off x="10052658" y="1289304"/>
            <a:ext cx="1636118"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Prioridad</a:t>
            </a:r>
            <a:endParaRPr lang="en-US" sz="1100" dirty="0"/>
          </a:p>
        </p:txBody>
      </p:sp>
      <p:sp>
        <p:nvSpPr>
          <p:cNvPr id="19" name="Shape 17"/>
          <p:cNvSpPr/>
          <p:nvPr/>
        </p:nvSpPr>
        <p:spPr>
          <a:xfrm>
            <a:off x="411480" y="1600200"/>
            <a:ext cx="11368735" cy="310896"/>
          </a:xfrm>
          <a:prstGeom prst="rect">
            <a:avLst/>
          </a:prstGeom>
          <a:solidFill>
            <a:srgbClr val="FFFFFF"/>
          </a:solidFill>
          <a:ln/>
        </p:spPr>
      </p:sp>
      <p:sp>
        <p:nvSpPr>
          <p:cNvPr id="20" name="Text 18"/>
          <p:cNvSpPr txBox="1"/>
          <p:nvPr/>
        </p:nvSpPr>
        <p:spPr>
          <a:xfrm>
            <a:off x="502920" y="1600200"/>
            <a:ext cx="4591989" cy="310896"/>
          </a:xfrm>
          <a:prstGeom prst="rect">
            <a:avLst/>
          </a:prstGeom>
          <a:noFill/>
          <a:ln/>
        </p:spPr>
        <p:txBody>
          <a:bodyPr wrap="square" lIns="0" tIns="0" rIns="0" bIns="0" rtlCol="0" anchor="ctr"/>
          <a:lstStyle/>
          <a:p>
            <a:pPr algn="l" indent="0" marL="0">
              <a:lnSpc>
                <a:spcPct val="110000"/>
              </a:lnSpc>
              <a:buNone/>
            </a:pPr>
            <a:r>
              <a:rPr lang="en-US" sz="1000" dirty="0">
                <a:solidFill>
                  <a:srgbClr val="243044"/>
                </a:solidFill>
                <a:latin typeface="Calibri" pitchFamily="34" charset="0"/>
                <a:ea typeface="Calibri" pitchFamily="34" charset="-122"/>
                <a:cs typeface="Calibri" pitchFamily="34" charset="-120"/>
              </a:rPr>
              <a:t>Desfase en reversas EVERTEC vs. agencia</a:t>
            </a:r>
            <a:endParaRPr lang="en-US" sz="1000" dirty="0"/>
          </a:p>
        </p:txBody>
      </p:sp>
      <p:sp>
        <p:nvSpPr>
          <p:cNvPr id="21" name="Text 19"/>
          <p:cNvSpPr txBox="1"/>
          <p:nvPr/>
        </p:nvSpPr>
        <p:spPr>
          <a:xfrm>
            <a:off x="5277789" y="1600200"/>
            <a:ext cx="2090867"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Frecuente</a:t>
            </a:r>
            <a:endParaRPr lang="en-US" sz="1000" dirty="0"/>
          </a:p>
        </p:txBody>
      </p:sp>
      <p:sp>
        <p:nvSpPr>
          <p:cNvPr id="22" name="Text 20"/>
          <p:cNvSpPr txBox="1"/>
          <p:nvPr/>
        </p:nvSpPr>
        <p:spPr>
          <a:xfrm>
            <a:off x="7551536" y="1600200"/>
            <a:ext cx="2318242"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Alto (financiero / contable)</a:t>
            </a:r>
            <a:endParaRPr lang="en-US" sz="1000" dirty="0"/>
          </a:p>
        </p:txBody>
      </p:sp>
      <p:sp>
        <p:nvSpPr>
          <p:cNvPr id="23" name="Text 21"/>
          <p:cNvSpPr txBox="1"/>
          <p:nvPr/>
        </p:nvSpPr>
        <p:spPr>
          <a:xfrm>
            <a:off x="10052658" y="1600200"/>
            <a:ext cx="1636118" cy="310896"/>
          </a:xfrm>
          <a:prstGeom prst="rect">
            <a:avLst/>
          </a:prstGeom>
          <a:noFill/>
          <a:ln/>
        </p:spPr>
        <p:txBody>
          <a:bodyPr wrap="square" lIns="0" tIns="0" rIns="0" bIns="0" rtlCol="0" anchor="ctr"/>
          <a:lstStyle/>
          <a:p>
            <a:pPr algn="ctr" indent="0" marL="0">
              <a:lnSpc>
                <a:spcPct val="110000"/>
              </a:lnSpc>
              <a:buNone/>
            </a:pPr>
            <a:r>
              <a:rPr lang="en-US" sz="1000" b="1" dirty="0">
                <a:solidFill>
                  <a:srgbClr val="E0392B"/>
                </a:solidFill>
                <a:latin typeface="Calibri" pitchFamily="34" charset="0"/>
                <a:ea typeface="Calibri" pitchFamily="34" charset="-122"/>
                <a:cs typeface="Calibri" pitchFamily="34" charset="-120"/>
              </a:rPr>
              <a:t>Alta</a:t>
            </a:r>
            <a:endParaRPr lang="en-US" sz="1000" dirty="0"/>
          </a:p>
        </p:txBody>
      </p:sp>
      <p:sp>
        <p:nvSpPr>
          <p:cNvPr id="24" name="Shape 22"/>
          <p:cNvSpPr/>
          <p:nvPr/>
        </p:nvSpPr>
        <p:spPr>
          <a:xfrm>
            <a:off x="411480" y="1911096"/>
            <a:ext cx="11368735" cy="310896"/>
          </a:xfrm>
          <a:prstGeom prst="rect">
            <a:avLst/>
          </a:prstGeom>
          <a:solidFill>
            <a:srgbClr val="F5F7FA"/>
          </a:solidFill>
          <a:ln/>
        </p:spPr>
      </p:sp>
      <p:sp>
        <p:nvSpPr>
          <p:cNvPr id="25" name="Text 23"/>
          <p:cNvSpPr txBox="1"/>
          <p:nvPr/>
        </p:nvSpPr>
        <p:spPr>
          <a:xfrm>
            <a:off x="502920" y="1911096"/>
            <a:ext cx="4591989" cy="310896"/>
          </a:xfrm>
          <a:prstGeom prst="rect">
            <a:avLst/>
          </a:prstGeom>
          <a:noFill/>
          <a:ln/>
        </p:spPr>
        <p:txBody>
          <a:bodyPr wrap="square" lIns="0" tIns="0" rIns="0" bIns="0" rtlCol="0" anchor="ctr"/>
          <a:lstStyle/>
          <a:p>
            <a:pPr algn="l" indent="0" marL="0">
              <a:lnSpc>
                <a:spcPct val="110000"/>
              </a:lnSpc>
              <a:buNone/>
            </a:pPr>
            <a:r>
              <a:rPr lang="en-US" sz="1000" dirty="0">
                <a:solidFill>
                  <a:srgbClr val="243044"/>
                </a:solidFill>
                <a:latin typeface="Calibri" pitchFamily="34" charset="0"/>
                <a:ea typeface="Calibri" pitchFamily="34" charset="-122"/>
                <a:cs typeface="Calibri" pitchFamily="34" charset="-120"/>
              </a:rPr>
              <a:t>Duplicidad de pagos durante caídas del sistema</a:t>
            </a:r>
            <a:endParaRPr lang="en-US" sz="1000" dirty="0"/>
          </a:p>
        </p:txBody>
      </p:sp>
      <p:sp>
        <p:nvSpPr>
          <p:cNvPr id="26" name="Text 24"/>
          <p:cNvSpPr txBox="1"/>
          <p:nvPr/>
        </p:nvSpPr>
        <p:spPr>
          <a:xfrm>
            <a:off x="5277789" y="1911096"/>
            <a:ext cx="2090867"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Ocasional</a:t>
            </a:r>
            <a:endParaRPr lang="en-US" sz="1000" dirty="0"/>
          </a:p>
        </p:txBody>
      </p:sp>
      <p:sp>
        <p:nvSpPr>
          <p:cNvPr id="27" name="Text 25"/>
          <p:cNvSpPr txBox="1"/>
          <p:nvPr/>
        </p:nvSpPr>
        <p:spPr>
          <a:xfrm>
            <a:off x="7551536" y="1911096"/>
            <a:ext cx="2318242"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Alto (confianza del cliente)</a:t>
            </a:r>
            <a:endParaRPr lang="en-US" sz="1000" dirty="0"/>
          </a:p>
        </p:txBody>
      </p:sp>
      <p:sp>
        <p:nvSpPr>
          <p:cNvPr id="28" name="Text 26"/>
          <p:cNvSpPr txBox="1"/>
          <p:nvPr/>
        </p:nvSpPr>
        <p:spPr>
          <a:xfrm>
            <a:off x="10052658" y="1911096"/>
            <a:ext cx="1636118" cy="310896"/>
          </a:xfrm>
          <a:prstGeom prst="rect">
            <a:avLst/>
          </a:prstGeom>
          <a:noFill/>
          <a:ln/>
        </p:spPr>
        <p:txBody>
          <a:bodyPr wrap="square" lIns="0" tIns="0" rIns="0" bIns="0" rtlCol="0" anchor="ctr"/>
          <a:lstStyle/>
          <a:p>
            <a:pPr algn="ctr" indent="0" marL="0">
              <a:lnSpc>
                <a:spcPct val="110000"/>
              </a:lnSpc>
              <a:buNone/>
            </a:pPr>
            <a:r>
              <a:rPr lang="en-US" sz="1000" b="1" dirty="0">
                <a:solidFill>
                  <a:srgbClr val="E0392B"/>
                </a:solidFill>
                <a:latin typeface="Calibri" pitchFamily="34" charset="0"/>
                <a:ea typeface="Calibri" pitchFamily="34" charset="-122"/>
                <a:cs typeface="Calibri" pitchFamily="34" charset="-120"/>
              </a:rPr>
              <a:t>Alta</a:t>
            </a:r>
            <a:endParaRPr lang="en-US" sz="1000" dirty="0"/>
          </a:p>
        </p:txBody>
      </p:sp>
      <p:sp>
        <p:nvSpPr>
          <p:cNvPr id="29" name="Shape 27"/>
          <p:cNvSpPr/>
          <p:nvPr/>
        </p:nvSpPr>
        <p:spPr>
          <a:xfrm>
            <a:off x="411480" y="2221992"/>
            <a:ext cx="11368735" cy="310896"/>
          </a:xfrm>
          <a:prstGeom prst="rect">
            <a:avLst/>
          </a:prstGeom>
          <a:solidFill>
            <a:srgbClr val="FFFFFF"/>
          </a:solidFill>
          <a:ln/>
        </p:spPr>
      </p:sp>
      <p:sp>
        <p:nvSpPr>
          <p:cNvPr id="30" name="Text 28"/>
          <p:cNvSpPr txBox="1"/>
          <p:nvPr/>
        </p:nvSpPr>
        <p:spPr>
          <a:xfrm>
            <a:off x="502920" y="2221992"/>
            <a:ext cx="4591989" cy="310896"/>
          </a:xfrm>
          <a:prstGeom prst="rect">
            <a:avLst/>
          </a:prstGeom>
          <a:noFill/>
          <a:ln/>
        </p:spPr>
        <p:txBody>
          <a:bodyPr wrap="square" lIns="0" tIns="0" rIns="0" bIns="0" rtlCol="0" anchor="ctr"/>
          <a:lstStyle/>
          <a:p>
            <a:pPr algn="l" indent="0" marL="0">
              <a:lnSpc>
                <a:spcPct val="110000"/>
              </a:lnSpc>
              <a:buNone/>
            </a:pPr>
            <a:r>
              <a:rPr lang="en-US" sz="1000" dirty="0">
                <a:solidFill>
                  <a:srgbClr val="243044"/>
                </a:solidFill>
                <a:latin typeface="Calibri" pitchFamily="34" charset="0"/>
                <a:ea typeface="Calibri" pitchFamily="34" charset="-122"/>
                <a:cs typeface="Calibri" pitchFamily="34" charset="-120"/>
              </a:rPr>
              <a:t>Fallas frecuentes del sistema</a:t>
            </a:r>
            <a:endParaRPr lang="en-US" sz="1000" dirty="0"/>
          </a:p>
        </p:txBody>
      </p:sp>
      <p:sp>
        <p:nvSpPr>
          <p:cNvPr id="31" name="Text 29"/>
          <p:cNvSpPr txBox="1"/>
          <p:nvPr/>
        </p:nvSpPr>
        <p:spPr>
          <a:xfrm>
            <a:off x="5277789" y="2221992"/>
            <a:ext cx="2090867"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Frecuente (35.3%)</a:t>
            </a:r>
            <a:endParaRPr lang="en-US" sz="1000" dirty="0"/>
          </a:p>
        </p:txBody>
      </p:sp>
      <p:sp>
        <p:nvSpPr>
          <p:cNvPr id="32" name="Text 30"/>
          <p:cNvSpPr txBox="1"/>
          <p:nvPr/>
        </p:nvSpPr>
        <p:spPr>
          <a:xfrm>
            <a:off x="7551536" y="2221992"/>
            <a:ext cx="2318242"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Alto (operativo)</a:t>
            </a:r>
            <a:endParaRPr lang="en-US" sz="1000" dirty="0"/>
          </a:p>
        </p:txBody>
      </p:sp>
      <p:sp>
        <p:nvSpPr>
          <p:cNvPr id="33" name="Text 31"/>
          <p:cNvSpPr txBox="1"/>
          <p:nvPr/>
        </p:nvSpPr>
        <p:spPr>
          <a:xfrm>
            <a:off x="10052658" y="2221992"/>
            <a:ext cx="1636118" cy="310896"/>
          </a:xfrm>
          <a:prstGeom prst="rect">
            <a:avLst/>
          </a:prstGeom>
          <a:noFill/>
          <a:ln/>
        </p:spPr>
        <p:txBody>
          <a:bodyPr wrap="square" lIns="0" tIns="0" rIns="0" bIns="0" rtlCol="0" anchor="ctr"/>
          <a:lstStyle/>
          <a:p>
            <a:pPr algn="ctr" indent="0" marL="0">
              <a:lnSpc>
                <a:spcPct val="110000"/>
              </a:lnSpc>
              <a:buNone/>
            </a:pPr>
            <a:r>
              <a:rPr lang="en-US" sz="1000" b="1" dirty="0">
                <a:solidFill>
                  <a:srgbClr val="E0392B"/>
                </a:solidFill>
                <a:latin typeface="Calibri" pitchFamily="34" charset="0"/>
                <a:ea typeface="Calibri" pitchFamily="34" charset="-122"/>
                <a:cs typeface="Calibri" pitchFamily="34" charset="-120"/>
              </a:rPr>
              <a:t>Alta</a:t>
            </a:r>
            <a:endParaRPr lang="en-US" sz="1000" dirty="0"/>
          </a:p>
        </p:txBody>
      </p:sp>
      <p:sp>
        <p:nvSpPr>
          <p:cNvPr id="34" name="Shape 32"/>
          <p:cNvSpPr/>
          <p:nvPr/>
        </p:nvSpPr>
        <p:spPr>
          <a:xfrm>
            <a:off x="411480" y="2532888"/>
            <a:ext cx="11368735" cy="310896"/>
          </a:xfrm>
          <a:prstGeom prst="rect">
            <a:avLst/>
          </a:prstGeom>
          <a:solidFill>
            <a:srgbClr val="F5F7FA"/>
          </a:solidFill>
          <a:ln/>
        </p:spPr>
      </p:sp>
      <p:sp>
        <p:nvSpPr>
          <p:cNvPr id="35" name="Text 33"/>
          <p:cNvSpPr txBox="1"/>
          <p:nvPr/>
        </p:nvSpPr>
        <p:spPr>
          <a:xfrm>
            <a:off x="502920" y="2532888"/>
            <a:ext cx="4591989" cy="310896"/>
          </a:xfrm>
          <a:prstGeom prst="rect">
            <a:avLst/>
          </a:prstGeom>
          <a:noFill/>
          <a:ln/>
        </p:spPr>
        <p:txBody>
          <a:bodyPr wrap="square" lIns="0" tIns="0" rIns="0" bIns="0" rtlCol="0" anchor="ctr"/>
          <a:lstStyle/>
          <a:p>
            <a:pPr algn="l" indent="0" marL="0">
              <a:lnSpc>
                <a:spcPct val="110000"/>
              </a:lnSpc>
              <a:buNone/>
            </a:pPr>
            <a:r>
              <a:rPr lang="en-US" sz="1000" dirty="0">
                <a:solidFill>
                  <a:srgbClr val="243044"/>
                </a:solidFill>
                <a:latin typeface="Calibri" pitchFamily="34" charset="0"/>
                <a:ea typeface="Calibri" pitchFamily="34" charset="-122"/>
                <a:cs typeface="Calibri" pitchFamily="34" charset="-120"/>
              </a:rPr>
              <a:t>Reclamos de asociados</a:t>
            </a:r>
            <a:endParaRPr lang="en-US" sz="1000" dirty="0"/>
          </a:p>
        </p:txBody>
      </p:sp>
      <p:sp>
        <p:nvSpPr>
          <p:cNvPr id="36" name="Text 34"/>
          <p:cNvSpPr txBox="1"/>
          <p:nvPr/>
        </p:nvSpPr>
        <p:spPr>
          <a:xfrm>
            <a:off x="5277789" y="2532888"/>
            <a:ext cx="2090867"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Frecuente (41.2%)</a:t>
            </a:r>
            <a:endParaRPr lang="en-US" sz="1000" dirty="0"/>
          </a:p>
        </p:txBody>
      </p:sp>
      <p:sp>
        <p:nvSpPr>
          <p:cNvPr id="37" name="Text 35"/>
          <p:cNvSpPr txBox="1"/>
          <p:nvPr/>
        </p:nvSpPr>
        <p:spPr>
          <a:xfrm>
            <a:off x="7551536" y="2532888"/>
            <a:ext cx="2318242"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Medio</a:t>
            </a:r>
            <a:endParaRPr lang="en-US" sz="1000" dirty="0"/>
          </a:p>
        </p:txBody>
      </p:sp>
      <p:sp>
        <p:nvSpPr>
          <p:cNvPr id="38" name="Text 36"/>
          <p:cNvSpPr txBox="1"/>
          <p:nvPr/>
        </p:nvSpPr>
        <p:spPr>
          <a:xfrm>
            <a:off x="10052658" y="2532888"/>
            <a:ext cx="1636118" cy="310896"/>
          </a:xfrm>
          <a:prstGeom prst="rect">
            <a:avLst/>
          </a:prstGeom>
          <a:noFill/>
          <a:ln/>
        </p:spPr>
        <p:txBody>
          <a:bodyPr wrap="square" lIns="0" tIns="0" rIns="0" bIns="0" rtlCol="0" anchor="ctr"/>
          <a:lstStyle/>
          <a:p>
            <a:pPr algn="ctr" indent="0" marL="0">
              <a:lnSpc>
                <a:spcPct val="110000"/>
              </a:lnSpc>
              <a:buNone/>
            </a:pPr>
            <a:r>
              <a:rPr lang="en-US" sz="1000" b="1" dirty="0">
                <a:solidFill>
                  <a:srgbClr val="A6650F"/>
                </a:solidFill>
                <a:latin typeface="Calibri" pitchFamily="34" charset="0"/>
                <a:ea typeface="Calibri" pitchFamily="34" charset="-122"/>
                <a:cs typeface="Calibri" pitchFamily="34" charset="-120"/>
              </a:rPr>
              <a:t>Media</a:t>
            </a:r>
            <a:endParaRPr lang="en-US" sz="1000" dirty="0"/>
          </a:p>
        </p:txBody>
      </p:sp>
      <p:sp>
        <p:nvSpPr>
          <p:cNvPr id="39" name="Shape 37"/>
          <p:cNvSpPr/>
          <p:nvPr/>
        </p:nvSpPr>
        <p:spPr>
          <a:xfrm>
            <a:off x="411480" y="2843784"/>
            <a:ext cx="11368735" cy="310896"/>
          </a:xfrm>
          <a:prstGeom prst="rect">
            <a:avLst/>
          </a:prstGeom>
          <a:solidFill>
            <a:srgbClr val="FFFFFF"/>
          </a:solidFill>
          <a:ln/>
        </p:spPr>
      </p:sp>
      <p:sp>
        <p:nvSpPr>
          <p:cNvPr id="40" name="Text 38"/>
          <p:cNvSpPr txBox="1"/>
          <p:nvPr/>
        </p:nvSpPr>
        <p:spPr>
          <a:xfrm>
            <a:off x="502920" y="2843784"/>
            <a:ext cx="4591989" cy="310896"/>
          </a:xfrm>
          <a:prstGeom prst="rect">
            <a:avLst/>
          </a:prstGeom>
          <a:noFill/>
          <a:ln/>
        </p:spPr>
        <p:txBody>
          <a:bodyPr wrap="square" lIns="0" tIns="0" rIns="0" bIns="0" rtlCol="0" anchor="ctr"/>
          <a:lstStyle/>
          <a:p>
            <a:pPr algn="l" indent="0" marL="0">
              <a:lnSpc>
                <a:spcPct val="110000"/>
              </a:lnSpc>
              <a:buNone/>
            </a:pPr>
            <a:r>
              <a:rPr lang="en-US" sz="1000" dirty="0">
                <a:solidFill>
                  <a:srgbClr val="243044"/>
                </a:solidFill>
                <a:latin typeface="Calibri" pitchFamily="34" charset="0"/>
                <a:ea typeface="Calibri" pitchFamily="34" charset="-122"/>
                <a:cs typeface="Calibri" pitchFamily="34" charset="-120"/>
              </a:rPr>
              <a:t>Debilidad en gestión de fraude</a:t>
            </a:r>
            <a:endParaRPr lang="en-US" sz="1000" dirty="0"/>
          </a:p>
        </p:txBody>
      </p:sp>
      <p:sp>
        <p:nvSpPr>
          <p:cNvPr id="41" name="Text 39"/>
          <p:cNvSpPr txBox="1"/>
          <p:nvPr/>
        </p:nvSpPr>
        <p:spPr>
          <a:xfrm>
            <a:off x="5277789" y="2843784"/>
            <a:ext cx="2090867"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Ocasional</a:t>
            </a:r>
            <a:endParaRPr lang="en-US" sz="1000" dirty="0"/>
          </a:p>
        </p:txBody>
      </p:sp>
      <p:sp>
        <p:nvSpPr>
          <p:cNvPr id="42" name="Text 40"/>
          <p:cNvSpPr txBox="1"/>
          <p:nvPr/>
        </p:nvSpPr>
        <p:spPr>
          <a:xfrm>
            <a:off x="7551536" y="2843784"/>
            <a:ext cx="2318242"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Medio-Alto</a:t>
            </a:r>
            <a:endParaRPr lang="en-US" sz="1000" dirty="0"/>
          </a:p>
        </p:txBody>
      </p:sp>
      <p:sp>
        <p:nvSpPr>
          <p:cNvPr id="43" name="Text 41"/>
          <p:cNvSpPr txBox="1"/>
          <p:nvPr/>
        </p:nvSpPr>
        <p:spPr>
          <a:xfrm>
            <a:off x="10052658" y="2843784"/>
            <a:ext cx="1636118" cy="310896"/>
          </a:xfrm>
          <a:prstGeom prst="rect">
            <a:avLst/>
          </a:prstGeom>
          <a:noFill/>
          <a:ln/>
        </p:spPr>
        <p:txBody>
          <a:bodyPr wrap="square" lIns="0" tIns="0" rIns="0" bIns="0" rtlCol="0" anchor="ctr"/>
          <a:lstStyle/>
          <a:p>
            <a:pPr algn="ctr" indent="0" marL="0">
              <a:lnSpc>
                <a:spcPct val="110000"/>
              </a:lnSpc>
              <a:buNone/>
            </a:pPr>
            <a:r>
              <a:rPr lang="en-US" sz="1000" b="1" dirty="0">
                <a:solidFill>
                  <a:srgbClr val="A6650F"/>
                </a:solidFill>
                <a:latin typeface="Calibri" pitchFamily="34" charset="0"/>
                <a:ea typeface="Calibri" pitchFamily="34" charset="-122"/>
                <a:cs typeface="Calibri" pitchFamily="34" charset="-120"/>
              </a:rPr>
              <a:t>Media</a:t>
            </a:r>
            <a:endParaRPr lang="en-US" sz="1000" dirty="0"/>
          </a:p>
        </p:txBody>
      </p:sp>
      <p:sp>
        <p:nvSpPr>
          <p:cNvPr id="44" name="Shape 42"/>
          <p:cNvSpPr/>
          <p:nvPr/>
        </p:nvSpPr>
        <p:spPr>
          <a:xfrm>
            <a:off x="411480" y="3154680"/>
            <a:ext cx="11368735" cy="310896"/>
          </a:xfrm>
          <a:prstGeom prst="rect">
            <a:avLst/>
          </a:prstGeom>
          <a:solidFill>
            <a:srgbClr val="F5F7FA"/>
          </a:solidFill>
          <a:ln/>
        </p:spPr>
      </p:sp>
      <p:sp>
        <p:nvSpPr>
          <p:cNvPr id="45" name="Text 43"/>
          <p:cNvSpPr txBox="1"/>
          <p:nvPr/>
        </p:nvSpPr>
        <p:spPr>
          <a:xfrm>
            <a:off x="502920" y="3154680"/>
            <a:ext cx="4591989" cy="310896"/>
          </a:xfrm>
          <a:prstGeom prst="rect">
            <a:avLst/>
          </a:prstGeom>
          <a:noFill/>
          <a:ln/>
        </p:spPr>
        <p:txBody>
          <a:bodyPr wrap="square" lIns="0" tIns="0" rIns="0" bIns="0" rtlCol="0" anchor="ctr"/>
          <a:lstStyle/>
          <a:p>
            <a:pPr algn="l" indent="0" marL="0">
              <a:lnSpc>
                <a:spcPct val="110000"/>
              </a:lnSpc>
              <a:buNone/>
            </a:pPr>
            <a:r>
              <a:rPr lang="en-US" sz="1000" dirty="0">
                <a:solidFill>
                  <a:srgbClr val="243044"/>
                </a:solidFill>
                <a:latin typeface="Calibri" pitchFamily="34" charset="0"/>
                <a:ea typeface="Calibri" pitchFamily="34" charset="-122"/>
                <a:cs typeface="Calibri" pitchFamily="34" charset="-120"/>
              </a:rPr>
              <a:t>Demoras en soporte técnico</a:t>
            </a:r>
            <a:endParaRPr lang="en-US" sz="1000" dirty="0"/>
          </a:p>
        </p:txBody>
      </p:sp>
      <p:sp>
        <p:nvSpPr>
          <p:cNvPr id="46" name="Text 44"/>
          <p:cNvSpPr txBox="1"/>
          <p:nvPr/>
        </p:nvSpPr>
        <p:spPr>
          <a:xfrm>
            <a:off x="5277789" y="3154680"/>
            <a:ext cx="2090867"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Ocasional (17.6%)</a:t>
            </a:r>
            <a:endParaRPr lang="en-US" sz="1000" dirty="0"/>
          </a:p>
        </p:txBody>
      </p:sp>
      <p:sp>
        <p:nvSpPr>
          <p:cNvPr id="47" name="Text 45"/>
          <p:cNvSpPr txBox="1"/>
          <p:nvPr/>
        </p:nvSpPr>
        <p:spPr>
          <a:xfrm>
            <a:off x="7551536" y="3154680"/>
            <a:ext cx="2318242" cy="310896"/>
          </a:xfrm>
          <a:prstGeom prst="rect">
            <a:avLst/>
          </a:prstGeom>
          <a:noFill/>
          <a:ln/>
        </p:spPr>
        <p:txBody>
          <a:bodyPr wrap="square" lIns="0" tIns="0" rIns="0" bIns="0" rtlCol="0" anchor="ctr"/>
          <a:lstStyle/>
          <a:p>
            <a:pPr algn="ctr" indent="0" marL="0">
              <a:lnSpc>
                <a:spcPct val="110000"/>
              </a:lnSpc>
              <a:buNone/>
            </a:pPr>
            <a:r>
              <a:rPr lang="en-US" sz="1000" dirty="0">
                <a:solidFill>
                  <a:srgbClr val="243044"/>
                </a:solidFill>
                <a:latin typeface="Calibri" pitchFamily="34" charset="0"/>
                <a:ea typeface="Calibri" pitchFamily="34" charset="-122"/>
                <a:cs typeface="Calibri" pitchFamily="34" charset="-120"/>
              </a:rPr>
              <a:t>Medio</a:t>
            </a:r>
            <a:endParaRPr lang="en-US" sz="1000" dirty="0"/>
          </a:p>
        </p:txBody>
      </p:sp>
      <p:sp>
        <p:nvSpPr>
          <p:cNvPr id="48" name="Text 46"/>
          <p:cNvSpPr txBox="1"/>
          <p:nvPr/>
        </p:nvSpPr>
        <p:spPr>
          <a:xfrm>
            <a:off x="10052658" y="3154680"/>
            <a:ext cx="1636118" cy="310896"/>
          </a:xfrm>
          <a:prstGeom prst="rect">
            <a:avLst/>
          </a:prstGeom>
          <a:noFill/>
          <a:ln/>
        </p:spPr>
        <p:txBody>
          <a:bodyPr wrap="square" lIns="0" tIns="0" rIns="0" bIns="0" rtlCol="0" anchor="ctr"/>
          <a:lstStyle/>
          <a:p>
            <a:pPr algn="ctr" indent="0" marL="0">
              <a:lnSpc>
                <a:spcPct val="110000"/>
              </a:lnSpc>
              <a:buNone/>
            </a:pPr>
            <a:r>
              <a:rPr lang="en-US" sz="1000" b="1" dirty="0">
                <a:solidFill>
                  <a:srgbClr val="A6650F"/>
                </a:solidFill>
                <a:latin typeface="Calibri" pitchFamily="34" charset="0"/>
                <a:ea typeface="Calibri" pitchFamily="34" charset="-122"/>
                <a:cs typeface="Calibri" pitchFamily="34" charset="-120"/>
              </a:rPr>
              <a:t>Media</a:t>
            </a:r>
            <a:endParaRPr lang="en-US" sz="1000" dirty="0"/>
          </a:p>
        </p:txBody>
      </p:sp>
      <p:sp>
        <p:nvSpPr>
          <p:cNvPr id="49" name="Shape 47"/>
          <p:cNvSpPr/>
          <p:nvPr/>
        </p:nvSpPr>
        <p:spPr>
          <a:xfrm>
            <a:off x="411480" y="1289304"/>
            <a:ext cx="11368735" cy="2176272"/>
          </a:xfrm>
          <a:prstGeom prst="rect">
            <a:avLst/>
          </a:prstGeom>
          <a:ln w="9525">
            <a:solidFill>
              <a:srgbClr val="DDE3EC"/>
            </a:solidFill>
            <a:prstDash val="solid"/>
          </a:ln>
        </p:spPr>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2F5F9"/>
        </a:solidFill>
      </p:bgPr>
    </p:bg>
    <p:spTree>
      <p:nvGrpSpPr>
        <p:cNvPr id="1" name=""/>
        <p:cNvGrpSpPr/>
        <p:nvPr/>
      </p:nvGrpSpPr>
      <p:grpSpPr>
        <a:xfrm>
          <a:off x="0" y="0"/>
          <a:ext cx="0" cy="0"/>
          <a:chOff x="0" y="0"/>
          <a:chExt cx="0" cy="0"/>
        </a:xfrm>
      </p:grpSpPr>
      <p:sp>
        <p:nvSpPr>
          <p:cNvPr id="2" name="Shape 0"/>
          <p:cNvSpPr/>
          <p:nvPr/>
        </p:nvSpPr>
        <p:spPr>
          <a:xfrm>
            <a:off x="0" y="0"/>
            <a:ext cx="12191695" cy="868680"/>
          </a:xfrm>
          <a:prstGeom prst="rect">
            <a:avLst/>
          </a:prstGeom>
          <a:solidFill>
            <a:srgbClr val="133B6C"/>
          </a:solidFill>
          <a:ln/>
        </p:spPr>
      </p:sp>
      <p:sp>
        <p:nvSpPr>
          <p:cNvPr id="3" name="Shape 1"/>
          <p:cNvSpPr/>
          <p:nvPr/>
        </p:nvSpPr>
        <p:spPr>
          <a:xfrm>
            <a:off x="0" y="0"/>
            <a:ext cx="4876678" cy="868680"/>
          </a:xfrm>
          <a:prstGeom prst="rect">
            <a:avLst/>
          </a:prstGeom>
          <a:solidFill>
            <a:srgbClr val="0A1F3B"/>
          </a:solidFill>
          <a:ln/>
        </p:spPr>
      </p:sp>
      <p:sp>
        <p:nvSpPr>
          <p:cNvPr id="4" name="Shape 2"/>
          <p:cNvSpPr/>
          <p:nvPr/>
        </p:nvSpPr>
        <p:spPr>
          <a:xfrm>
            <a:off x="10241024" y="0"/>
            <a:ext cx="1950671" cy="868680"/>
          </a:xfrm>
          <a:prstGeom prst="rect">
            <a:avLst/>
          </a:prstGeom>
          <a:solidFill>
            <a:srgbClr val="106B78"/>
          </a:solidFill>
          <a:ln/>
        </p:spPr>
      </p:sp>
      <p:sp>
        <p:nvSpPr>
          <p:cNvPr id="5" name="Shape 3"/>
          <p:cNvSpPr/>
          <p:nvPr/>
        </p:nvSpPr>
        <p:spPr>
          <a:xfrm>
            <a:off x="0" y="841248"/>
            <a:ext cx="12191695" cy="27432"/>
          </a:xfrm>
          <a:prstGeom prst="rect">
            <a:avLst/>
          </a:prstGeom>
          <a:solidFill>
            <a:srgbClr val="17A9B0"/>
          </a:solidFill>
          <a:ln/>
        </p:spPr>
      </p:sp>
      <p:sp>
        <p:nvSpPr>
          <p:cNvPr id="6" name="Text 4"/>
          <p:cNvSpPr txBox="1"/>
          <p:nvPr/>
        </p:nvSpPr>
        <p:spPr>
          <a:xfrm>
            <a:off x="411480" y="128016"/>
            <a:ext cx="9144000" cy="182880"/>
          </a:xfrm>
          <a:prstGeom prst="rect">
            <a:avLst/>
          </a:prstGeom>
          <a:noFill/>
          <a:ln/>
        </p:spPr>
        <p:txBody>
          <a:bodyPr wrap="square" lIns="0" tIns="0" rIns="0" bIns="0" rtlCol="0" anchor="ctr"/>
          <a:lstStyle/>
          <a:p>
            <a:pPr algn="l" indent="0" marL="0">
              <a:buNone/>
            </a:pPr>
            <a:r>
              <a:rPr lang="en-US" sz="950" b="1" spc="160" kern="0" dirty="0">
                <a:solidFill>
                  <a:srgbClr val="97D8DB"/>
                </a:solidFill>
                <a:latin typeface="Calibri" pitchFamily="34" charset="0"/>
                <a:ea typeface="Calibri" pitchFamily="34" charset="-122"/>
                <a:cs typeface="Calibri" pitchFamily="34" charset="-120"/>
              </a:rPr>
              <a:t>CIERRE EJECUTIVO</a:t>
            </a:r>
            <a:endParaRPr lang="en-US" sz="950" dirty="0"/>
          </a:p>
        </p:txBody>
      </p:sp>
      <p:sp>
        <p:nvSpPr>
          <p:cNvPr id="7" name="Text 5"/>
          <p:cNvSpPr txBox="1"/>
          <p:nvPr/>
        </p:nvSpPr>
        <p:spPr>
          <a:xfrm>
            <a:off x="411480" y="320040"/>
            <a:ext cx="9875520" cy="475488"/>
          </a:xfrm>
          <a:prstGeom prst="rect">
            <a:avLst/>
          </a:prstGeom>
          <a:noFill/>
          <a:ln/>
        </p:spPr>
        <p:txBody>
          <a:bodyPr wrap="square" lIns="0" tIns="0" rIns="0" bIns="0" rtlCol="0" anchor="t"/>
          <a:lstStyle/>
          <a:p>
            <a:pPr algn="l" indent="0" marL="0">
              <a:lnSpc>
                <a:spcPct val="98000"/>
              </a:lnSpc>
              <a:buNone/>
            </a:pPr>
            <a:r>
              <a:rPr lang="en-US" sz="2200" b="1" dirty="0">
                <a:solidFill>
                  <a:srgbClr val="FFFFFF"/>
                </a:solidFill>
                <a:latin typeface="Calibri" pitchFamily="34" charset="0"/>
                <a:ea typeface="Calibri" pitchFamily="34" charset="-122"/>
                <a:cs typeface="Calibri" pitchFamily="34" charset="-120"/>
              </a:rPr>
              <a:t>Conclusiones y Próximos Pasos para la Gerencia General</a:t>
            </a:r>
            <a:endParaRPr lang="en-US" sz="2200" dirty="0"/>
          </a:p>
        </p:txBody>
      </p:sp>
      <p:sp>
        <p:nvSpPr>
          <p:cNvPr id="8" name="Shape 6"/>
          <p:cNvSpPr/>
          <p:nvPr/>
        </p:nvSpPr>
        <p:spPr>
          <a:xfrm>
            <a:off x="11323015" y="219456"/>
            <a:ext cx="457200" cy="457200"/>
          </a:xfrm>
          <a:prstGeom prst="ellipse">
            <a:avLst/>
          </a:prstGeom>
          <a:solidFill>
            <a:srgbClr val="17A9B0"/>
          </a:solidFill>
          <a:ln/>
        </p:spPr>
      </p:sp>
      <p:sp>
        <p:nvSpPr>
          <p:cNvPr id="9" name="Text 7"/>
          <p:cNvSpPr txBox="1"/>
          <p:nvPr/>
        </p:nvSpPr>
        <p:spPr>
          <a:xfrm>
            <a:off x="11323015" y="219456"/>
            <a:ext cx="457200" cy="457200"/>
          </a:xfrm>
          <a:prstGeom prst="rect">
            <a:avLst/>
          </a:prstGeom>
          <a:noFill/>
          <a:ln/>
        </p:spPr>
        <p:txBody>
          <a:bodyPr wrap="square" lIns="0" tIns="0" rIns="0" bIns="0"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10</a:t>
            </a:r>
            <a:endParaRPr lang="en-US" sz="1600" dirty="0"/>
          </a:p>
        </p:txBody>
      </p:sp>
      <p:sp>
        <p:nvSpPr>
          <p:cNvPr id="10" name="Shape 8"/>
          <p:cNvSpPr/>
          <p:nvPr/>
        </p:nvSpPr>
        <p:spPr>
          <a:xfrm>
            <a:off x="0" y="6565392"/>
            <a:ext cx="12191695" cy="292608"/>
          </a:xfrm>
          <a:prstGeom prst="rect">
            <a:avLst/>
          </a:prstGeom>
          <a:solidFill>
            <a:srgbClr val="F2F5F9"/>
          </a:solidFill>
          <a:ln w="9525">
            <a:solidFill>
              <a:srgbClr val="DDE3EC"/>
            </a:solidFill>
            <a:prstDash val="solid"/>
          </a:ln>
        </p:spPr>
      </p:sp>
      <p:sp>
        <p:nvSpPr>
          <p:cNvPr id="11" name="Text 9"/>
          <p:cNvSpPr txBox="1"/>
          <p:nvPr/>
        </p:nvSpPr>
        <p:spPr>
          <a:xfrm>
            <a:off x="411480" y="6565392"/>
            <a:ext cx="4572000" cy="292608"/>
          </a:xfrm>
          <a:prstGeom prst="rect">
            <a:avLst/>
          </a:prstGeom>
          <a:noFill/>
          <a:ln/>
        </p:spPr>
        <p:txBody>
          <a:bodyPr wrap="square" lIns="0" tIns="0" rIns="0" bIns="0" rtlCol="0" anchor="ctr"/>
          <a:lstStyle/>
          <a:p>
            <a:pPr algn="l" indent="0" marL="0">
              <a:buNone/>
            </a:pPr>
            <a:r>
              <a:rPr lang="en-US" sz="850" b="1" dirty="0">
                <a:solidFill>
                  <a:srgbClr val="5B6B82"/>
                </a:solidFill>
                <a:latin typeface="Calibri" pitchFamily="34" charset="0"/>
                <a:ea typeface="Calibri" pitchFamily="34" charset="-122"/>
                <a:cs typeface="Calibri" pitchFamily="34" charset="-120"/>
              </a:rPr>
              <a:t>CONFIDENCIAL · Gerencia General</a:t>
            </a:r>
            <a:endParaRPr lang="en-US" sz="850" dirty="0"/>
          </a:p>
        </p:txBody>
      </p:sp>
      <p:sp>
        <p:nvSpPr>
          <p:cNvPr id="12" name="Text 10"/>
          <p:cNvSpPr txBox="1"/>
          <p:nvPr/>
        </p:nvSpPr>
        <p:spPr>
          <a:xfrm>
            <a:off x="7208215" y="6565392"/>
            <a:ext cx="4572000" cy="292608"/>
          </a:xfrm>
          <a:prstGeom prst="rect">
            <a:avLst/>
          </a:prstGeom>
          <a:noFill/>
          <a:ln/>
        </p:spPr>
        <p:txBody>
          <a:bodyPr wrap="square" lIns="0" tIns="0" rIns="0" bIns="0" rtlCol="0" anchor="ctr"/>
          <a:lstStyle/>
          <a:p>
            <a:pPr algn="r" indent="0" marL="0">
              <a:buNone/>
            </a:pPr>
            <a:r>
              <a:rPr lang="en-US" sz="850" dirty="0">
                <a:solidFill>
                  <a:srgbClr val="5B6B82"/>
                </a:solidFill>
                <a:latin typeface="Calibri" pitchFamily="34" charset="0"/>
                <a:ea typeface="Calibri" pitchFamily="34" charset="-122"/>
                <a:cs typeface="Calibri" pitchFamily="34" charset="-120"/>
              </a:rPr>
              <a:t>Análisis de Servicio EVERTEC · Encuesta a Agencias</a:t>
            </a:r>
            <a:endParaRPr lang="en-US" sz="850" dirty="0"/>
          </a:p>
        </p:txBody>
      </p:sp>
      <p:sp>
        <p:nvSpPr>
          <p:cNvPr id="13" name="Shape 11"/>
          <p:cNvSpPr/>
          <p:nvPr/>
        </p:nvSpPr>
        <p:spPr>
          <a:xfrm>
            <a:off x="411480" y="1207008"/>
            <a:ext cx="5120640" cy="5248656"/>
          </a:xfrm>
          <a:prstGeom prst="roundRect">
            <a:avLst>
              <a:gd name="adj" fmla="val 1429"/>
            </a:avLst>
          </a:prstGeom>
          <a:solidFill>
            <a:srgbClr val="133B6C"/>
          </a:solidFill>
          <a:ln/>
        </p:spPr>
      </p:sp>
      <p:pic>
        <p:nvPicPr>
          <p:cNvPr id="14" name="Image 0" descr="/tmp/claude-0/-home-user-riesgo/579fb8c8-70e5-51d5-80ec-6ed51cc2e8df/scratchpad/pptx-build/icons/flag_FFFFFF.png">    </p:cNvPr>
          <p:cNvPicPr>
            <a:picLocks noChangeAspect="1"/>
          </p:cNvPicPr>
          <p:nvPr/>
        </p:nvPicPr>
        <p:blipFill>
          <a:blip r:embed="rId1"/>
          <a:stretch>
            <a:fillRect/>
          </a:stretch>
        </p:blipFill>
        <p:spPr>
          <a:xfrm>
            <a:off x="649224" y="1435608"/>
            <a:ext cx="310896" cy="310896"/>
          </a:xfrm>
          <a:prstGeom prst="rect">
            <a:avLst/>
          </a:prstGeom>
        </p:spPr>
      </p:pic>
      <p:sp>
        <p:nvSpPr>
          <p:cNvPr id="15" name="Text 12"/>
          <p:cNvSpPr txBox="1"/>
          <p:nvPr/>
        </p:nvSpPr>
        <p:spPr>
          <a:xfrm>
            <a:off x="1051560" y="1399032"/>
            <a:ext cx="4297680" cy="329184"/>
          </a:xfrm>
          <a:prstGeom prst="rect">
            <a:avLst/>
          </a:prstGeom>
          <a:noFill/>
          <a:ln/>
        </p:spPr>
        <p:txBody>
          <a:bodyPr wrap="square" lIns="0" tIns="0" rIns="0" bIns="0" rtlCol="0" anchor="ctr"/>
          <a:lstStyle/>
          <a:p>
            <a:pPr algn="l" indent="0" marL="0">
              <a:buNone/>
            </a:pPr>
            <a:r>
              <a:rPr lang="en-US" sz="1500" b="1" dirty="0">
                <a:solidFill>
                  <a:srgbClr val="FFFFFF"/>
                </a:solidFill>
                <a:latin typeface="Calibri" pitchFamily="34" charset="0"/>
                <a:ea typeface="Calibri" pitchFamily="34" charset="-122"/>
                <a:cs typeface="Calibri" pitchFamily="34" charset="-120"/>
              </a:rPr>
              <a:t>Conclusiones</a:t>
            </a:r>
            <a:endParaRPr lang="en-US" sz="1500" dirty="0"/>
          </a:p>
        </p:txBody>
      </p:sp>
      <p:sp>
        <p:nvSpPr>
          <p:cNvPr id="16" name="Shape 13"/>
          <p:cNvSpPr/>
          <p:nvPr/>
        </p:nvSpPr>
        <p:spPr>
          <a:xfrm>
            <a:off x="649224" y="1993392"/>
            <a:ext cx="64008" cy="64008"/>
          </a:xfrm>
          <a:prstGeom prst="ellipse">
            <a:avLst/>
          </a:prstGeom>
          <a:solidFill>
            <a:srgbClr val="17A9B0"/>
          </a:solidFill>
          <a:ln/>
        </p:spPr>
      </p:sp>
      <p:sp>
        <p:nvSpPr>
          <p:cNvPr id="17" name="Text 14"/>
          <p:cNvSpPr txBox="1"/>
          <p:nvPr/>
        </p:nvSpPr>
        <p:spPr>
          <a:xfrm>
            <a:off x="832104" y="1901952"/>
            <a:ext cx="4480560" cy="877824"/>
          </a:xfrm>
          <a:prstGeom prst="rect">
            <a:avLst/>
          </a:prstGeom>
          <a:noFill/>
          <a:ln/>
        </p:spPr>
        <p:txBody>
          <a:bodyPr wrap="square" lIns="0" tIns="0" rIns="0" bIns="0" rtlCol="0" anchor="t"/>
          <a:lstStyle/>
          <a:p>
            <a:pPr algn="l" indent="0" marL="0">
              <a:lnSpc>
                <a:spcPct val="122000"/>
              </a:lnSpc>
              <a:buNone/>
            </a:pPr>
            <a:r>
              <a:rPr lang="en-US" sz="1150" dirty="0">
                <a:solidFill>
                  <a:srgbClr val="97D8DB"/>
                </a:solidFill>
                <a:latin typeface="Calibri" pitchFamily="34" charset="0"/>
                <a:ea typeface="Calibri" pitchFamily="34" charset="-122"/>
                <a:cs typeface="Calibri" pitchFamily="34" charset="-120"/>
              </a:rPr>
              <a:t>El servicio de EVERTEC opera en un punto de equilibrio frágil: aceptable en percepción general, pero con fallas estructurales que representan un riesgo operativo y reputacional creciente.</a:t>
            </a:r>
            <a:endParaRPr lang="en-US" sz="1150" dirty="0"/>
          </a:p>
        </p:txBody>
      </p:sp>
      <p:sp>
        <p:nvSpPr>
          <p:cNvPr id="18" name="Shape 15"/>
          <p:cNvSpPr/>
          <p:nvPr/>
        </p:nvSpPr>
        <p:spPr>
          <a:xfrm>
            <a:off x="649224" y="3035808"/>
            <a:ext cx="64008" cy="64008"/>
          </a:xfrm>
          <a:prstGeom prst="ellipse">
            <a:avLst/>
          </a:prstGeom>
          <a:solidFill>
            <a:srgbClr val="17A9B0"/>
          </a:solidFill>
          <a:ln/>
        </p:spPr>
      </p:sp>
      <p:sp>
        <p:nvSpPr>
          <p:cNvPr id="19" name="Text 16"/>
          <p:cNvSpPr txBox="1"/>
          <p:nvPr/>
        </p:nvSpPr>
        <p:spPr>
          <a:xfrm>
            <a:off x="832104" y="2944368"/>
            <a:ext cx="4480560" cy="685800"/>
          </a:xfrm>
          <a:prstGeom prst="rect">
            <a:avLst/>
          </a:prstGeom>
          <a:noFill/>
          <a:ln/>
        </p:spPr>
        <p:txBody>
          <a:bodyPr wrap="square" lIns="0" tIns="0" rIns="0" bIns="0" rtlCol="0" anchor="t"/>
          <a:lstStyle/>
          <a:p>
            <a:pPr algn="l" indent="0" marL="0">
              <a:lnSpc>
                <a:spcPct val="122000"/>
              </a:lnSpc>
              <a:buNone/>
            </a:pPr>
            <a:r>
              <a:rPr lang="en-US" sz="1150" dirty="0">
                <a:solidFill>
                  <a:srgbClr val="97D8DB"/>
                </a:solidFill>
                <a:latin typeface="Calibri" pitchFamily="34" charset="0"/>
                <a:ea typeface="Calibri" pitchFamily="34" charset="-122"/>
                <a:cs typeface="Calibri" pitchFamily="34" charset="-120"/>
              </a:rPr>
              <a:t>La resiliencia demostrada por las agencias no debe interpretarse como una solución, sino como una señal de alerta temprana que exige acción del proveedor.</a:t>
            </a:r>
            <a:endParaRPr lang="en-US" sz="1150" dirty="0"/>
          </a:p>
        </p:txBody>
      </p:sp>
      <p:sp>
        <p:nvSpPr>
          <p:cNvPr id="20" name="Text 17"/>
          <p:cNvSpPr txBox="1"/>
          <p:nvPr/>
        </p:nvSpPr>
        <p:spPr>
          <a:xfrm>
            <a:off x="5852160" y="1207008"/>
            <a:ext cx="5928055" cy="219456"/>
          </a:xfrm>
          <a:prstGeom prst="rect">
            <a:avLst/>
          </a:prstGeom>
          <a:noFill/>
          <a:ln/>
        </p:spPr>
        <p:txBody>
          <a:bodyPr wrap="square" lIns="0" tIns="0" rIns="0" bIns="0" rtlCol="0" anchor="ctr"/>
          <a:lstStyle/>
          <a:p>
            <a:pPr algn="l" indent="0" marL="0">
              <a:buNone/>
            </a:pPr>
            <a:r>
              <a:rPr lang="en-US" sz="1050" b="1" spc="60" kern="0" dirty="0">
                <a:solidFill>
                  <a:srgbClr val="5B6B82"/>
                </a:solidFill>
                <a:latin typeface="Calibri" pitchFamily="34" charset="0"/>
                <a:ea typeface="Calibri" pitchFamily="34" charset="-122"/>
                <a:cs typeface="Calibri" pitchFamily="34" charset="-120"/>
              </a:rPr>
              <a:t>PRÓXIMOS PASOS</a:t>
            </a:r>
            <a:endParaRPr lang="en-US" sz="1050" dirty="0"/>
          </a:p>
        </p:txBody>
      </p:sp>
      <p:sp>
        <p:nvSpPr>
          <p:cNvPr id="21" name="Shape 18"/>
          <p:cNvSpPr/>
          <p:nvPr/>
        </p:nvSpPr>
        <p:spPr>
          <a:xfrm>
            <a:off x="5852160" y="1527048"/>
            <a:ext cx="329184" cy="329184"/>
          </a:xfrm>
          <a:prstGeom prst="ellipse">
            <a:avLst/>
          </a:prstGeom>
          <a:solidFill>
            <a:srgbClr val="E0392B"/>
          </a:solidFill>
          <a:ln/>
        </p:spPr>
      </p:sp>
      <p:sp>
        <p:nvSpPr>
          <p:cNvPr id="22" name="Text 19"/>
          <p:cNvSpPr txBox="1"/>
          <p:nvPr/>
        </p:nvSpPr>
        <p:spPr>
          <a:xfrm>
            <a:off x="5852160" y="152704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23" name="Text 20"/>
          <p:cNvSpPr txBox="1"/>
          <p:nvPr/>
        </p:nvSpPr>
        <p:spPr>
          <a:xfrm>
            <a:off x="6345936" y="1536192"/>
            <a:ext cx="5434279" cy="402336"/>
          </a:xfrm>
          <a:prstGeom prst="rect">
            <a:avLst/>
          </a:prstGeom>
          <a:noFill/>
          <a:ln/>
        </p:spPr>
        <p:txBody>
          <a:bodyPr wrap="square" lIns="0" tIns="0" rIns="0" bIns="0" rtlCol="0" anchor="t"/>
          <a:lstStyle/>
          <a:p>
            <a:pPr algn="l" indent="0" marL="0">
              <a:lnSpc>
                <a:spcPct val="115000"/>
              </a:lnSpc>
              <a:buNone/>
            </a:pPr>
            <a:r>
              <a:rPr lang="en-US" sz="1150" dirty="0">
                <a:solidFill>
                  <a:srgbClr val="243044"/>
                </a:solidFill>
                <a:latin typeface="Calibri" pitchFamily="34" charset="0"/>
                <a:ea typeface="Calibri" pitchFamily="34" charset="-122"/>
                <a:cs typeface="Calibri" pitchFamily="34" charset="-120"/>
              </a:rPr>
              <a:t>Presentar estos hallazgos formalmente a EVERTEC y exigir un plan de acción con fechas concretas.</a:t>
            </a:r>
            <a:endParaRPr lang="en-US" sz="1150" dirty="0"/>
          </a:p>
        </p:txBody>
      </p:sp>
      <p:sp>
        <p:nvSpPr>
          <p:cNvPr id="24" name="Shape 21"/>
          <p:cNvSpPr/>
          <p:nvPr/>
        </p:nvSpPr>
        <p:spPr>
          <a:xfrm>
            <a:off x="5852160" y="2075688"/>
            <a:ext cx="329184" cy="329184"/>
          </a:xfrm>
          <a:prstGeom prst="ellipse">
            <a:avLst/>
          </a:prstGeom>
          <a:solidFill>
            <a:srgbClr val="A6650F"/>
          </a:solidFill>
          <a:ln/>
        </p:spPr>
      </p:sp>
      <p:sp>
        <p:nvSpPr>
          <p:cNvPr id="25" name="Text 22"/>
          <p:cNvSpPr txBox="1"/>
          <p:nvPr/>
        </p:nvSpPr>
        <p:spPr>
          <a:xfrm>
            <a:off x="5852160" y="2075688"/>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26" name="Text 23"/>
          <p:cNvSpPr txBox="1"/>
          <p:nvPr/>
        </p:nvSpPr>
        <p:spPr>
          <a:xfrm>
            <a:off x="6345936" y="2084832"/>
            <a:ext cx="5434279" cy="329184"/>
          </a:xfrm>
          <a:prstGeom prst="rect">
            <a:avLst/>
          </a:prstGeom>
          <a:noFill/>
          <a:ln/>
        </p:spPr>
        <p:txBody>
          <a:bodyPr wrap="square" lIns="0" tIns="0" rIns="0" bIns="0" rtlCol="0" anchor="t"/>
          <a:lstStyle/>
          <a:p>
            <a:pPr algn="l" indent="0" marL="0">
              <a:lnSpc>
                <a:spcPct val="115000"/>
              </a:lnSpc>
              <a:buNone/>
            </a:pPr>
            <a:r>
              <a:rPr lang="en-US" sz="1150" dirty="0">
                <a:solidFill>
                  <a:srgbClr val="243044"/>
                </a:solidFill>
                <a:latin typeface="Calibri" pitchFamily="34" charset="0"/>
                <a:ea typeface="Calibri" pitchFamily="34" charset="-122"/>
                <a:cs typeface="Calibri" pitchFamily="34" charset="-120"/>
              </a:rPr>
              <a:t>Definir SLAs medibles de disponibilidad y tiempos de respuesta.</a:t>
            </a:r>
            <a:endParaRPr lang="en-US" sz="1150" dirty="0"/>
          </a:p>
        </p:txBody>
      </p:sp>
      <p:sp>
        <p:nvSpPr>
          <p:cNvPr id="27" name="Shape 24"/>
          <p:cNvSpPr/>
          <p:nvPr/>
        </p:nvSpPr>
        <p:spPr>
          <a:xfrm>
            <a:off x="5852160" y="2551176"/>
            <a:ext cx="329184" cy="329184"/>
          </a:xfrm>
          <a:prstGeom prst="ellipse">
            <a:avLst/>
          </a:prstGeom>
          <a:solidFill>
            <a:srgbClr val="1D63A1"/>
          </a:solidFill>
          <a:ln/>
        </p:spPr>
      </p:sp>
      <p:sp>
        <p:nvSpPr>
          <p:cNvPr id="28" name="Text 25"/>
          <p:cNvSpPr txBox="1"/>
          <p:nvPr/>
        </p:nvSpPr>
        <p:spPr>
          <a:xfrm>
            <a:off x="5852160" y="255117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29" name="Text 26"/>
          <p:cNvSpPr txBox="1"/>
          <p:nvPr/>
        </p:nvSpPr>
        <p:spPr>
          <a:xfrm>
            <a:off x="6345936" y="2560320"/>
            <a:ext cx="5434279" cy="402336"/>
          </a:xfrm>
          <a:prstGeom prst="rect">
            <a:avLst/>
          </a:prstGeom>
          <a:noFill/>
          <a:ln/>
        </p:spPr>
        <p:txBody>
          <a:bodyPr wrap="square" lIns="0" tIns="0" rIns="0" bIns="0" rtlCol="0" anchor="t"/>
          <a:lstStyle/>
          <a:p>
            <a:pPr algn="l" indent="0" marL="0">
              <a:lnSpc>
                <a:spcPct val="115000"/>
              </a:lnSpc>
              <a:buNone/>
            </a:pPr>
            <a:r>
              <a:rPr lang="en-US" sz="1150" dirty="0">
                <a:solidFill>
                  <a:srgbClr val="243044"/>
                </a:solidFill>
                <a:latin typeface="Calibri" pitchFamily="34" charset="0"/>
                <a:ea typeface="Calibri" pitchFamily="34" charset="-122"/>
                <a:cs typeface="Calibri" pitchFamily="34" charset="-120"/>
              </a:rPr>
              <a:t>Establecer una mesa de seguimiento trimestral entre Gerencia General, Riesgos y EVERTEC.</a:t>
            </a:r>
            <a:endParaRPr lang="en-US" sz="1150" dirty="0"/>
          </a:p>
        </p:txBody>
      </p:sp>
      <p:sp>
        <p:nvSpPr>
          <p:cNvPr id="30" name="Shape 27"/>
          <p:cNvSpPr/>
          <p:nvPr/>
        </p:nvSpPr>
        <p:spPr>
          <a:xfrm>
            <a:off x="5852160" y="3099816"/>
            <a:ext cx="329184" cy="329184"/>
          </a:xfrm>
          <a:prstGeom prst="ellipse">
            <a:avLst/>
          </a:prstGeom>
          <a:solidFill>
            <a:srgbClr val="0F766E"/>
          </a:solidFill>
          <a:ln/>
        </p:spPr>
      </p:sp>
      <p:sp>
        <p:nvSpPr>
          <p:cNvPr id="31" name="Text 28"/>
          <p:cNvSpPr txBox="1"/>
          <p:nvPr/>
        </p:nvSpPr>
        <p:spPr>
          <a:xfrm>
            <a:off x="5852160" y="3099816"/>
            <a:ext cx="329184" cy="32918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32" name="Text 29"/>
          <p:cNvSpPr txBox="1"/>
          <p:nvPr/>
        </p:nvSpPr>
        <p:spPr>
          <a:xfrm>
            <a:off x="6345936" y="3108960"/>
            <a:ext cx="5434279" cy="402336"/>
          </a:xfrm>
          <a:prstGeom prst="rect">
            <a:avLst/>
          </a:prstGeom>
          <a:noFill/>
          <a:ln/>
        </p:spPr>
        <p:txBody>
          <a:bodyPr wrap="square" lIns="0" tIns="0" rIns="0" bIns="0" rtlCol="0" anchor="t"/>
          <a:lstStyle/>
          <a:p>
            <a:pPr algn="l" indent="0" marL="0">
              <a:lnSpc>
                <a:spcPct val="115000"/>
              </a:lnSpc>
              <a:buNone/>
            </a:pPr>
            <a:r>
              <a:rPr lang="en-US" sz="1150" dirty="0">
                <a:solidFill>
                  <a:srgbClr val="243044"/>
                </a:solidFill>
                <a:latin typeface="Calibri" pitchFamily="34" charset="0"/>
                <a:ea typeface="Calibri" pitchFamily="34" charset="-122"/>
                <a:cs typeface="Calibri" pitchFamily="34" charset="-120"/>
              </a:rPr>
              <a:t>Repetir la encuesta en 6 meses para medir la evolución de los indicadores.</a:t>
            </a:r>
            <a:endParaRPr lang="en-US" sz="11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Análisis Ejecutivo — Servicio de Procesamiento EVERTEC</dc:title>
  <dc:subject>PptxGenJS Presentation</dc:subject>
  <dc:creator>COMÉDICA</dc:creator>
  <cp:lastModifiedBy>COMÉDICA</cp:lastModifiedBy>
  <cp:revision>1</cp:revision>
  <dcterms:created xsi:type="dcterms:W3CDTF">2026-09-18T22:31:05Z</dcterms:created>
  <dcterms:modified xsi:type="dcterms:W3CDTF">2026-09-18T22:31:05Z</dcterms:modified>
</cp:coreProperties>
</file>