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632844" cy="566928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10484858" y="0"/>
            <a:ext cx="1706837" cy="566928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39496"/>
            <a:ext cx="12191695" cy="27432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92608" y="54864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4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· ANÁLISIS EJECUTIVO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92608" y="21031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de Procesamiento de Tarjetas de Crédito EVERTEC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795967" y="8229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60" kern="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AGENCIAS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9795967" y="2560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Interna · Gerencia General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" y="66568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· Gerencia General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327087" y="66568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General Promedio: 3.71 / 5.0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92608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92608" y="658368"/>
            <a:ext cx="2233513" cy="41148"/>
          </a:xfrm>
          <a:prstGeom prst="rect">
            <a:avLst/>
          </a:prstGeom>
          <a:solidFill>
            <a:srgbClr val="E039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4048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Fallas Frecuentes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+52.9% algunas veces</a:t>
            </a:r>
            <a:endParaRPr lang="en-US" sz="680" dirty="0"/>
          </a:p>
        </p:txBody>
      </p:sp>
      <p:sp>
        <p:nvSpPr>
          <p:cNvPr id="18" name="Shape 16"/>
          <p:cNvSpPr/>
          <p:nvPr/>
        </p:nvSpPr>
        <p:spPr>
          <a:xfrm>
            <a:off x="2635849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635849" y="658368"/>
            <a:ext cx="2233513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727289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70.6%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2727289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Oportuno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727289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17.6% regular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979091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79091" y="658368"/>
            <a:ext cx="2233513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70531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41.2%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070531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Frecuentes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070531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+35.3% algunas veces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7322332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2332" y="658368"/>
            <a:ext cx="2233513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13772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7413772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Regular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7413772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35.3% fácil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9665574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665574" y="658368"/>
            <a:ext cx="2233513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757014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3.71/5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9757014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General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9757014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70.6% con nota 4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292608" y="1536192"/>
            <a:ext cx="378348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92608" y="1536192"/>
            <a:ext cx="3783482" cy="3657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40" name="Shape 38"/>
          <p:cNvSpPr/>
          <p:nvPr/>
        </p:nvSpPr>
        <p:spPr>
          <a:xfrm>
            <a:off x="384048" y="1618488"/>
            <a:ext cx="182880" cy="182880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41" name="Image 0" descr="/tmp/claude-0/-home-user-riesgo/579fb8c8-70e5-51d5-80ec-6ed51cc2e8df/scratchpad/pptx-build/icons/zap_1B4F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966" y="1651406"/>
            <a:ext cx="117043" cy="117043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640080" y="1600200"/>
            <a:ext cx="3344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860" dirty="0"/>
          </a:p>
        </p:txBody>
      </p:sp>
      <p:sp>
        <p:nvSpPr>
          <p:cNvPr id="43" name="Shape 40"/>
          <p:cNvSpPr/>
          <p:nvPr/>
        </p:nvSpPr>
        <p:spPr>
          <a:xfrm>
            <a:off x="402336" y="1909267"/>
            <a:ext cx="41148" cy="4114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30352" y="1869948"/>
            <a:ext cx="3436010" cy="238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Disonancia operativa: 88.2% reporta fallas, pero la nota general (3.71/5) se sostiene.</a:t>
            </a:r>
            <a:endParaRPr lang="en-US" sz="730" dirty="0"/>
          </a:p>
        </p:txBody>
      </p:sp>
      <p:sp>
        <p:nvSpPr>
          <p:cNvPr id="45" name="Shape 42"/>
          <p:cNvSpPr/>
          <p:nvPr/>
        </p:nvSpPr>
        <p:spPr>
          <a:xfrm>
            <a:off x="402336" y="2198370"/>
            <a:ext cx="41148" cy="4114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30352" y="2159051"/>
            <a:ext cx="3436010" cy="238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Resiliencia de agencias: el soporte oportuno (70.6%) amortigua el impacto ante el asociado.</a:t>
            </a:r>
            <a:endParaRPr lang="en-US" sz="730" dirty="0"/>
          </a:p>
        </p:txBody>
      </p:sp>
      <p:sp>
        <p:nvSpPr>
          <p:cNvPr id="47" name="Shape 44"/>
          <p:cNvSpPr/>
          <p:nvPr/>
        </p:nvSpPr>
        <p:spPr>
          <a:xfrm>
            <a:off x="402336" y="2487473"/>
            <a:ext cx="41148" cy="4114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30352" y="2448154"/>
            <a:ext cx="3436010" cy="238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erosión de confianza: 76.5% reporta reclamos frecuentes o algunas veces.</a:t>
            </a:r>
            <a:endParaRPr lang="en-US" sz="730" dirty="0"/>
          </a:p>
        </p:txBody>
      </p:sp>
      <p:sp>
        <p:nvSpPr>
          <p:cNvPr id="49" name="Shape 46"/>
          <p:cNvSpPr/>
          <p:nvPr/>
        </p:nvSpPr>
        <p:spPr>
          <a:xfrm>
            <a:off x="402336" y="2805836"/>
            <a:ext cx="3564026" cy="9144"/>
          </a:xfrm>
          <a:prstGeom prst="rect">
            <a:avLst/>
          </a:prstGeom>
          <a:solidFill>
            <a:srgbClr val="EDF0F5"/>
          </a:solidFill>
          <a:ln/>
        </p:spPr>
      </p:sp>
      <p:pic>
        <p:nvPicPr>
          <p:cNvPr id="50" name="Image 1" descr="/tmp/claude-0/-home-user-riesgo/579fb8c8-70e5-51d5-80ec-6ed51cc2e8df/scratchpad/pptx-build/icons/thumbsup_1E84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2888132"/>
            <a:ext cx="146304" cy="146304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603504" y="2874416"/>
            <a:ext cx="332628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</a:t>
            </a:r>
            <a:endParaRPr lang="en-US" sz="840" dirty="0"/>
          </a:p>
        </p:txBody>
      </p:sp>
      <p:sp>
        <p:nvSpPr>
          <p:cNvPr id="52" name="Shape 48"/>
          <p:cNvSpPr/>
          <p:nvPr/>
        </p:nvSpPr>
        <p:spPr>
          <a:xfrm>
            <a:off x="402336" y="3114904"/>
            <a:ext cx="41148" cy="4114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530352" y="3075584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oportuno en el 70.6% de los casos.</a:t>
            </a:r>
            <a:endParaRPr lang="en-US" sz="710" dirty="0"/>
          </a:p>
        </p:txBody>
      </p:sp>
      <p:sp>
        <p:nvSpPr>
          <p:cNvPr id="54" name="Shape 50"/>
          <p:cNvSpPr/>
          <p:nvPr/>
        </p:nvSpPr>
        <p:spPr>
          <a:xfrm>
            <a:off x="402336" y="3286277"/>
            <a:ext cx="41148" cy="4114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530352" y="3246958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aceptable (3.71/5), mayoría nota 4.</a:t>
            </a:r>
            <a:endParaRPr lang="en-US" sz="710" dirty="0"/>
          </a:p>
        </p:txBody>
      </p:sp>
      <p:sp>
        <p:nvSpPr>
          <p:cNvPr id="56" name="Shape 52"/>
          <p:cNvSpPr/>
          <p:nvPr/>
        </p:nvSpPr>
        <p:spPr>
          <a:xfrm>
            <a:off x="402336" y="3457651"/>
            <a:ext cx="41148" cy="4114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530352" y="3418332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soporte a nivel nacional.</a:t>
            </a:r>
            <a:endParaRPr lang="en-US" sz="710" dirty="0"/>
          </a:p>
        </p:txBody>
      </p:sp>
      <p:sp>
        <p:nvSpPr>
          <p:cNvPr id="58" name="Shape 54"/>
          <p:cNvSpPr/>
          <p:nvPr/>
        </p:nvSpPr>
        <p:spPr>
          <a:xfrm>
            <a:off x="4204106" y="1536192"/>
            <a:ext cx="378348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59" name="Shape 55"/>
          <p:cNvSpPr/>
          <p:nvPr/>
        </p:nvSpPr>
        <p:spPr>
          <a:xfrm>
            <a:off x="4204106" y="1536192"/>
            <a:ext cx="3783482" cy="36576"/>
          </a:xfrm>
          <a:prstGeom prst="rect">
            <a:avLst/>
          </a:prstGeom>
          <a:solidFill>
            <a:srgbClr val="E0392B"/>
          </a:solidFill>
          <a:ln/>
        </p:spPr>
      </p:sp>
      <p:sp>
        <p:nvSpPr>
          <p:cNvPr id="60" name="Shape 56"/>
          <p:cNvSpPr/>
          <p:nvPr/>
        </p:nvSpPr>
        <p:spPr>
          <a:xfrm>
            <a:off x="4295546" y="1618488"/>
            <a:ext cx="182880" cy="18288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61" name="Image 2" descr="/tmp/claude-0/-home-user-riesgo/579fb8c8-70e5-51d5-80ec-6ed51cc2e8df/scratchpad/pptx-build/icons/messagesquare_A6650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465" y="1651406"/>
            <a:ext cx="117043" cy="117043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4551578" y="1600200"/>
            <a:ext cx="3344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CRÍTICOS</a:t>
            </a:r>
            <a:endParaRPr lang="en-US" sz="860" dirty="0"/>
          </a:p>
        </p:txBody>
      </p:sp>
      <p:pic>
        <p:nvPicPr>
          <p:cNvPr id="63" name="Image 3" descr="/tmp/claude-0/-home-user-riesgo/579fb8c8-70e5-51d5-80ec-6ed51cc2e8df/scratchpad/pptx-build/icons/refreshcw_1D63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1901952"/>
            <a:ext cx="128016" cy="128016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4496714" y="1883664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y Conciliación: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Desfase entre reversas aceptadas y rechazadas por EVERTEC (descuadres contables).</a:t>
            </a:r>
            <a:endParaRPr lang="en-US" sz="740" dirty="0"/>
          </a:p>
        </p:txBody>
      </p:sp>
      <p:pic>
        <p:nvPicPr>
          <p:cNvPr id="65" name="Image 4" descr="/tmp/claude-0/-home-user-riesgo/579fb8c8-70e5-51d5-80ec-6ed51cc2e8df/scratchpad/pptx-build/icons/copy_E039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3834" y="2231136"/>
            <a:ext cx="128016" cy="128016"/>
          </a:xfrm>
          <a:prstGeom prst="rect">
            <a:avLst/>
          </a:prstGeom>
        </p:spPr>
      </p:pic>
      <p:sp>
        <p:nvSpPr>
          <p:cNvPr id="66" name="Text 59"/>
          <p:cNvSpPr txBox="1"/>
          <p:nvPr/>
        </p:nvSpPr>
        <p:spPr>
          <a:xfrm>
            <a:off x="4496714" y="2212848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duplicados durante caídas del sistema.</a:t>
            </a:r>
            <a:endParaRPr lang="en-US" sz="740" dirty="0"/>
          </a:p>
        </p:txBody>
      </p:sp>
      <p:pic>
        <p:nvPicPr>
          <p:cNvPr id="67" name="Image 5" descr="/tmp/claude-0/-home-user-riesgo/579fb8c8-70e5-51d5-80ec-6ed51cc2e8df/scratchpad/pptx-build/icons/clock_A6650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3834" y="2560320"/>
            <a:ext cx="128016" cy="128016"/>
          </a:xfrm>
          <a:prstGeom prst="rect">
            <a:avLst/>
          </a:prstGeom>
        </p:spPr>
      </p:pic>
      <p:sp>
        <p:nvSpPr>
          <p:cNvPr id="68" name="Text 60"/>
          <p:cNvSpPr txBox="1"/>
          <p:nvPr/>
        </p:nvSpPr>
        <p:spPr>
          <a:xfrm>
            <a:off x="4496714" y="2542032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y Tiempos: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Demoras puntuales en horarios de alta afluencia.</a:t>
            </a:r>
            <a:endParaRPr lang="en-US" sz="740" dirty="0"/>
          </a:p>
        </p:txBody>
      </p:sp>
      <p:pic>
        <p:nvPicPr>
          <p:cNvPr id="69" name="Image 6" descr="/tmp/claude-0/-home-user-riesgo/579fb8c8-70e5-51d5-80ec-6ed51cc2e8df/scratchpad/pptx-build/icons/shield_A6650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3834" y="2889504"/>
            <a:ext cx="128016" cy="128016"/>
          </a:xfrm>
          <a:prstGeom prst="rect">
            <a:avLst/>
          </a:prstGeom>
        </p:spPr>
      </p:pic>
      <p:sp>
        <p:nvSpPr>
          <p:cNvPr id="70" name="Text 61"/>
          <p:cNvSpPr txBox="1"/>
          <p:nvPr/>
        </p:nvSpPr>
        <p:spPr>
          <a:xfrm>
            <a:off x="4496714" y="2871216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Fraude: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y tiempos de respuesta débiles.</a:t>
            </a:r>
            <a:endParaRPr lang="en-US" sz="740" dirty="0"/>
          </a:p>
        </p:txBody>
      </p:sp>
      <p:sp>
        <p:nvSpPr>
          <p:cNvPr id="71" name="Shape 62"/>
          <p:cNvSpPr/>
          <p:nvPr/>
        </p:nvSpPr>
        <p:spPr>
          <a:xfrm>
            <a:off x="8115605" y="1536192"/>
            <a:ext cx="378348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72" name="Shape 63"/>
          <p:cNvSpPr/>
          <p:nvPr/>
        </p:nvSpPr>
        <p:spPr>
          <a:xfrm>
            <a:off x="8115605" y="1536192"/>
            <a:ext cx="3783482" cy="3657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73" name="Shape 64"/>
          <p:cNvSpPr/>
          <p:nvPr/>
        </p:nvSpPr>
        <p:spPr>
          <a:xfrm>
            <a:off x="8207045" y="1618488"/>
            <a:ext cx="182880" cy="182880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74" name="Image 7" descr="/tmp/claude-0/-home-user-riesgo/579fb8c8-70e5-51d5-80ec-6ed51cc2e8df/scratchpad/pptx-build/icons/alertcircle_A6650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39963" y="1651406"/>
            <a:ext cx="117043" cy="117043"/>
          </a:xfrm>
          <a:prstGeom prst="rect">
            <a:avLst/>
          </a:prstGeom>
        </p:spPr>
      </p:pic>
      <p:sp>
        <p:nvSpPr>
          <p:cNvPr id="75" name="Text 65"/>
          <p:cNvSpPr txBox="1"/>
          <p:nvPr/>
        </p:nvSpPr>
        <p:spPr>
          <a:xfrm>
            <a:off x="8463077" y="1600200"/>
            <a:ext cx="3344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DE MEJORA</a:t>
            </a:r>
            <a:endParaRPr lang="en-US" sz="860" dirty="0"/>
          </a:p>
        </p:txBody>
      </p:sp>
      <p:sp>
        <p:nvSpPr>
          <p:cNvPr id="76" name="Shape 66"/>
          <p:cNvSpPr/>
          <p:nvPr/>
        </p:nvSpPr>
        <p:spPr>
          <a:xfrm>
            <a:off x="8225333" y="1909267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77" name="Text 67"/>
          <p:cNvSpPr txBox="1"/>
          <p:nvPr/>
        </p:nvSpPr>
        <p:spPr>
          <a:xfrm>
            <a:off x="8353349" y="1869948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fallas del sistema (88.2% de agencias afectadas).</a:t>
            </a:r>
            <a:endParaRPr lang="en-US" sz="710" dirty="0"/>
          </a:p>
        </p:txBody>
      </p:sp>
      <p:sp>
        <p:nvSpPr>
          <p:cNvPr id="78" name="Shape 68"/>
          <p:cNvSpPr/>
          <p:nvPr/>
        </p:nvSpPr>
        <p:spPr>
          <a:xfrm>
            <a:off x="8225333" y="2080641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79" name="Text 69"/>
          <p:cNvSpPr txBox="1"/>
          <p:nvPr/>
        </p:nvSpPr>
        <p:spPr>
          <a:xfrm>
            <a:off x="8353349" y="2041322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desfase en reversas EVERTEC vs. agencia.</a:t>
            </a:r>
            <a:endParaRPr lang="en-US" sz="710" dirty="0"/>
          </a:p>
        </p:txBody>
      </p:sp>
      <p:sp>
        <p:nvSpPr>
          <p:cNvPr id="80" name="Shape 70"/>
          <p:cNvSpPr/>
          <p:nvPr/>
        </p:nvSpPr>
        <p:spPr>
          <a:xfrm>
            <a:off x="8225333" y="2252015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1" name="Text 71"/>
          <p:cNvSpPr txBox="1"/>
          <p:nvPr/>
        </p:nvSpPr>
        <p:spPr>
          <a:xfrm>
            <a:off x="8353349" y="2212696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Prevenir duplicidad de pagos en caídas.</a:t>
            </a:r>
            <a:endParaRPr lang="en-US" sz="710" dirty="0"/>
          </a:p>
        </p:txBody>
      </p:sp>
      <p:sp>
        <p:nvSpPr>
          <p:cNvPr id="82" name="Shape 72"/>
          <p:cNvSpPr/>
          <p:nvPr/>
        </p:nvSpPr>
        <p:spPr>
          <a:xfrm>
            <a:off x="8225333" y="2423389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3" name="Text 73"/>
          <p:cNvSpPr txBox="1"/>
          <p:nvPr/>
        </p:nvSpPr>
        <p:spPr>
          <a:xfrm>
            <a:off x="8353349" y="2384069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Fortalecer gestión de fraude.</a:t>
            </a:r>
            <a:endParaRPr lang="en-US" sz="710" dirty="0"/>
          </a:p>
        </p:txBody>
      </p:sp>
      <p:sp>
        <p:nvSpPr>
          <p:cNvPr id="84" name="Shape 74"/>
          <p:cNvSpPr/>
          <p:nvPr/>
        </p:nvSpPr>
        <p:spPr>
          <a:xfrm>
            <a:off x="8225333" y="2624023"/>
            <a:ext cx="3564026" cy="9144"/>
          </a:xfrm>
          <a:prstGeom prst="rect">
            <a:avLst/>
          </a:prstGeom>
          <a:solidFill>
            <a:srgbClr val="EDF0F5"/>
          </a:solidFill>
          <a:ln/>
        </p:spPr>
      </p:sp>
      <p:pic>
        <p:nvPicPr>
          <p:cNvPr id="85" name="Image 8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333" y="2706319"/>
            <a:ext cx="146304" cy="146304"/>
          </a:xfrm>
          <a:prstGeom prst="rect">
            <a:avLst/>
          </a:prstGeom>
        </p:spPr>
      </p:pic>
      <p:sp>
        <p:nvSpPr>
          <p:cNvPr id="86" name="Text 75"/>
          <p:cNvSpPr txBox="1"/>
          <p:nvPr/>
        </p:nvSpPr>
        <p:spPr>
          <a:xfrm>
            <a:off x="8426501" y="2692603"/>
            <a:ext cx="332628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20" kern="0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INMEDIATA (ALTA PRIORIDAD)</a:t>
            </a:r>
            <a:endParaRPr lang="en-US" sz="760" dirty="0"/>
          </a:p>
        </p:txBody>
      </p:sp>
      <p:sp>
        <p:nvSpPr>
          <p:cNvPr id="87" name="Shape 76"/>
          <p:cNvSpPr/>
          <p:nvPr/>
        </p:nvSpPr>
        <p:spPr>
          <a:xfrm>
            <a:off x="8225333" y="2933090"/>
            <a:ext cx="41148" cy="41148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88" name="Text 77"/>
          <p:cNvSpPr txBox="1"/>
          <p:nvPr/>
        </p:nvSpPr>
        <p:spPr>
          <a:xfrm>
            <a:off x="8353349" y="2893771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 EVERTEC un plan de estabilización técnica (SLA).</a:t>
            </a:r>
            <a:endParaRPr lang="en-US" sz="710" dirty="0"/>
          </a:p>
        </p:txBody>
      </p:sp>
      <p:sp>
        <p:nvSpPr>
          <p:cNvPr id="89" name="Shape 78"/>
          <p:cNvSpPr/>
          <p:nvPr/>
        </p:nvSpPr>
        <p:spPr>
          <a:xfrm>
            <a:off x="8225333" y="3104464"/>
            <a:ext cx="41148" cy="41148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90" name="Text 79"/>
          <p:cNvSpPr txBox="1"/>
          <p:nvPr/>
        </p:nvSpPr>
        <p:spPr>
          <a:xfrm>
            <a:off x="8353349" y="3065145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formal de conciliación de reversas.</a:t>
            </a:r>
            <a:endParaRPr lang="en-US" sz="710" dirty="0"/>
          </a:p>
        </p:txBody>
      </p:sp>
      <p:sp>
        <p:nvSpPr>
          <p:cNvPr id="91" name="Shape 80"/>
          <p:cNvSpPr/>
          <p:nvPr/>
        </p:nvSpPr>
        <p:spPr>
          <a:xfrm>
            <a:off x="8225333" y="3275838"/>
            <a:ext cx="41148" cy="41148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92" name="Text 81"/>
          <p:cNvSpPr txBox="1"/>
          <p:nvPr/>
        </p:nvSpPr>
        <p:spPr>
          <a:xfrm>
            <a:off x="8353349" y="3236519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automático anti-duplicidad de pagos.</a:t>
            </a:r>
            <a:endParaRPr lang="en-US" sz="710" dirty="0"/>
          </a:p>
        </p:txBody>
      </p:sp>
      <p:sp>
        <p:nvSpPr>
          <p:cNvPr id="93" name="Shape 82"/>
          <p:cNvSpPr/>
          <p:nvPr/>
        </p:nvSpPr>
        <p:spPr>
          <a:xfrm>
            <a:off x="292608" y="3794760"/>
            <a:ext cx="7676693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94" name="Shape 83"/>
          <p:cNvSpPr/>
          <p:nvPr/>
        </p:nvSpPr>
        <p:spPr>
          <a:xfrm>
            <a:off x="292608" y="3794760"/>
            <a:ext cx="7676693" cy="3657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5" name="Shape 84"/>
          <p:cNvSpPr/>
          <p:nvPr/>
        </p:nvSpPr>
        <p:spPr>
          <a:xfrm>
            <a:off x="384048" y="3877056"/>
            <a:ext cx="182880" cy="182880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96" name="Image 9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6966" y="3909974"/>
            <a:ext cx="117043" cy="117043"/>
          </a:xfrm>
          <a:prstGeom prst="rect">
            <a:avLst/>
          </a:prstGeom>
        </p:spPr>
      </p:pic>
      <p:sp>
        <p:nvSpPr>
          <p:cNvPr id="97" name="Text 85"/>
          <p:cNvSpPr txBox="1"/>
          <p:nvPr/>
        </p:nvSpPr>
        <p:spPr>
          <a:xfrm>
            <a:off x="640080" y="3858768"/>
            <a:ext cx="7237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RIESGOS Y HALLAZGOS</a:t>
            </a:r>
            <a:endParaRPr lang="en-US" sz="860" dirty="0"/>
          </a:p>
        </p:txBody>
      </p:sp>
      <p:sp>
        <p:nvSpPr>
          <p:cNvPr id="98" name="Text 86"/>
          <p:cNvSpPr txBox="1"/>
          <p:nvPr/>
        </p:nvSpPr>
        <p:spPr>
          <a:xfrm>
            <a:off x="384048" y="4142232"/>
            <a:ext cx="31693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700" dirty="0"/>
          </a:p>
        </p:txBody>
      </p:sp>
      <p:sp>
        <p:nvSpPr>
          <p:cNvPr id="99" name="Text 87"/>
          <p:cNvSpPr txBox="1"/>
          <p:nvPr/>
        </p:nvSpPr>
        <p:spPr>
          <a:xfrm>
            <a:off x="3608259" y="4142232"/>
            <a:ext cx="14037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</a:t>
            </a:r>
            <a:endParaRPr lang="en-US" sz="700" dirty="0"/>
          </a:p>
        </p:txBody>
      </p:sp>
      <p:sp>
        <p:nvSpPr>
          <p:cNvPr id="100" name="Text 88"/>
          <p:cNvSpPr txBox="1"/>
          <p:nvPr/>
        </p:nvSpPr>
        <p:spPr>
          <a:xfrm>
            <a:off x="5066831" y="4142232"/>
            <a:ext cx="178754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700" dirty="0"/>
          </a:p>
        </p:txBody>
      </p:sp>
      <p:sp>
        <p:nvSpPr>
          <p:cNvPr id="101" name="Text 89"/>
          <p:cNvSpPr txBox="1"/>
          <p:nvPr/>
        </p:nvSpPr>
        <p:spPr>
          <a:xfrm>
            <a:off x="6909237" y="4142232"/>
            <a:ext cx="109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</a:t>
            </a:r>
            <a:endParaRPr lang="en-US" sz="700" dirty="0"/>
          </a:p>
        </p:txBody>
      </p:sp>
      <p:sp>
        <p:nvSpPr>
          <p:cNvPr id="102" name="Shape 90"/>
          <p:cNvSpPr/>
          <p:nvPr/>
        </p:nvSpPr>
        <p:spPr>
          <a:xfrm>
            <a:off x="384048" y="4315968"/>
            <a:ext cx="7493813" cy="9144"/>
          </a:xfrm>
          <a:prstGeom prst="rect">
            <a:avLst/>
          </a:prstGeom>
          <a:solidFill>
            <a:srgbClr val="DDE3EC"/>
          </a:solidFill>
          <a:ln/>
        </p:spPr>
      </p:sp>
      <p:sp>
        <p:nvSpPr>
          <p:cNvPr id="103" name="Text 91"/>
          <p:cNvSpPr txBox="1"/>
          <p:nvPr/>
        </p:nvSpPr>
        <p:spPr>
          <a:xfrm>
            <a:off x="384048" y="4334256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Desfase en reversas EVERTEC vs. agencia</a:t>
            </a:r>
            <a:endParaRPr lang="en-US" sz="720" dirty="0"/>
          </a:p>
        </p:txBody>
      </p:sp>
      <p:sp>
        <p:nvSpPr>
          <p:cNvPr id="104" name="Text 92"/>
          <p:cNvSpPr txBox="1"/>
          <p:nvPr/>
        </p:nvSpPr>
        <p:spPr>
          <a:xfrm>
            <a:off x="3608259" y="4334256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</a:t>
            </a:r>
            <a:endParaRPr lang="en-US" sz="720" dirty="0"/>
          </a:p>
        </p:txBody>
      </p:sp>
      <p:sp>
        <p:nvSpPr>
          <p:cNvPr id="105" name="Text 93"/>
          <p:cNvSpPr txBox="1"/>
          <p:nvPr/>
        </p:nvSpPr>
        <p:spPr>
          <a:xfrm>
            <a:off x="5066831" y="4334256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(financiero)</a:t>
            </a:r>
            <a:endParaRPr lang="en-US" sz="720" dirty="0"/>
          </a:p>
        </p:txBody>
      </p:sp>
      <p:sp>
        <p:nvSpPr>
          <p:cNvPr id="106" name="Text 94"/>
          <p:cNvSpPr txBox="1"/>
          <p:nvPr/>
        </p:nvSpPr>
        <p:spPr>
          <a:xfrm>
            <a:off x="6909237" y="4334256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20" dirty="0"/>
          </a:p>
        </p:txBody>
      </p:sp>
      <p:sp>
        <p:nvSpPr>
          <p:cNvPr id="107" name="Shape 95"/>
          <p:cNvSpPr/>
          <p:nvPr/>
        </p:nvSpPr>
        <p:spPr>
          <a:xfrm>
            <a:off x="384048" y="4544568"/>
            <a:ext cx="7493813" cy="2011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8" name="Text 96"/>
          <p:cNvSpPr txBox="1"/>
          <p:nvPr/>
        </p:nvSpPr>
        <p:spPr>
          <a:xfrm>
            <a:off x="384048" y="4535424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 en caídas</a:t>
            </a:r>
            <a:endParaRPr lang="en-US" sz="720" dirty="0"/>
          </a:p>
        </p:txBody>
      </p:sp>
      <p:sp>
        <p:nvSpPr>
          <p:cNvPr id="109" name="Text 97"/>
          <p:cNvSpPr txBox="1"/>
          <p:nvPr/>
        </p:nvSpPr>
        <p:spPr>
          <a:xfrm>
            <a:off x="3608259" y="4535424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Ocasional</a:t>
            </a:r>
            <a:endParaRPr lang="en-US" sz="720" dirty="0"/>
          </a:p>
        </p:txBody>
      </p:sp>
      <p:sp>
        <p:nvSpPr>
          <p:cNvPr id="110" name="Text 98"/>
          <p:cNvSpPr txBox="1"/>
          <p:nvPr/>
        </p:nvSpPr>
        <p:spPr>
          <a:xfrm>
            <a:off x="5066831" y="4535424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(confianza)</a:t>
            </a:r>
            <a:endParaRPr lang="en-US" sz="720" dirty="0"/>
          </a:p>
        </p:txBody>
      </p:sp>
      <p:sp>
        <p:nvSpPr>
          <p:cNvPr id="111" name="Text 99"/>
          <p:cNvSpPr txBox="1"/>
          <p:nvPr/>
        </p:nvSpPr>
        <p:spPr>
          <a:xfrm>
            <a:off x="6909237" y="4535424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20" dirty="0"/>
          </a:p>
        </p:txBody>
      </p:sp>
      <p:sp>
        <p:nvSpPr>
          <p:cNvPr id="112" name="Text 100"/>
          <p:cNvSpPr txBox="1"/>
          <p:nvPr/>
        </p:nvSpPr>
        <p:spPr>
          <a:xfrm>
            <a:off x="384048" y="4736592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Fallas frecuentes del sistema</a:t>
            </a:r>
            <a:endParaRPr lang="en-US" sz="720" dirty="0"/>
          </a:p>
        </p:txBody>
      </p:sp>
      <p:sp>
        <p:nvSpPr>
          <p:cNvPr id="113" name="Text 101"/>
          <p:cNvSpPr txBox="1"/>
          <p:nvPr/>
        </p:nvSpPr>
        <p:spPr>
          <a:xfrm>
            <a:off x="3608259" y="4736592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 (35.3%)</a:t>
            </a:r>
            <a:endParaRPr lang="en-US" sz="720" dirty="0"/>
          </a:p>
        </p:txBody>
      </p:sp>
      <p:sp>
        <p:nvSpPr>
          <p:cNvPr id="114" name="Text 102"/>
          <p:cNvSpPr txBox="1"/>
          <p:nvPr/>
        </p:nvSpPr>
        <p:spPr>
          <a:xfrm>
            <a:off x="5066831" y="4736592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(operativo)</a:t>
            </a:r>
            <a:endParaRPr lang="en-US" sz="720" dirty="0"/>
          </a:p>
        </p:txBody>
      </p:sp>
      <p:sp>
        <p:nvSpPr>
          <p:cNvPr id="115" name="Text 103"/>
          <p:cNvSpPr txBox="1"/>
          <p:nvPr/>
        </p:nvSpPr>
        <p:spPr>
          <a:xfrm>
            <a:off x="6909237" y="4736592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20" dirty="0"/>
          </a:p>
        </p:txBody>
      </p:sp>
      <p:sp>
        <p:nvSpPr>
          <p:cNvPr id="116" name="Shape 104"/>
          <p:cNvSpPr/>
          <p:nvPr/>
        </p:nvSpPr>
        <p:spPr>
          <a:xfrm>
            <a:off x="384048" y="4946904"/>
            <a:ext cx="7493813" cy="2011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7" name="Text 105"/>
          <p:cNvSpPr txBox="1"/>
          <p:nvPr/>
        </p:nvSpPr>
        <p:spPr>
          <a:xfrm>
            <a:off x="384048" y="4937760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de asociados</a:t>
            </a:r>
            <a:endParaRPr lang="en-US" sz="720" dirty="0"/>
          </a:p>
        </p:txBody>
      </p:sp>
      <p:sp>
        <p:nvSpPr>
          <p:cNvPr id="118" name="Text 106"/>
          <p:cNvSpPr txBox="1"/>
          <p:nvPr/>
        </p:nvSpPr>
        <p:spPr>
          <a:xfrm>
            <a:off x="3608259" y="4937760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 (41.2%)</a:t>
            </a:r>
            <a:endParaRPr lang="en-US" sz="720" dirty="0"/>
          </a:p>
        </p:txBody>
      </p:sp>
      <p:sp>
        <p:nvSpPr>
          <p:cNvPr id="119" name="Text 107"/>
          <p:cNvSpPr txBox="1"/>
          <p:nvPr/>
        </p:nvSpPr>
        <p:spPr>
          <a:xfrm>
            <a:off x="5066831" y="4937760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720" dirty="0"/>
          </a:p>
        </p:txBody>
      </p:sp>
      <p:sp>
        <p:nvSpPr>
          <p:cNvPr id="120" name="Text 108"/>
          <p:cNvSpPr txBox="1"/>
          <p:nvPr/>
        </p:nvSpPr>
        <p:spPr>
          <a:xfrm>
            <a:off x="6909237" y="4937760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20" dirty="0"/>
          </a:p>
        </p:txBody>
      </p:sp>
      <p:sp>
        <p:nvSpPr>
          <p:cNvPr id="121" name="Text 109"/>
          <p:cNvSpPr txBox="1"/>
          <p:nvPr/>
        </p:nvSpPr>
        <p:spPr>
          <a:xfrm>
            <a:off x="384048" y="5138928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Debilidad en gestión de fraude</a:t>
            </a:r>
            <a:endParaRPr lang="en-US" sz="720" dirty="0"/>
          </a:p>
        </p:txBody>
      </p:sp>
      <p:sp>
        <p:nvSpPr>
          <p:cNvPr id="122" name="Text 110"/>
          <p:cNvSpPr txBox="1"/>
          <p:nvPr/>
        </p:nvSpPr>
        <p:spPr>
          <a:xfrm>
            <a:off x="3608259" y="5138928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Ocasional</a:t>
            </a:r>
            <a:endParaRPr lang="en-US" sz="720" dirty="0"/>
          </a:p>
        </p:txBody>
      </p:sp>
      <p:sp>
        <p:nvSpPr>
          <p:cNvPr id="123" name="Text 111"/>
          <p:cNvSpPr txBox="1"/>
          <p:nvPr/>
        </p:nvSpPr>
        <p:spPr>
          <a:xfrm>
            <a:off x="5066831" y="5138928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Medio-Alto</a:t>
            </a:r>
            <a:endParaRPr lang="en-US" sz="720" dirty="0"/>
          </a:p>
        </p:txBody>
      </p:sp>
      <p:sp>
        <p:nvSpPr>
          <p:cNvPr id="124" name="Text 112"/>
          <p:cNvSpPr txBox="1"/>
          <p:nvPr/>
        </p:nvSpPr>
        <p:spPr>
          <a:xfrm>
            <a:off x="6909237" y="5138928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20" dirty="0"/>
          </a:p>
        </p:txBody>
      </p:sp>
      <p:sp>
        <p:nvSpPr>
          <p:cNvPr id="125" name="Shape 113"/>
          <p:cNvSpPr/>
          <p:nvPr/>
        </p:nvSpPr>
        <p:spPr>
          <a:xfrm>
            <a:off x="384048" y="5349240"/>
            <a:ext cx="7493813" cy="2011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26" name="Text 114"/>
          <p:cNvSpPr txBox="1"/>
          <p:nvPr/>
        </p:nvSpPr>
        <p:spPr>
          <a:xfrm>
            <a:off x="384048" y="5340096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Demoras en soporte técnico</a:t>
            </a:r>
            <a:endParaRPr lang="en-US" sz="720" dirty="0"/>
          </a:p>
        </p:txBody>
      </p:sp>
      <p:sp>
        <p:nvSpPr>
          <p:cNvPr id="127" name="Text 115"/>
          <p:cNvSpPr txBox="1"/>
          <p:nvPr/>
        </p:nvSpPr>
        <p:spPr>
          <a:xfrm>
            <a:off x="3608259" y="5340096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Ocasional (17.6%)</a:t>
            </a:r>
            <a:endParaRPr lang="en-US" sz="720" dirty="0"/>
          </a:p>
        </p:txBody>
      </p:sp>
      <p:sp>
        <p:nvSpPr>
          <p:cNvPr id="128" name="Text 116"/>
          <p:cNvSpPr txBox="1"/>
          <p:nvPr/>
        </p:nvSpPr>
        <p:spPr>
          <a:xfrm>
            <a:off x="5066831" y="5340096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720" dirty="0"/>
          </a:p>
        </p:txBody>
      </p:sp>
      <p:sp>
        <p:nvSpPr>
          <p:cNvPr id="129" name="Text 117"/>
          <p:cNvSpPr txBox="1"/>
          <p:nvPr/>
        </p:nvSpPr>
        <p:spPr>
          <a:xfrm>
            <a:off x="6909237" y="5340096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20" dirty="0"/>
          </a:p>
        </p:txBody>
      </p:sp>
      <p:sp>
        <p:nvSpPr>
          <p:cNvPr id="130" name="Shape 118"/>
          <p:cNvSpPr/>
          <p:nvPr/>
        </p:nvSpPr>
        <p:spPr>
          <a:xfrm>
            <a:off x="8115605" y="3794760"/>
            <a:ext cx="3765194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131" name="Shape 119"/>
          <p:cNvSpPr/>
          <p:nvPr/>
        </p:nvSpPr>
        <p:spPr>
          <a:xfrm>
            <a:off x="8115605" y="3794760"/>
            <a:ext cx="3765194" cy="3657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2" name="Shape 120"/>
          <p:cNvSpPr/>
          <p:nvPr/>
        </p:nvSpPr>
        <p:spPr>
          <a:xfrm>
            <a:off x="8207045" y="3877056"/>
            <a:ext cx="182880" cy="182880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33" name="Image 10" descr="/tmp/claude-0/-home-user-riesgo/579fb8c8-70e5-51d5-80ec-6ed51cc2e8df/scratchpad/pptx-build/icons/flag_133B6C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39963" y="3909974"/>
            <a:ext cx="117043" cy="117043"/>
          </a:xfrm>
          <a:prstGeom prst="rect">
            <a:avLst/>
          </a:prstGeom>
        </p:spPr>
      </p:pic>
      <p:sp>
        <p:nvSpPr>
          <p:cNvPr id="134" name="Text 121"/>
          <p:cNvSpPr txBox="1"/>
          <p:nvPr/>
        </p:nvSpPr>
        <p:spPr>
          <a:xfrm>
            <a:off x="8463077" y="3858768"/>
            <a:ext cx="33262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860" dirty="0"/>
          </a:p>
        </p:txBody>
      </p:sp>
      <p:sp>
        <p:nvSpPr>
          <p:cNvPr id="135" name="Shape 122"/>
          <p:cNvSpPr/>
          <p:nvPr/>
        </p:nvSpPr>
        <p:spPr>
          <a:xfrm>
            <a:off x="8225333" y="4160520"/>
            <a:ext cx="164592" cy="164592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136" name="Text 123"/>
          <p:cNvSpPr txBox="1"/>
          <p:nvPr/>
        </p:nvSpPr>
        <p:spPr>
          <a:xfrm>
            <a:off x="8225333" y="41605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37" name="Text 124"/>
          <p:cNvSpPr txBox="1"/>
          <p:nvPr/>
        </p:nvSpPr>
        <p:spPr>
          <a:xfrm>
            <a:off x="8463077" y="4151376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 hallazgos a EVERTEC y exigir plan de acción con fechas.</a:t>
            </a:r>
            <a:endParaRPr lang="en-US" sz="730" dirty="0"/>
          </a:p>
        </p:txBody>
      </p:sp>
      <p:sp>
        <p:nvSpPr>
          <p:cNvPr id="138" name="Shape 125"/>
          <p:cNvSpPr/>
          <p:nvPr/>
        </p:nvSpPr>
        <p:spPr>
          <a:xfrm>
            <a:off x="8225333" y="4398264"/>
            <a:ext cx="164592" cy="164592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9" name="Text 126"/>
          <p:cNvSpPr txBox="1"/>
          <p:nvPr/>
        </p:nvSpPr>
        <p:spPr>
          <a:xfrm>
            <a:off x="8225333" y="43982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40" name="Text 127"/>
          <p:cNvSpPr txBox="1"/>
          <p:nvPr/>
        </p:nvSpPr>
        <p:spPr>
          <a:xfrm>
            <a:off x="8463077" y="4389120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SLAs medibles de disponibilidad y respuesta.</a:t>
            </a:r>
            <a:endParaRPr lang="en-US" sz="730" dirty="0"/>
          </a:p>
        </p:txBody>
      </p:sp>
      <p:sp>
        <p:nvSpPr>
          <p:cNvPr id="141" name="Shape 128"/>
          <p:cNvSpPr/>
          <p:nvPr/>
        </p:nvSpPr>
        <p:spPr>
          <a:xfrm>
            <a:off x="8225333" y="4636008"/>
            <a:ext cx="164592" cy="164592"/>
          </a:xfrm>
          <a:prstGeom prst="ellipse">
            <a:avLst/>
          </a:prstGeom>
          <a:solidFill>
            <a:srgbClr val="1D63A1"/>
          </a:solidFill>
          <a:ln/>
        </p:spPr>
      </p:sp>
      <p:sp>
        <p:nvSpPr>
          <p:cNvPr id="142" name="Text 129"/>
          <p:cNvSpPr txBox="1"/>
          <p:nvPr/>
        </p:nvSpPr>
        <p:spPr>
          <a:xfrm>
            <a:off x="8225333" y="4636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43" name="Text 130"/>
          <p:cNvSpPr txBox="1"/>
          <p:nvPr/>
        </p:nvSpPr>
        <p:spPr>
          <a:xfrm>
            <a:off x="8463077" y="4626864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seguimiento trimestral (Gerencia, Riesgos, EVERTEC).</a:t>
            </a:r>
            <a:endParaRPr lang="en-US" sz="730" dirty="0"/>
          </a:p>
        </p:txBody>
      </p:sp>
      <p:sp>
        <p:nvSpPr>
          <p:cNvPr id="144" name="Shape 131"/>
          <p:cNvSpPr/>
          <p:nvPr/>
        </p:nvSpPr>
        <p:spPr>
          <a:xfrm>
            <a:off x="8225333" y="4873752"/>
            <a:ext cx="164592" cy="16459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45" name="Text 132"/>
          <p:cNvSpPr txBox="1"/>
          <p:nvPr/>
        </p:nvSpPr>
        <p:spPr>
          <a:xfrm>
            <a:off x="8225333" y="48737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146" name="Text 133"/>
          <p:cNvSpPr txBox="1"/>
          <p:nvPr/>
        </p:nvSpPr>
        <p:spPr>
          <a:xfrm>
            <a:off x="8463077" y="4864608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la encuesta en 6 meses.</a:t>
            </a:r>
            <a:endParaRPr lang="en-US" sz="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Ejecutivo — Servicio de Procesamiento EVERTEC</dc:title>
  <dc:subject>PptxGenJS Presentation</dc:subject>
  <dc:creator>COMÉDICA</dc:creator>
  <cp:lastModifiedBy>COMÉDICA</cp:lastModifiedBy>
  <cp:revision>1</cp:revision>
  <dcterms:created xsi:type="dcterms:W3CDTF">2026-09-18T22:58:52Z</dcterms:created>
  <dcterms:modified xsi:type="dcterms:W3CDTF">2026-09-18T22:58:52Z</dcterms:modified>
</cp:coreProperties>
</file>